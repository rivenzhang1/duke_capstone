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28"/>
    <p:restoredTop sz="68378"/>
  </p:normalViewPr>
  <p:slideViewPr>
    <p:cSldViewPr snapToGrid="0" snapToObjects="1">
      <p:cViewPr varScale="1">
        <p:scale>
          <a:sx n="86" d="100"/>
          <a:sy n="86" d="100"/>
        </p:scale>
        <p:origin x="212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426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25535" y="3931920"/>
            <a:ext cx="3108960" cy="3108960"/>
          </a:xfrm>
          <a:prstGeom prst="ellipse">
            <a:avLst/>
          </a:prstGeom>
          <a:ln w="15875">
            <a:solidFill>
              <a:srgbClr val="3E8E9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037015" y="4343400"/>
            <a:ext cx="2286000" cy="2286000"/>
          </a:xfrm>
          <a:prstGeom prst="ellipse">
            <a:avLst/>
          </a:prstGeom>
          <a:ln w="15875">
            <a:solidFill>
              <a:srgbClr val="E8A33D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448495" y="4754880"/>
            <a:ext cx="1463040" cy="1463040"/>
          </a:xfrm>
          <a:prstGeom prst="ellipse">
            <a:avLst/>
          </a:prstGeom>
          <a:ln w="15875">
            <a:solidFill>
              <a:srgbClr val="3E8E9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23983" y="5230368"/>
            <a:ext cx="512064" cy="512064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169164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Model-Free Price Optimization for Hotels</a:t>
            </a:r>
            <a:endParaRPr lang="en-US" sz="46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361188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reinforcement-learning approach to hotel room pricing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68680" y="4297680"/>
            <a:ext cx="2194560" cy="0"/>
          </a:xfrm>
          <a:prstGeom prst="line">
            <a:avLst/>
          </a:prstGeom>
          <a:noFill/>
          <a:ln w="25400">
            <a:solidFill>
              <a:srgbClr val="3E8E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cover today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658368" cy="65836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9856" y="2228576"/>
            <a:ext cx="316017" cy="31601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83080" y="203911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244144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hotel pricing is hard, and the key idea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" y="3081528"/>
            <a:ext cx="658368" cy="65836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9856" y="3252704"/>
            <a:ext cx="316017" cy="316017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783080" y="30632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1783080" y="3465576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the pricing rule directly, model-free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68680" y="4105656"/>
            <a:ext cx="658368" cy="65836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9856" y="4276832"/>
            <a:ext cx="316017" cy="31601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783080" y="4087368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2000" dirty="0"/>
          </a:p>
        </p:txBody>
      </p:sp>
      <p:sp>
        <p:nvSpPr>
          <p:cNvPr id="15" name="Text 10"/>
          <p:cNvSpPr txBox="1"/>
          <p:nvPr/>
        </p:nvSpPr>
        <p:spPr>
          <a:xfrm>
            <a:off x="1783080" y="4489704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action, and reward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68680" y="5129784"/>
            <a:ext cx="658368" cy="65836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9856" y="5300960"/>
            <a:ext cx="316017" cy="316017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783080" y="5111496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plan</a:t>
            </a:r>
            <a:endParaRPr lang="en-US" sz="2000" dirty="0"/>
          </a:p>
        </p:txBody>
      </p:sp>
      <p:sp>
        <p:nvSpPr>
          <p:cNvPr id="19" name="Text 13"/>
          <p:cNvSpPr txBox="1"/>
          <p:nvPr/>
        </p:nvSpPr>
        <p:spPr>
          <a:xfrm>
            <a:off x="1783080" y="551383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phases, from proof-of-concept to scale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hotel room is a perishable product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868680" y="2148840"/>
            <a:ext cx="5669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room is not sold tonight, its value tonight becomes zero.</a:t>
            </a:r>
            <a:endParaRPr lang="en-US" sz="165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store it and sell it tomorrow. We cannot make more rooms.</a:t>
            </a:r>
            <a:endParaRPr lang="en-US" sz="1650" dirty="0"/>
          </a:p>
          <a:p>
            <a:pPr marL="228600" indent="-228600">
              <a:lnSpc>
                <a:spcPts val="2400"/>
              </a:lnSpc>
              <a:spcAft>
                <a:spcPts val="1400"/>
              </a:spcAft>
              <a:buSzPct val="100000"/>
              <a:buChar char="•"/>
            </a:pPr>
            <a:r>
              <a:rPr lang="en-US" sz="165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set the price again and again, every few hours, as arrival nears.</a:t>
            </a:r>
            <a:endParaRPr lang="en-US" sz="1650" dirty="0"/>
          </a:p>
        </p:txBody>
      </p:sp>
      <p:sp>
        <p:nvSpPr>
          <p:cNvPr id="6" name="Shape 4"/>
          <p:cNvSpPr/>
          <p:nvPr/>
        </p:nvSpPr>
        <p:spPr>
          <a:xfrm>
            <a:off x="7040880" y="2011680"/>
            <a:ext cx="4297680" cy="3200400"/>
          </a:xfrm>
          <a:prstGeom prst="roundRect">
            <a:avLst>
              <a:gd name="adj" fmla="val 400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360920" y="2377440"/>
            <a:ext cx="822960" cy="82296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890" y="2591410"/>
            <a:ext cx="395021" cy="395021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6676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midnight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366760" y="28529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unsold room is worth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7040880" y="338328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</a:t>
            </a:r>
            <a:endParaRPr lang="en-US" sz="100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46177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forever — and you cannot restock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is this hard?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forces push at once — but one matters most for a data-science team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731520" cy="73152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8915" y="2659075"/>
            <a:ext cx="351130" cy="35113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Volatile demand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Season, events, weather, and competitors all move at the same time.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81144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901184" y="2468880"/>
            <a:ext cx="731520" cy="73152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1379" y="2659075"/>
            <a:ext cx="351130" cy="35113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901184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guests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4901184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business traveler and a family react very differently to price.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293608" y="2148840"/>
            <a:ext cx="3429000" cy="3246120"/>
          </a:xfrm>
          <a:prstGeom prst="roundRect">
            <a:avLst>
              <a:gd name="adj" fmla="val 3380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613648" y="2468880"/>
            <a:ext cx="731520" cy="73152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3843" y="2659075"/>
            <a:ext cx="351130" cy="35113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613648" y="3337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error</a:t>
            </a:r>
            <a:endParaRPr lang="en-US" sz="1900" dirty="0"/>
          </a:p>
        </p:txBody>
      </p:sp>
      <p:sp>
        <p:nvSpPr>
          <p:cNvPr id="18" name="Text 13"/>
          <p:cNvSpPr txBox="1"/>
          <p:nvPr/>
        </p:nvSpPr>
        <p:spPr>
          <a:xfrm>
            <a:off x="8613648" y="3886200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key point. Any assumed demand model is a little wrong — and the error grows.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idea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ways to set the price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057400"/>
            <a:ext cx="4892040" cy="3566160"/>
          </a:xfrm>
          <a:prstGeom prst="roundRect">
            <a:avLst>
              <a:gd name="adj" fmla="val 3077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1188720" y="233172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269748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traditional approach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324612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predict demand as a function of price.</a:t>
            </a:r>
            <a:endParaRPr lang="en-US" sz="1400" dirty="0"/>
          </a:p>
          <a:p>
            <a:pPr marL="203200" indent="-2032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choose the price that gives the most revenue.</a:t>
            </a:r>
            <a:endParaRPr lang="en-US" sz="1400" dirty="0"/>
          </a:p>
          <a:p>
            <a:pPr marL="203200" indent="-2032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the demand model is never perfect. Small errors grow, and repeat over time.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5292" y="3520440"/>
            <a:ext cx="658368" cy="658368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172" y="3703320"/>
            <a:ext cx="292608" cy="292608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28232" y="2057400"/>
            <a:ext cx="4892040" cy="3566160"/>
          </a:xfrm>
          <a:prstGeom prst="roundRect">
            <a:avLst>
              <a:gd name="adj" fmla="val 3077"/>
            </a:avLst>
          </a:prstGeom>
          <a:solidFill>
            <a:srgbClr val="0A3D4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 txBox="1"/>
          <p:nvPr/>
        </p:nvSpPr>
        <p:spPr>
          <a:xfrm>
            <a:off x="6748272" y="2331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MODEL-FREE  —  OUR APPROACH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748272" y="269748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FE3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pricing rule directly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6748272" y="3246120"/>
            <a:ext cx="4434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demand model completely.</a:t>
            </a:r>
            <a:endParaRPr lang="en-US" sz="1400" dirty="0"/>
          </a:p>
          <a:p>
            <a:pPr marL="203200" indent="-2032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the price-setting rule directly, from real results.</a:t>
            </a:r>
            <a:endParaRPr lang="en-US" sz="1400" dirty="0"/>
          </a:p>
          <a:p>
            <a:pPr marL="203200" indent="-203200">
              <a:lnSpc>
                <a:spcPts val="2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EAF4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end-to-end learning instead of a hand-made feature pipeline.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background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reinforcement learning for pricing has developed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849340" y="24688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41948" y="2743200"/>
            <a:ext cx="640080" cy="64008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828" y="2926080"/>
            <a:ext cx="274320" cy="27432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2141948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methods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2141948" y="3913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tables of situations and prices. They only work for very small problems.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314916" y="3520440"/>
            <a:ext cx="1117954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77422" y="2468880"/>
            <a:ext cx="34290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8E4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70030" y="2743200"/>
            <a:ext cx="640080" cy="64008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2910" y="292608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570030" y="35204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RL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6570030" y="3913632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 networks handle continuous prices and many input variables at once.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9688134" y="35204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65374" y="2926080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8A3BBA-0CFA-B0AD-520B-03A269DEDCBC}"/>
              </a:ext>
            </a:extLst>
          </p:cNvPr>
          <p:cNvCxnSpPr>
            <a:stCxn id="10" idx="2"/>
          </p:cNvCxnSpPr>
          <p:nvPr/>
        </p:nvCxnSpPr>
        <p:spPr>
          <a:xfrm flipV="1">
            <a:off x="5314916" y="3737113"/>
            <a:ext cx="962506" cy="119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big difficulty for real use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cannot experiment freely on real guests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5166360" cy="3291840"/>
          </a:xfrm>
          <a:prstGeom prst="roundRect">
            <a:avLst>
              <a:gd name="adj" fmla="val 3333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2423160"/>
            <a:ext cx="685800" cy="6858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7028" y="26014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057400" y="2578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383280"/>
            <a:ext cx="4526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 video game, a bad action just restarts the game. In a hotel, a strange price means charging a real guest the wrong price — that is lost money, and there is no restart.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309360" y="2103120"/>
            <a:ext cx="4983480" cy="3291840"/>
          </a:xfrm>
          <a:prstGeom prst="roundRect">
            <a:avLst>
              <a:gd name="adj" fmla="val 3333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629400" y="2423160"/>
            <a:ext cx="685800" cy="68580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7708" y="26014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498080" y="25786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solution: offline RL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6629400" y="3383280"/>
            <a:ext cx="4434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the agent first on historical data, before it sets any real price.</a:t>
            </a:r>
            <a:endParaRPr lang="en-US" sz="1350" dirty="0"/>
          </a:p>
          <a:p>
            <a:pPr marL="203200" indent="-2032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risk: it may over-value a price it never saw.</a:t>
            </a:r>
            <a:endParaRPr lang="en-US" sz="1350" dirty="0"/>
          </a:p>
          <a:p>
            <a:pPr marL="203200" indent="-203200">
              <a:lnSpc>
                <a:spcPts val="1900"/>
              </a:lnSpc>
              <a:spcAft>
                <a:spcPts val="1100"/>
              </a:spcAft>
              <a:buSzPct val="100000"/>
              <a:buChar char="•"/>
            </a:pPr>
            <a:r>
              <a:rPr lang="en-US" sz="1350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keep the agent close to prices that really appeared in the data.</a:t>
            </a:r>
            <a:endParaRPr lang="en-US" sz="1350" dirty="0"/>
          </a:p>
        </p:txBody>
      </p:sp>
      <p:sp>
        <p:nvSpPr>
          <p:cNvPr id="14" name="Text 1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system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258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normal reinforcement learning: a state, an action, and a reward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68680" y="214884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2468880"/>
            <a:ext cx="749808" cy="74980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670" y="26638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7307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sees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4114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Occupancy, booking speed, day of week, days to arrival, events, competitor prices.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581144" y="214884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901184" y="2468880"/>
            <a:ext cx="749808" cy="74980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6134" y="2663830"/>
            <a:ext cx="359908" cy="3599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901184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2000" dirty="0"/>
          </a:p>
        </p:txBody>
      </p:sp>
      <p:sp>
        <p:nvSpPr>
          <p:cNvPr id="14" name="Text 10"/>
          <p:cNvSpPr txBox="1"/>
          <p:nvPr/>
        </p:nvSpPr>
        <p:spPr>
          <a:xfrm>
            <a:off x="4901184" y="37307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agent decides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4901184" y="4114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price multiplier for each room type, kept inside safe business limits.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8293608" y="2148840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8613648" y="2468880"/>
            <a:ext cx="749808" cy="749808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8598" y="2663830"/>
            <a:ext cx="359908" cy="359908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613648" y="33375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</a:t>
            </a:r>
            <a:endParaRPr lang="en-US" sz="2000" dirty="0"/>
          </a:p>
        </p:txBody>
      </p:sp>
      <p:sp>
        <p:nvSpPr>
          <p:cNvPr id="20" name="Text 15"/>
          <p:cNvSpPr txBox="1"/>
          <p:nvPr/>
        </p:nvSpPr>
        <p:spPr>
          <a:xfrm>
            <a:off x="8613648" y="3730752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we give it</a:t>
            </a:r>
            <a:endParaRPr lang="en-US" sz="1250" dirty="0"/>
          </a:p>
        </p:txBody>
      </p:sp>
      <p:sp>
        <p:nvSpPr>
          <p:cNvPr id="21" name="Text 16"/>
          <p:cNvSpPr txBox="1"/>
          <p:nvPr/>
        </p:nvSpPr>
        <p:spPr>
          <a:xfrm>
            <a:off x="8613648" y="4114800"/>
            <a:ext cx="2788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revenue alone — also occupancy, price stability, and guest satisfaction.</a:t>
            </a:r>
            <a:endParaRPr lang="en-US" sz="1350" dirty="0"/>
          </a:p>
        </p:txBody>
      </p:sp>
      <p:sp>
        <p:nvSpPr>
          <p:cNvPr id="22" name="Text 17"/>
          <p:cNvSpPr txBox="1"/>
          <p:nvPr/>
        </p:nvSpPr>
        <p:spPr>
          <a:xfrm>
            <a:off x="868680" y="571500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weights are business decisions — not only hyperparameters. This is where domain knowledge and machine learning meet.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3D4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plan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841248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FBE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phases — each one adds more realism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463040" y="3200400"/>
            <a:ext cx="9235440" cy="0"/>
          </a:xfrm>
          <a:prstGeom prst="line">
            <a:avLst/>
          </a:prstGeom>
          <a:noFill/>
          <a:ln w="19050">
            <a:solidFill>
              <a:srgbClr val="3E8E99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125980" y="2743200"/>
            <a:ext cx="914400" cy="91440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3724" y="2980944"/>
            <a:ext cx="438912" cy="43891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68680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E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68680" y="4114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97280" y="4480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51389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 the core idea on a simple, single-night problem.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838444" y="2743200"/>
            <a:ext cx="914400" cy="914400"/>
          </a:xfrm>
          <a:prstGeom prst="ellipse">
            <a:avLst/>
          </a:prstGeom>
          <a:solidFill>
            <a:srgbClr val="3E8E9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6188" y="2980944"/>
            <a:ext cx="438912" cy="43891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81144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E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0"/>
          <p:cNvSpPr txBox="1"/>
          <p:nvPr/>
        </p:nvSpPr>
        <p:spPr>
          <a:xfrm>
            <a:off x="4581144" y="4114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8FD0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4809744" y="4480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Feature-Rich Prototype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55464" y="51389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real hotel complexity and train on historical data.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9550908" y="2743200"/>
            <a:ext cx="914400" cy="91440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8652" y="2980944"/>
            <a:ext cx="438912" cy="43891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293608" y="393192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0E4A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 txBox="1"/>
          <p:nvPr/>
        </p:nvSpPr>
        <p:spPr>
          <a:xfrm>
            <a:off x="8293608" y="411480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1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6"/>
          <p:cNvSpPr txBox="1"/>
          <p:nvPr/>
        </p:nvSpPr>
        <p:spPr>
          <a:xfrm>
            <a:off x="8522208" y="448056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Portfolio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8567928" y="5138928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dirty="0">
                <a:solidFill>
                  <a:srgbClr val="C6DCD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many hotels in one model  (if time permits).</a:t>
            </a:r>
            <a:endParaRPr lang="en-US" sz="1250" dirty="0"/>
          </a:p>
        </p:txBody>
      </p:sp>
      <p:sp>
        <p:nvSpPr>
          <p:cNvPr id="23" name="Text 1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21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Proof of Concept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68680" y="1920240"/>
            <a:ext cx="3794760" cy="3977640"/>
          </a:xfrm>
          <a:prstGeom prst="roundRect">
            <a:avLst>
              <a:gd name="adj" fmla="val 2892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188720" y="2240280"/>
            <a:ext cx="640080" cy="64008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4231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017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1188720" y="3429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 model-free RL agent learn a pricing rule close to a classical demand-model solution — without being given the demand model?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188720" y="50749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simplify the problem first, to isolate the core RL approach.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5029200" y="1965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tasks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029200" y="2423160"/>
            <a:ext cx="457200" cy="45720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254203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623560" y="23774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environment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5623560" y="274320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single-night pricing environment (Gymnasium), with configurable demand.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029200" y="3319272"/>
            <a:ext cx="457200" cy="45720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34381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623560" y="32735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training pipeline</a:t>
            </a:r>
            <a:endParaRPr lang="en-US" sz="1550" dirty="0"/>
          </a:p>
        </p:txBody>
      </p:sp>
      <p:sp>
        <p:nvSpPr>
          <p:cNvPr id="18" name="Text 13"/>
          <p:cNvSpPr txBox="1"/>
          <p:nvPr/>
        </p:nvSpPr>
        <p:spPr>
          <a:xfrm>
            <a:off x="5623560" y="36393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and test Q-learning, DQN, and SAC — with replay, logging, checkpoints.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029200" y="4215384"/>
            <a:ext cx="457200" cy="45720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4334256"/>
            <a:ext cx="219456" cy="21945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623560" y="416966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&amp; optimality gap</a:t>
            </a:r>
            <a:endParaRPr lang="en-US" sz="1550" dirty="0"/>
          </a:p>
        </p:txBody>
      </p:sp>
      <p:sp>
        <p:nvSpPr>
          <p:cNvPr id="22" name="Text 16"/>
          <p:cNvSpPr txBox="1"/>
          <p:nvPr/>
        </p:nvSpPr>
        <p:spPr>
          <a:xfrm>
            <a:off x="5623560" y="4535424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agent to the classical optimum and measure how close it gets.</a:t>
            </a:r>
            <a:endParaRPr lang="en-US" sz="1250" dirty="0"/>
          </a:p>
        </p:txBody>
      </p:sp>
      <p:sp>
        <p:nvSpPr>
          <p:cNvPr id="23" name="Shape 17"/>
          <p:cNvSpPr/>
          <p:nvPr/>
        </p:nvSpPr>
        <p:spPr>
          <a:xfrm>
            <a:off x="5029200" y="5111496"/>
            <a:ext cx="457200" cy="457200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8072" y="5230368"/>
            <a:ext cx="219456" cy="219456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623560" y="506577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 evaluation</a:t>
            </a:r>
            <a:endParaRPr lang="en-US" sz="1550" dirty="0"/>
          </a:p>
        </p:txBody>
      </p:sp>
      <p:sp>
        <p:nvSpPr>
          <p:cNvPr id="26" name="Text 19"/>
          <p:cNvSpPr txBox="1"/>
          <p:nvPr/>
        </p:nvSpPr>
        <p:spPr>
          <a:xfrm>
            <a:off x="5623560" y="543153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tools and libraries we will build on.</a:t>
            </a:r>
            <a:endParaRPr lang="en-US" sz="1250" dirty="0"/>
          </a:p>
        </p:txBody>
      </p:sp>
      <p:sp>
        <p:nvSpPr>
          <p:cNvPr id="27" name="Text 20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21792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Feature-Rich Prototype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841248" y="162763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toy problem to a realistic hotel-pricing prototype, trained on historical data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68680" y="2194560"/>
            <a:ext cx="1728216" cy="457200"/>
          </a:xfrm>
          <a:prstGeom prst="roundRect">
            <a:avLst>
              <a:gd name="adj" fmla="val 5000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2194560"/>
            <a:ext cx="17282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of stay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79776" y="2194560"/>
            <a:ext cx="2253996" cy="457200"/>
          </a:xfrm>
          <a:prstGeom prst="roundRect">
            <a:avLst>
              <a:gd name="adj" fmla="val 5000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2779776" y="2194560"/>
            <a:ext cx="22539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room types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216652" y="2194560"/>
            <a:ext cx="1412748" cy="457200"/>
          </a:xfrm>
          <a:prstGeom prst="roundRect">
            <a:avLst>
              <a:gd name="adj" fmla="val 5000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5216652" y="2194560"/>
            <a:ext cx="14127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Overbooking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12280" y="2194560"/>
            <a:ext cx="2779776" cy="457200"/>
          </a:xfrm>
          <a:prstGeom prst="roundRect">
            <a:avLst>
              <a:gd name="adj" fmla="val 5000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812280" y="2194560"/>
            <a:ext cx="27797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Cancellations &amp; no-shows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774936" y="2194560"/>
            <a:ext cx="2043684" cy="457200"/>
          </a:xfrm>
          <a:prstGeom prst="roundRect">
            <a:avLst>
              <a:gd name="adj" fmla="val 50000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774936" y="2194560"/>
            <a:ext cx="20436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07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demand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8680" y="2971800"/>
            <a:ext cx="603504" cy="603504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" y="3136392"/>
            <a:ext cx="274320" cy="27432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645920" y="2926080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 enhancements</a:t>
            </a:r>
            <a:endParaRPr lang="en-US" sz="165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3319272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Multi-night length-of-stay demand from historical transactions; multiple room types with upgrade substitution; an overbooking action with walk-cost modeling; and cancellation / no-show simulation calibrated from historical rates.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68680" y="4005072"/>
            <a:ext cx="603504" cy="603504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169664"/>
            <a:ext cx="274320" cy="27432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645920" y="3959352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Neural-network research</a:t>
            </a:r>
            <a:endParaRPr lang="en-US" sz="1650" dirty="0"/>
          </a:p>
        </p:txBody>
      </p:sp>
      <p:sp>
        <p:nvSpPr>
          <p:cNvPr id="22" name="Text 18"/>
          <p:cNvSpPr txBox="1"/>
          <p:nvPr/>
        </p:nvSpPr>
        <p:spPr>
          <a:xfrm>
            <a:off x="1645920" y="4352544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network architectures — starting with a baseline MLP, then a transformer network.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868680" y="5038344"/>
            <a:ext cx="603504" cy="603504"/>
          </a:xfrm>
          <a:prstGeom prst="ellipse">
            <a:avLst/>
          </a:prstGeom>
          <a:solidFill>
            <a:srgbClr val="10707E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3272" y="5202936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645920" y="4992624"/>
            <a:ext cx="9692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benchmarking</a:t>
            </a:r>
            <a:endParaRPr lang="en-US" sz="1650" dirty="0"/>
          </a:p>
        </p:txBody>
      </p:sp>
      <p:sp>
        <p:nvSpPr>
          <p:cNvPr id="26" name="Text 21"/>
          <p:cNvSpPr txBox="1"/>
          <p:nvPr/>
        </p:nvSpPr>
        <p:spPr>
          <a:xfrm>
            <a:off x="1645920" y="5385816"/>
            <a:ext cx="9692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RL training algorithms on this richer, more realistic problem.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2179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EXTENSION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9601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A3D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Portfolio Training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915400" y="1024128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FCEFD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8915400" y="102412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i="1" dirty="0">
                <a:solidFill>
                  <a:srgbClr val="B9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time permits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48840"/>
            <a:ext cx="10424160" cy="3200400"/>
          </a:xfrm>
          <a:prstGeom prst="roundRect">
            <a:avLst>
              <a:gd name="adj" fmla="val 3429"/>
            </a:avLst>
          </a:prstGeom>
          <a:solidFill>
            <a:srgbClr val="EAF2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280160" y="2697480"/>
            <a:ext cx="1051560" cy="1051560"/>
          </a:xfrm>
          <a:prstGeom prst="ellipse">
            <a:avLst/>
          </a:prstGeom>
          <a:solidFill>
            <a:srgbClr val="E8A33D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566" y="2970886"/>
            <a:ext cx="504749" cy="504749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743200" y="2788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A3D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a portfolio of hotels — in a single unified model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3429000"/>
            <a:ext cx="8138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hotels differ in the number of room types, in type (business, leisure, or mixed), and in demand patterns. The goal is to handle all of them inside one reinforcement-learning model, instead of one model per hotel.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368735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666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e1c8c91a-c872-4000-818b-3383c70fafcf}" enabled="1" method="Privileged" siteId="{b1c14d5c-3625-45b3-a430-9552373a0c2f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2740</TotalTime>
  <Words>879</Words>
  <Application>Microsoft Macintosh PowerPoint</Application>
  <PresentationFormat>Widescreen</PresentationFormat>
  <Paragraphs>135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Xiaodong Yao</cp:lastModifiedBy>
  <cp:revision>6</cp:revision>
  <dcterms:created xsi:type="dcterms:W3CDTF">2026-08-30T21:47:31Z</dcterms:created>
  <dcterms:modified xsi:type="dcterms:W3CDTF">2026-09-01T20:02:31Z</dcterms:modified>
</cp:coreProperties>
</file>