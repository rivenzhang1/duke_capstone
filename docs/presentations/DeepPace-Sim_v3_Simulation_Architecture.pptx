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Lst>
  <p:sldSz cx="18288000" cy="10287000"/>
  <p:notesSz cx="6858000" cy="9144000"/>
  <p:embeddedFontLst>
    <p:embeddedFont>
      <p:font typeface="Archivo Black" panose="020B0A03020202020B04" pitchFamily="34" charset="77"/>
      <p:regular r:id="rId11"/>
    </p:embeddedFont>
    <p:embeddedFont>
      <p:font typeface="Fira Code" panose="020B0809050000020004" pitchFamily="49" charset="0"/>
      <p:regular r:id="rId12"/>
      <p:bold r:id="rId13"/>
    </p:embeddedFont>
    <p:embeddedFont>
      <p:font typeface="Fira Code Bold" panose="020B0809050000020004" pitchFamily="49" charset="0"/>
      <p:regular r:id="rId14"/>
    </p:embeddedFont>
    <p:embeddedFont>
      <p:font typeface="IBM Plex Mono Medium" panose="020B0609050203000203"/>
      <p:regular r:id="rId15"/>
    </p:embeddedFont>
    <p:embeddedFont>
      <p:font typeface="Klein" panose="02000503060000020004" pitchFamily="2" charset="0"/>
      <p:regular r:id="rId16"/>
    </p:embeddedFont>
    <p:embeddedFont>
      <p:font typeface="Klein Bold" panose="02000503060000020004" pitchFamily="2" charset="0"/>
      <p:regular r:id="rId17"/>
      <p:bold r:id="rId18"/>
    </p:embeddedFont>
    <p:embeddedFont>
      <p:font typeface="Poppins" pitchFamily="2" charset="77"/>
      <p:regular r:id="rId19"/>
      <p:bold r:id="rId20"/>
      <p:italic r:id="rId21"/>
      <p:boldItalic r:id="rId22"/>
    </p:embeddedFont>
    <p:embeddedFont>
      <p:font typeface="Poppins Semi-Bold" pitchFamily="2" charset="77"/>
      <p:regular r:id="rId23"/>
      <p:bold r:id="rId24"/>
    </p:embeddedFont>
    <p:embeddedFont>
      <p:font typeface="Roboto" panose="02000000000000000000" pitchFamily="2" charset="0"/>
      <p:regular r:id="rId25"/>
      <p:bold r:id="rId26"/>
      <p:italic r:id="rId27"/>
      <p:boldItalic r:id="rId28"/>
    </p:embeddedFont>
    <p:embeddedFont>
      <p:font typeface="Roboto Mono" pitchFamily="49" charset="0"/>
      <p:regular r:id="rId29"/>
      <p:bold r:id="rId30"/>
      <p:italic r:id="rId31"/>
      <p:boldItalic r:id="rId32"/>
    </p:embeddedFont>
    <p:embeddedFont>
      <p:font typeface="Roboto Mono Bold" pitchFamily="2" charset="0"/>
      <p:regular r:id="rId33"/>
      <p:bold r:id="rId34"/>
    </p:embeddedFont>
    <p:embeddedFont>
      <p:font typeface="Roboto Mono Medium" panose="00000009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autoAdjust="0"/>
    <p:restoredTop sz="94589" autoAdjust="0"/>
  </p:normalViewPr>
  <p:slideViewPr>
    <p:cSldViewPr>
      <p:cViewPr varScale="1">
        <p:scale>
          <a:sx n="80" d="100"/>
          <a:sy n="80" d="100"/>
        </p:scale>
        <p:origin x="824" y="20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9" Type="http://schemas.openxmlformats.org/officeDocument/2006/relationships/tableStyles" Target="tableStyles.xml"/><Relationship Id="rId21" Type="http://schemas.openxmlformats.org/officeDocument/2006/relationships/font" Target="fonts/font11.fntdata"/><Relationship Id="rId34" Type="http://schemas.openxmlformats.org/officeDocument/2006/relationships/font" Target="fonts/font24.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openxmlformats.org/officeDocument/2006/relationships/font" Target="fonts/font23.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font" Target="fonts/font1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32" Type="http://schemas.openxmlformats.org/officeDocument/2006/relationships/font" Target="fonts/font22.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font" Target="fonts/font18.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9.fntdata"/><Relationship Id="rId31" Type="http://schemas.openxmlformats.org/officeDocument/2006/relationships/font" Target="fonts/font2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font" Target="fonts/font20.fntdata"/><Relationship Id="rId35" Type="http://schemas.openxmlformats.org/officeDocument/2006/relationships/font" Target="fonts/font25.fntdata"/><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image" Target="../media/image10.png"/><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3.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image" Target="../media/image27.png"/><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4.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67.png"/><Relationship Id="rId18" Type="http://schemas.openxmlformats.org/officeDocument/2006/relationships/image" Target="../media/image72.png"/><Relationship Id="rId3" Type="http://schemas.openxmlformats.org/officeDocument/2006/relationships/image" Target="../media/image57.png"/><Relationship Id="rId7" Type="http://schemas.openxmlformats.org/officeDocument/2006/relationships/image" Target="../media/image61.png"/><Relationship Id="rId12" Type="http://schemas.openxmlformats.org/officeDocument/2006/relationships/image" Target="../media/image66.png"/><Relationship Id="rId17" Type="http://schemas.openxmlformats.org/officeDocument/2006/relationships/image" Target="../media/image71.png"/><Relationship Id="rId2" Type="http://schemas.openxmlformats.org/officeDocument/2006/relationships/image" Target="../media/image56.png"/><Relationship Id="rId16" Type="http://schemas.openxmlformats.org/officeDocument/2006/relationships/image" Target="../media/image70.png"/><Relationship Id="rId1" Type="http://schemas.openxmlformats.org/officeDocument/2006/relationships/slideLayout" Target="../slideLayouts/slideLayout7.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png"/><Relationship Id="rId15" Type="http://schemas.openxmlformats.org/officeDocument/2006/relationships/image" Target="../media/image69.pn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s>
</file>

<file path=ppt/slides/_rels/slide5.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74.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 Type="http://schemas.openxmlformats.org/officeDocument/2006/relationships/image" Target="../media/image73.png"/><Relationship Id="rId16" Type="http://schemas.openxmlformats.org/officeDocument/2006/relationships/image" Target="../media/image87.png"/><Relationship Id="rId1" Type="http://schemas.openxmlformats.org/officeDocument/2006/relationships/slideLayout" Target="../slideLayouts/slideLayout7.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8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7.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7.xml.rels><?xml version="1.0" encoding="UTF-8" standalone="yes"?>
<Relationships xmlns="http://schemas.openxmlformats.org/package/2006/relationships"><Relationship Id="rId13" Type="http://schemas.openxmlformats.org/officeDocument/2006/relationships/image" Target="../media/image105.png"/><Relationship Id="rId18" Type="http://schemas.openxmlformats.org/officeDocument/2006/relationships/image" Target="../media/image110.png"/><Relationship Id="rId26" Type="http://schemas.openxmlformats.org/officeDocument/2006/relationships/image" Target="../media/image118.png"/><Relationship Id="rId39" Type="http://schemas.openxmlformats.org/officeDocument/2006/relationships/image" Target="../media/image131.png"/><Relationship Id="rId21" Type="http://schemas.openxmlformats.org/officeDocument/2006/relationships/image" Target="../media/image113.png"/><Relationship Id="rId34" Type="http://schemas.openxmlformats.org/officeDocument/2006/relationships/image" Target="../media/image126.png"/><Relationship Id="rId7" Type="http://schemas.openxmlformats.org/officeDocument/2006/relationships/image" Target="../media/image99.png"/><Relationship Id="rId2" Type="http://schemas.openxmlformats.org/officeDocument/2006/relationships/image" Target="../media/image94.png"/><Relationship Id="rId16" Type="http://schemas.openxmlformats.org/officeDocument/2006/relationships/image" Target="../media/image108.png"/><Relationship Id="rId20" Type="http://schemas.openxmlformats.org/officeDocument/2006/relationships/image" Target="../media/image112.png"/><Relationship Id="rId29" Type="http://schemas.openxmlformats.org/officeDocument/2006/relationships/image" Target="../media/image121.png"/><Relationship Id="rId41" Type="http://schemas.openxmlformats.org/officeDocument/2006/relationships/image" Target="../media/image133.png"/><Relationship Id="rId1" Type="http://schemas.openxmlformats.org/officeDocument/2006/relationships/slideLayout" Target="../slideLayouts/slideLayout7.xml"/><Relationship Id="rId6" Type="http://schemas.openxmlformats.org/officeDocument/2006/relationships/image" Target="../media/image98.jpeg"/><Relationship Id="rId11" Type="http://schemas.openxmlformats.org/officeDocument/2006/relationships/image" Target="../media/image103.png"/><Relationship Id="rId24" Type="http://schemas.openxmlformats.org/officeDocument/2006/relationships/image" Target="../media/image116.png"/><Relationship Id="rId32" Type="http://schemas.openxmlformats.org/officeDocument/2006/relationships/image" Target="../media/image124.png"/><Relationship Id="rId37" Type="http://schemas.openxmlformats.org/officeDocument/2006/relationships/image" Target="../media/image129.png"/><Relationship Id="rId40" Type="http://schemas.openxmlformats.org/officeDocument/2006/relationships/image" Target="../media/image132.png"/><Relationship Id="rId5" Type="http://schemas.openxmlformats.org/officeDocument/2006/relationships/image" Target="../media/image97.png"/><Relationship Id="rId15" Type="http://schemas.openxmlformats.org/officeDocument/2006/relationships/image" Target="../media/image107.png"/><Relationship Id="rId23" Type="http://schemas.openxmlformats.org/officeDocument/2006/relationships/image" Target="../media/image115.png"/><Relationship Id="rId28" Type="http://schemas.openxmlformats.org/officeDocument/2006/relationships/image" Target="../media/image120.png"/><Relationship Id="rId36" Type="http://schemas.openxmlformats.org/officeDocument/2006/relationships/image" Target="../media/image128.png"/><Relationship Id="rId10" Type="http://schemas.openxmlformats.org/officeDocument/2006/relationships/image" Target="../media/image102.png"/><Relationship Id="rId19" Type="http://schemas.openxmlformats.org/officeDocument/2006/relationships/image" Target="../media/image111.png"/><Relationship Id="rId31" Type="http://schemas.openxmlformats.org/officeDocument/2006/relationships/image" Target="../media/image123.png"/><Relationship Id="rId4" Type="http://schemas.openxmlformats.org/officeDocument/2006/relationships/image" Target="../media/image96.png"/><Relationship Id="rId9" Type="http://schemas.openxmlformats.org/officeDocument/2006/relationships/image" Target="../media/image101.png"/><Relationship Id="rId14" Type="http://schemas.openxmlformats.org/officeDocument/2006/relationships/image" Target="../media/image106.png"/><Relationship Id="rId22" Type="http://schemas.openxmlformats.org/officeDocument/2006/relationships/image" Target="../media/image114.png"/><Relationship Id="rId27" Type="http://schemas.openxmlformats.org/officeDocument/2006/relationships/image" Target="../media/image119.png"/><Relationship Id="rId30" Type="http://schemas.openxmlformats.org/officeDocument/2006/relationships/image" Target="../media/image122.png"/><Relationship Id="rId35" Type="http://schemas.openxmlformats.org/officeDocument/2006/relationships/image" Target="../media/image127.png"/><Relationship Id="rId8" Type="http://schemas.openxmlformats.org/officeDocument/2006/relationships/image" Target="../media/image100.png"/><Relationship Id="rId3" Type="http://schemas.openxmlformats.org/officeDocument/2006/relationships/image" Target="../media/image95.png"/><Relationship Id="rId12" Type="http://schemas.openxmlformats.org/officeDocument/2006/relationships/image" Target="../media/image104.png"/><Relationship Id="rId17" Type="http://schemas.openxmlformats.org/officeDocument/2006/relationships/image" Target="../media/image109.png"/><Relationship Id="rId25" Type="http://schemas.openxmlformats.org/officeDocument/2006/relationships/image" Target="../media/image117.png"/><Relationship Id="rId33" Type="http://schemas.openxmlformats.org/officeDocument/2006/relationships/image" Target="../media/image125.png"/><Relationship Id="rId38" Type="http://schemas.openxmlformats.org/officeDocument/2006/relationships/image" Target="../media/image130.png"/></Relationships>
</file>

<file path=ppt/slides/_rels/slide8.xml.rels><?xml version="1.0" encoding="UTF-8" standalone="yes"?>
<Relationships xmlns="http://schemas.openxmlformats.org/package/2006/relationships"><Relationship Id="rId8" Type="http://schemas.openxmlformats.org/officeDocument/2006/relationships/image" Target="../media/image140.png"/><Relationship Id="rId13" Type="http://schemas.openxmlformats.org/officeDocument/2006/relationships/image" Target="../media/image145.png"/><Relationship Id="rId18" Type="http://schemas.openxmlformats.org/officeDocument/2006/relationships/image" Target="../media/image150.png"/><Relationship Id="rId3" Type="http://schemas.openxmlformats.org/officeDocument/2006/relationships/image" Target="../media/image135.png"/><Relationship Id="rId21" Type="http://schemas.openxmlformats.org/officeDocument/2006/relationships/image" Target="../media/image153.png"/><Relationship Id="rId7" Type="http://schemas.openxmlformats.org/officeDocument/2006/relationships/image" Target="../media/image139.png"/><Relationship Id="rId12" Type="http://schemas.openxmlformats.org/officeDocument/2006/relationships/image" Target="../media/image144.png"/><Relationship Id="rId17" Type="http://schemas.openxmlformats.org/officeDocument/2006/relationships/image" Target="../media/image149.png"/><Relationship Id="rId25" Type="http://schemas.openxmlformats.org/officeDocument/2006/relationships/image" Target="../media/image157.png"/><Relationship Id="rId2" Type="http://schemas.openxmlformats.org/officeDocument/2006/relationships/image" Target="../media/image134.png"/><Relationship Id="rId16" Type="http://schemas.openxmlformats.org/officeDocument/2006/relationships/image" Target="../media/image148.png"/><Relationship Id="rId20" Type="http://schemas.openxmlformats.org/officeDocument/2006/relationships/image" Target="../media/image152.png"/><Relationship Id="rId1" Type="http://schemas.openxmlformats.org/officeDocument/2006/relationships/slideLayout" Target="../slideLayouts/slideLayout7.xml"/><Relationship Id="rId6" Type="http://schemas.openxmlformats.org/officeDocument/2006/relationships/image" Target="../media/image138.png"/><Relationship Id="rId11" Type="http://schemas.openxmlformats.org/officeDocument/2006/relationships/image" Target="../media/image143.png"/><Relationship Id="rId24" Type="http://schemas.openxmlformats.org/officeDocument/2006/relationships/image" Target="../media/image156.png"/><Relationship Id="rId5" Type="http://schemas.openxmlformats.org/officeDocument/2006/relationships/image" Target="../media/image137.png"/><Relationship Id="rId15" Type="http://schemas.openxmlformats.org/officeDocument/2006/relationships/image" Target="../media/image147.png"/><Relationship Id="rId23" Type="http://schemas.openxmlformats.org/officeDocument/2006/relationships/image" Target="../media/image155.png"/><Relationship Id="rId10" Type="http://schemas.openxmlformats.org/officeDocument/2006/relationships/image" Target="../media/image142.png"/><Relationship Id="rId19" Type="http://schemas.openxmlformats.org/officeDocument/2006/relationships/image" Target="../media/image151.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6.png"/><Relationship Id="rId22" Type="http://schemas.openxmlformats.org/officeDocument/2006/relationships/image" Target="../media/image154.png"/></Relationships>
</file>

<file path=ppt/slides/_rels/slide9.xml.rels><?xml version="1.0" encoding="UTF-8" standalone="yes"?>
<Relationships xmlns="http://schemas.openxmlformats.org/package/2006/relationships"><Relationship Id="rId8" Type="http://schemas.openxmlformats.org/officeDocument/2006/relationships/image" Target="../media/image164.png"/><Relationship Id="rId3" Type="http://schemas.openxmlformats.org/officeDocument/2006/relationships/image" Target="../media/image159.png"/><Relationship Id="rId7" Type="http://schemas.openxmlformats.org/officeDocument/2006/relationships/image" Target="../media/image163.png"/><Relationship Id="rId2" Type="http://schemas.openxmlformats.org/officeDocument/2006/relationships/image" Target="../media/image158.png"/><Relationship Id="rId1" Type="http://schemas.openxmlformats.org/officeDocument/2006/relationships/slideLayout" Target="../slideLayouts/slideLayout7.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 Id="rId9" Type="http://schemas.openxmlformats.org/officeDocument/2006/relationships/image" Target="../media/image16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US"/>
          </a:p>
        </p:txBody>
      </p:sp>
      <p:sp>
        <p:nvSpPr>
          <p:cNvPr id="3" name="Freeform 3"/>
          <p:cNvSpPr/>
          <p:nvPr/>
        </p:nvSpPr>
        <p:spPr>
          <a:xfrm>
            <a:off x="0" y="0"/>
            <a:ext cx="8277225" cy="10287000"/>
          </a:xfrm>
          <a:custGeom>
            <a:avLst/>
            <a:gdLst/>
            <a:ahLst/>
            <a:cxnLst/>
            <a:rect l="l" t="t" r="r" b="b"/>
            <a:pathLst>
              <a:path w="8277225" h="10287000">
                <a:moveTo>
                  <a:pt x="0" y="0"/>
                </a:moveTo>
                <a:lnTo>
                  <a:pt x="8277225" y="0"/>
                </a:lnTo>
                <a:lnTo>
                  <a:pt x="8277225" y="10287000"/>
                </a:lnTo>
                <a:lnTo>
                  <a:pt x="0" y="10287000"/>
                </a:lnTo>
                <a:lnTo>
                  <a:pt x="0" y="0"/>
                </a:lnTo>
                <a:close/>
              </a:path>
            </a:pathLst>
          </a:custGeom>
          <a:blipFill>
            <a:blip r:embed="rId3"/>
            <a:stretch>
              <a:fillRect/>
            </a:stretch>
          </a:blipFill>
        </p:spPr>
        <p:txBody>
          <a:bodyPr/>
          <a:lstStyle/>
          <a:p>
            <a:endParaRPr lang="en-US"/>
          </a:p>
        </p:txBody>
      </p:sp>
      <p:sp>
        <p:nvSpPr>
          <p:cNvPr id="4" name="Freeform 4"/>
          <p:cNvSpPr/>
          <p:nvPr/>
        </p:nvSpPr>
        <p:spPr>
          <a:xfrm>
            <a:off x="8153400" y="0"/>
            <a:ext cx="10134600" cy="10287000"/>
          </a:xfrm>
          <a:custGeom>
            <a:avLst/>
            <a:gdLst/>
            <a:ahLst/>
            <a:cxnLst/>
            <a:rect l="l" t="t" r="r" b="b"/>
            <a:pathLst>
              <a:path w="10134600" h="10287000">
                <a:moveTo>
                  <a:pt x="0" y="0"/>
                </a:moveTo>
                <a:lnTo>
                  <a:pt x="10134600" y="0"/>
                </a:lnTo>
                <a:lnTo>
                  <a:pt x="10134600" y="10287000"/>
                </a:lnTo>
                <a:lnTo>
                  <a:pt x="0" y="10287000"/>
                </a:lnTo>
                <a:lnTo>
                  <a:pt x="0" y="0"/>
                </a:lnTo>
                <a:close/>
              </a:path>
            </a:pathLst>
          </a:custGeom>
          <a:blipFill>
            <a:blip r:embed="rId4"/>
            <a:stretch>
              <a:fillRect l="-1033"/>
            </a:stretch>
          </a:blipFill>
        </p:spPr>
        <p:txBody>
          <a:bodyPr/>
          <a:lstStyle/>
          <a:p>
            <a:endParaRPr lang="en-US"/>
          </a:p>
        </p:txBody>
      </p:sp>
      <p:sp>
        <p:nvSpPr>
          <p:cNvPr id="5" name="Freeform 5"/>
          <p:cNvSpPr/>
          <p:nvPr/>
        </p:nvSpPr>
        <p:spPr>
          <a:xfrm>
            <a:off x="114300" y="638175"/>
            <a:ext cx="342900" cy="9086850"/>
          </a:xfrm>
          <a:custGeom>
            <a:avLst/>
            <a:gdLst/>
            <a:ahLst/>
            <a:cxnLst/>
            <a:rect l="l" t="t" r="r" b="b"/>
            <a:pathLst>
              <a:path w="342900" h="9086850">
                <a:moveTo>
                  <a:pt x="0" y="0"/>
                </a:moveTo>
                <a:lnTo>
                  <a:pt x="342900" y="0"/>
                </a:lnTo>
                <a:lnTo>
                  <a:pt x="342900" y="9086850"/>
                </a:lnTo>
                <a:lnTo>
                  <a:pt x="0" y="9086850"/>
                </a:lnTo>
                <a:lnTo>
                  <a:pt x="0" y="0"/>
                </a:lnTo>
                <a:close/>
              </a:path>
            </a:pathLst>
          </a:custGeom>
          <a:blipFill>
            <a:blip r:embed="rId5"/>
            <a:stretch>
              <a:fillRect l="-33333" t="-2306" r="-58333" b="-1467"/>
            </a:stretch>
          </a:blipFill>
        </p:spPr>
        <p:txBody>
          <a:bodyPr/>
          <a:lstStyle/>
          <a:p>
            <a:endParaRPr lang="en-US"/>
          </a:p>
        </p:txBody>
      </p:sp>
      <p:sp>
        <p:nvSpPr>
          <p:cNvPr id="6" name="Freeform 6"/>
          <p:cNvSpPr/>
          <p:nvPr/>
        </p:nvSpPr>
        <p:spPr>
          <a:xfrm>
            <a:off x="828675" y="9858375"/>
            <a:ext cx="8105775" cy="238125"/>
          </a:xfrm>
          <a:custGeom>
            <a:avLst/>
            <a:gdLst/>
            <a:ahLst/>
            <a:cxnLst/>
            <a:rect l="l" t="t" r="r" b="b"/>
            <a:pathLst>
              <a:path w="8105775" h="238125">
                <a:moveTo>
                  <a:pt x="0" y="0"/>
                </a:moveTo>
                <a:lnTo>
                  <a:pt x="8105775" y="0"/>
                </a:lnTo>
                <a:lnTo>
                  <a:pt x="8105775" y="238125"/>
                </a:lnTo>
                <a:lnTo>
                  <a:pt x="0" y="238125"/>
                </a:lnTo>
                <a:lnTo>
                  <a:pt x="0" y="0"/>
                </a:lnTo>
                <a:close/>
              </a:path>
            </a:pathLst>
          </a:custGeom>
          <a:blipFill>
            <a:blip r:embed="rId6"/>
            <a:stretch>
              <a:fillRect l="-2232" b="-80000"/>
            </a:stretch>
          </a:blipFill>
        </p:spPr>
        <p:txBody>
          <a:bodyPr/>
          <a:lstStyle/>
          <a:p>
            <a:endParaRPr lang="en-US"/>
          </a:p>
        </p:txBody>
      </p:sp>
      <p:sp>
        <p:nvSpPr>
          <p:cNvPr id="7" name="Freeform 7"/>
          <p:cNvSpPr/>
          <p:nvPr/>
        </p:nvSpPr>
        <p:spPr>
          <a:xfrm>
            <a:off x="9744075" y="9858375"/>
            <a:ext cx="5934075" cy="238125"/>
          </a:xfrm>
          <a:custGeom>
            <a:avLst/>
            <a:gdLst/>
            <a:ahLst/>
            <a:cxnLst/>
            <a:rect l="l" t="t" r="r" b="b"/>
            <a:pathLst>
              <a:path w="5934075" h="238125">
                <a:moveTo>
                  <a:pt x="0" y="0"/>
                </a:moveTo>
                <a:lnTo>
                  <a:pt x="5934075" y="0"/>
                </a:lnTo>
                <a:lnTo>
                  <a:pt x="5934075" y="238125"/>
                </a:lnTo>
                <a:lnTo>
                  <a:pt x="0" y="238125"/>
                </a:lnTo>
                <a:lnTo>
                  <a:pt x="0" y="0"/>
                </a:lnTo>
                <a:close/>
              </a:path>
            </a:pathLst>
          </a:custGeom>
          <a:blipFill>
            <a:blip r:embed="rId7"/>
            <a:stretch>
              <a:fillRect l="-2889" b="-80000"/>
            </a:stretch>
          </a:blipFill>
        </p:spPr>
        <p:txBody>
          <a:bodyPr/>
          <a:lstStyle/>
          <a:p>
            <a:endParaRPr lang="en-US"/>
          </a:p>
        </p:txBody>
      </p:sp>
      <p:sp>
        <p:nvSpPr>
          <p:cNvPr id="8" name="Freeform 8"/>
          <p:cNvSpPr/>
          <p:nvPr/>
        </p:nvSpPr>
        <p:spPr>
          <a:xfrm>
            <a:off x="17840325" y="647700"/>
            <a:ext cx="333375" cy="9086850"/>
          </a:xfrm>
          <a:custGeom>
            <a:avLst/>
            <a:gdLst/>
            <a:ahLst/>
            <a:cxnLst/>
            <a:rect l="l" t="t" r="r" b="b"/>
            <a:pathLst>
              <a:path w="333375" h="9086850">
                <a:moveTo>
                  <a:pt x="0" y="0"/>
                </a:moveTo>
                <a:lnTo>
                  <a:pt x="333375" y="0"/>
                </a:lnTo>
                <a:lnTo>
                  <a:pt x="333375" y="9086850"/>
                </a:lnTo>
                <a:lnTo>
                  <a:pt x="0" y="9086850"/>
                </a:lnTo>
                <a:lnTo>
                  <a:pt x="0" y="0"/>
                </a:lnTo>
                <a:close/>
              </a:path>
            </a:pathLst>
          </a:custGeom>
          <a:blipFill>
            <a:blip r:embed="rId8"/>
            <a:stretch>
              <a:fillRect l="-62857" t="-2410" r="-34285" b="-1362"/>
            </a:stretch>
          </a:blipFill>
        </p:spPr>
        <p:txBody>
          <a:bodyPr/>
          <a:lstStyle/>
          <a:p>
            <a:endParaRPr lang="en-US"/>
          </a:p>
        </p:txBody>
      </p:sp>
      <p:sp>
        <p:nvSpPr>
          <p:cNvPr id="9" name="Freeform 9"/>
          <p:cNvSpPr/>
          <p:nvPr/>
        </p:nvSpPr>
        <p:spPr>
          <a:xfrm>
            <a:off x="8877300" y="1285875"/>
            <a:ext cx="8220075" cy="8058150"/>
          </a:xfrm>
          <a:custGeom>
            <a:avLst/>
            <a:gdLst/>
            <a:ahLst/>
            <a:cxnLst/>
            <a:rect l="l" t="t" r="r" b="b"/>
            <a:pathLst>
              <a:path w="8220075" h="8058150">
                <a:moveTo>
                  <a:pt x="0" y="0"/>
                </a:moveTo>
                <a:lnTo>
                  <a:pt x="8220075" y="0"/>
                </a:lnTo>
                <a:lnTo>
                  <a:pt x="8220075" y="8058150"/>
                </a:lnTo>
                <a:lnTo>
                  <a:pt x="0" y="8058150"/>
                </a:lnTo>
                <a:lnTo>
                  <a:pt x="0" y="0"/>
                </a:lnTo>
                <a:close/>
              </a:path>
            </a:pathLst>
          </a:custGeom>
          <a:blipFill>
            <a:blip r:embed="rId9"/>
            <a:stretch>
              <a:fillRect l="-2085" r="-1274" b="-1063"/>
            </a:stretch>
          </a:blipFill>
        </p:spPr>
        <p:txBody>
          <a:bodyPr/>
          <a:lstStyle/>
          <a:p>
            <a:endParaRPr lang="en-US"/>
          </a:p>
        </p:txBody>
      </p:sp>
      <p:sp>
        <p:nvSpPr>
          <p:cNvPr id="10" name="Freeform 10"/>
          <p:cNvSpPr/>
          <p:nvPr/>
        </p:nvSpPr>
        <p:spPr>
          <a:xfrm>
            <a:off x="5023621" y="-414598"/>
            <a:ext cx="16136984" cy="10234873"/>
          </a:xfrm>
          <a:custGeom>
            <a:avLst/>
            <a:gdLst/>
            <a:ahLst/>
            <a:cxnLst/>
            <a:rect l="l" t="t" r="r" b="b"/>
            <a:pathLst>
              <a:path w="16136984" h="10234873">
                <a:moveTo>
                  <a:pt x="0" y="0"/>
                </a:moveTo>
                <a:lnTo>
                  <a:pt x="16136983" y="0"/>
                </a:lnTo>
                <a:lnTo>
                  <a:pt x="16136983" y="10234873"/>
                </a:lnTo>
                <a:lnTo>
                  <a:pt x="0" y="10234873"/>
                </a:lnTo>
                <a:lnTo>
                  <a:pt x="0" y="0"/>
                </a:lnTo>
                <a:close/>
              </a:path>
            </a:pathLst>
          </a:custGeom>
          <a:blipFill>
            <a:blip r:embed="rId10"/>
            <a:stretch>
              <a:fillRect/>
            </a:stretch>
          </a:blipFill>
        </p:spPr>
        <p:txBody>
          <a:bodyPr/>
          <a:lstStyle/>
          <a:p>
            <a:endParaRPr lang="en-US"/>
          </a:p>
        </p:txBody>
      </p:sp>
      <p:sp>
        <p:nvSpPr>
          <p:cNvPr id="11" name="TextBox 11"/>
          <p:cNvSpPr txBox="1"/>
          <p:nvPr/>
        </p:nvSpPr>
        <p:spPr>
          <a:xfrm>
            <a:off x="828675" y="2935772"/>
            <a:ext cx="7367016" cy="1767067"/>
          </a:xfrm>
          <a:prstGeom prst="rect">
            <a:avLst/>
          </a:prstGeom>
        </p:spPr>
        <p:txBody>
          <a:bodyPr lIns="0" tIns="0" rIns="0" bIns="0" rtlCol="0" anchor="t">
            <a:spAutoFit/>
          </a:bodyPr>
          <a:lstStyle/>
          <a:p>
            <a:pPr algn="l">
              <a:lnSpc>
                <a:spcPts val="4498"/>
              </a:lnSpc>
            </a:pPr>
            <a:r>
              <a:rPr lang="en-US" sz="4164" b="1">
                <a:solidFill>
                  <a:srgbClr val="FFFFFF"/>
                </a:solidFill>
                <a:latin typeface="Poppins Semi-Bold"/>
                <a:ea typeface="Poppins Semi-Bold"/>
                <a:cs typeface="Poppins Semi-Bold"/>
                <a:sym typeface="Poppins Semi-Bold"/>
              </a:rPr>
              <a:t>DeepPace-Sim v3:</a:t>
            </a:r>
          </a:p>
          <a:p>
            <a:pPr algn="l">
              <a:lnSpc>
                <a:spcPts val="4498"/>
              </a:lnSpc>
            </a:pPr>
            <a:r>
              <a:rPr lang="en-US" sz="4164" b="1">
                <a:solidFill>
                  <a:srgbClr val="FFFFFF"/>
                </a:solidFill>
                <a:latin typeface="Poppins Semi-Bold"/>
                <a:ea typeface="Poppins Semi-Bold"/>
                <a:cs typeface="Poppins Semi-Bold"/>
                <a:sym typeface="Poppins Semi-Bold"/>
              </a:rPr>
              <a:t>The Simulation </a:t>
            </a:r>
          </a:p>
          <a:p>
            <a:pPr algn="l">
              <a:lnSpc>
                <a:spcPts val="4498"/>
              </a:lnSpc>
            </a:pPr>
            <a:r>
              <a:rPr lang="en-US" sz="4164" b="1">
                <a:solidFill>
                  <a:srgbClr val="FFFFFF"/>
                </a:solidFill>
                <a:latin typeface="Poppins Semi-Bold"/>
                <a:ea typeface="Poppins Semi-Bold"/>
                <a:cs typeface="Poppins Semi-Bold"/>
                <a:sym typeface="Poppins Semi-Bold"/>
              </a:rPr>
              <a:t>Mechanism</a:t>
            </a:r>
          </a:p>
        </p:txBody>
      </p:sp>
      <p:sp>
        <p:nvSpPr>
          <p:cNvPr id="12" name="TextBox 12"/>
          <p:cNvSpPr txBox="1"/>
          <p:nvPr/>
        </p:nvSpPr>
        <p:spPr>
          <a:xfrm>
            <a:off x="894588" y="5257800"/>
            <a:ext cx="6821424" cy="349746"/>
          </a:xfrm>
          <a:prstGeom prst="rect">
            <a:avLst/>
          </a:prstGeom>
        </p:spPr>
        <p:txBody>
          <a:bodyPr lIns="0" tIns="0" rIns="0" bIns="0" rtlCol="0" anchor="t">
            <a:spAutoFit/>
          </a:bodyPr>
          <a:lstStyle/>
          <a:p>
            <a:pPr algn="l">
              <a:lnSpc>
                <a:spcPts val="2772"/>
              </a:lnSpc>
            </a:pPr>
            <a:r>
              <a:rPr lang="en-US" sz="1980">
                <a:solidFill>
                  <a:srgbClr val="FFFFFF"/>
                </a:solidFill>
                <a:latin typeface="Poppins"/>
                <a:ea typeface="Poppins"/>
                <a:cs typeface="Poppins"/>
                <a:sym typeface="Poppins"/>
              </a:rPr>
              <a:t>Architectural Specifications &amp; Functional Composition</a:t>
            </a:r>
          </a:p>
        </p:txBody>
      </p:sp>
      <p:sp>
        <p:nvSpPr>
          <p:cNvPr id="13" name="TextBox 13"/>
          <p:cNvSpPr txBox="1"/>
          <p:nvPr/>
        </p:nvSpPr>
        <p:spPr>
          <a:xfrm rot="-1921443">
            <a:off x="15671811" y="8475348"/>
            <a:ext cx="566928" cy="407908"/>
          </a:xfrm>
          <a:prstGeom prst="rect">
            <a:avLst/>
          </a:prstGeom>
        </p:spPr>
        <p:txBody>
          <a:bodyPr lIns="0" tIns="0" rIns="0" bIns="0" rtlCol="0" anchor="t">
            <a:spAutoFit/>
          </a:bodyPr>
          <a:lstStyle/>
          <a:p>
            <a:pPr algn="ctr">
              <a:lnSpc>
                <a:spcPts val="3241"/>
              </a:lnSpc>
            </a:pPr>
            <a:r>
              <a:rPr lang="en-US" sz="2315">
                <a:solidFill>
                  <a:srgbClr val="FFFFFF"/>
                </a:solidFill>
                <a:latin typeface="Poppins"/>
                <a:ea typeface="Poppins"/>
                <a:cs typeface="Poppins"/>
                <a:sym typeface="Poppins"/>
              </a:rPr>
              <a:t>DTA</a:t>
            </a:r>
          </a:p>
        </p:txBody>
      </p:sp>
      <p:sp>
        <p:nvSpPr>
          <p:cNvPr id="14" name="TextBox 14"/>
          <p:cNvSpPr txBox="1"/>
          <p:nvPr/>
        </p:nvSpPr>
        <p:spPr>
          <a:xfrm rot="593982">
            <a:off x="13827323" y="742748"/>
            <a:ext cx="2131058" cy="496149"/>
          </a:xfrm>
          <a:prstGeom prst="rect">
            <a:avLst/>
          </a:prstGeom>
        </p:spPr>
        <p:txBody>
          <a:bodyPr lIns="0" tIns="0" rIns="0" bIns="0" rtlCol="0" anchor="t">
            <a:spAutoFit/>
          </a:bodyPr>
          <a:lstStyle/>
          <a:p>
            <a:pPr algn="ctr">
              <a:lnSpc>
                <a:spcPts val="3857"/>
              </a:lnSpc>
            </a:pPr>
            <a:r>
              <a:rPr lang="en-US" sz="2755">
                <a:solidFill>
                  <a:srgbClr val="FFFFFF"/>
                </a:solidFill>
                <a:latin typeface="Poppins"/>
                <a:ea typeface="Poppins"/>
                <a:cs typeface="Poppins"/>
                <a:sym typeface="Poppins"/>
              </a:rPr>
              <a:t>Arrival 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txBody>
            <a:bodyPr/>
            <a:lstStyle/>
            <a:p>
              <a:endParaRPr lang="en-US"/>
            </a:p>
          </p:txBody>
        </p:sp>
      </p:grpSp>
      <p:grpSp>
        <p:nvGrpSpPr>
          <p:cNvPr id="4" name="Group 4"/>
          <p:cNvGrpSpPr/>
          <p:nvPr/>
        </p:nvGrpSpPr>
        <p:grpSpPr>
          <a:xfrm>
            <a:off x="292395" y="187523"/>
            <a:ext cx="17703209" cy="1526977"/>
            <a:chOff x="0" y="0"/>
            <a:chExt cx="23604279" cy="2035969"/>
          </a:xfrm>
        </p:grpSpPr>
        <p:sp>
          <p:nvSpPr>
            <p:cNvPr id="5" name="Freeform 5"/>
            <p:cNvSpPr/>
            <p:nvPr/>
          </p:nvSpPr>
          <p:spPr>
            <a:xfrm>
              <a:off x="0" y="0"/>
              <a:ext cx="23604279" cy="2035969"/>
            </a:xfrm>
            <a:custGeom>
              <a:avLst/>
              <a:gdLst/>
              <a:ahLst/>
              <a:cxnLst/>
              <a:rect l="l" t="t" r="r" b="b"/>
              <a:pathLst>
                <a:path w="23604279" h="2035969">
                  <a:moveTo>
                    <a:pt x="0" y="0"/>
                  </a:moveTo>
                  <a:lnTo>
                    <a:pt x="23604279" y="0"/>
                  </a:lnTo>
                  <a:lnTo>
                    <a:pt x="23604279" y="2035969"/>
                  </a:lnTo>
                  <a:lnTo>
                    <a:pt x="0" y="2035969"/>
                  </a:lnTo>
                  <a:close/>
                </a:path>
              </a:pathLst>
            </a:custGeom>
            <a:blipFill>
              <a:blip r:embed="rId3"/>
              <a:stretch>
                <a:fillRect l="-450" t="-12280" r="-450"/>
              </a:stretch>
            </a:blipFill>
          </p:spPr>
          <p:txBody>
            <a:bodyPr/>
            <a:lstStyle/>
            <a:p>
              <a:endParaRPr lang="en-US"/>
            </a:p>
          </p:txBody>
        </p:sp>
      </p:grpSp>
      <p:sp>
        <p:nvSpPr>
          <p:cNvPr id="6" name="TextBox 6"/>
          <p:cNvSpPr txBox="1"/>
          <p:nvPr/>
        </p:nvSpPr>
        <p:spPr>
          <a:xfrm>
            <a:off x="1847088" y="679960"/>
            <a:ext cx="14593824" cy="657225"/>
          </a:xfrm>
          <a:prstGeom prst="rect">
            <a:avLst/>
          </a:prstGeom>
        </p:spPr>
        <p:txBody>
          <a:bodyPr lIns="0" tIns="0" rIns="0" bIns="0" rtlCol="0" anchor="t">
            <a:spAutoFit/>
          </a:bodyPr>
          <a:lstStyle/>
          <a:p>
            <a:pPr algn="ctr">
              <a:lnSpc>
                <a:spcPts val="5193"/>
              </a:lnSpc>
            </a:pPr>
            <a:r>
              <a:rPr lang="en-US" sz="4328" b="1">
                <a:solidFill>
                  <a:srgbClr val="21353A"/>
                </a:solidFill>
                <a:latin typeface="Roboto Mono Medium"/>
                <a:ea typeface="Roboto Mono Medium"/>
                <a:cs typeface="Roboto Mono Medium"/>
                <a:sym typeface="Roboto Mono Medium"/>
              </a:rPr>
              <a:t>The Core Engine: Composing the Booking Curve</a:t>
            </a:r>
          </a:p>
        </p:txBody>
      </p:sp>
      <p:grpSp>
        <p:nvGrpSpPr>
          <p:cNvPr id="7" name="Group 7"/>
          <p:cNvGrpSpPr/>
          <p:nvPr/>
        </p:nvGrpSpPr>
        <p:grpSpPr>
          <a:xfrm>
            <a:off x="265814" y="1714500"/>
            <a:ext cx="17729791" cy="6858000"/>
            <a:chOff x="0" y="0"/>
            <a:chExt cx="23639721" cy="9144000"/>
          </a:xfrm>
        </p:grpSpPr>
        <p:sp>
          <p:nvSpPr>
            <p:cNvPr id="8" name="Freeform 8"/>
            <p:cNvSpPr/>
            <p:nvPr/>
          </p:nvSpPr>
          <p:spPr>
            <a:xfrm>
              <a:off x="0" y="0"/>
              <a:ext cx="23639721" cy="9144000"/>
            </a:xfrm>
            <a:custGeom>
              <a:avLst/>
              <a:gdLst/>
              <a:ahLst/>
              <a:cxnLst/>
              <a:rect l="l" t="t" r="r" b="b"/>
              <a:pathLst>
                <a:path w="23639721" h="9144000">
                  <a:moveTo>
                    <a:pt x="0" y="0"/>
                  </a:moveTo>
                  <a:lnTo>
                    <a:pt x="23639721" y="0"/>
                  </a:lnTo>
                  <a:lnTo>
                    <a:pt x="23639721" y="9144000"/>
                  </a:lnTo>
                  <a:lnTo>
                    <a:pt x="0" y="9144000"/>
                  </a:lnTo>
                  <a:close/>
                </a:path>
              </a:pathLst>
            </a:custGeom>
            <a:blipFill>
              <a:blip r:embed="rId4"/>
              <a:stretch>
                <a:fillRect l="-299" r="-449"/>
              </a:stretch>
            </a:blipFill>
          </p:spPr>
          <p:txBody>
            <a:bodyPr/>
            <a:lstStyle/>
            <a:p>
              <a:endParaRPr lang="en-US"/>
            </a:p>
          </p:txBody>
        </p:sp>
      </p:grpSp>
      <p:grpSp>
        <p:nvGrpSpPr>
          <p:cNvPr id="9" name="Group 9"/>
          <p:cNvGrpSpPr/>
          <p:nvPr/>
        </p:nvGrpSpPr>
        <p:grpSpPr>
          <a:xfrm>
            <a:off x="4957430" y="2611934"/>
            <a:ext cx="3920756" cy="200918"/>
            <a:chOff x="0" y="0"/>
            <a:chExt cx="5227674" cy="267891"/>
          </a:xfrm>
        </p:grpSpPr>
        <p:sp>
          <p:nvSpPr>
            <p:cNvPr id="10" name="Freeform 10"/>
            <p:cNvSpPr/>
            <p:nvPr/>
          </p:nvSpPr>
          <p:spPr>
            <a:xfrm>
              <a:off x="0" y="0"/>
              <a:ext cx="5227674" cy="267891"/>
            </a:xfrm>
            <a:custGeom>
              <a:avLst/>
              <a:gdLst/>
              <a:ahLst/>
              <a:cxnLst/>
              <a:rect l="l" t="t" r="r" b="b"/>
              <a:pathLst>
                <a:path w="5227674" h="267891">
                  <a:moveTo>
                    <a:pt x="0" y="0"/>
                  </a:moveTo>
                  <a:lnTo>
                    <a:pt x="5227674" y="0"/>
                  </a:lnTo>
                  <a:lnTo>
                    <a:pt x="5227674" y="267891"/>
                  </a:lnTo>
                  <a:lnTo>
                    <a:pt x="0" y="267891"/>
                  </a:lnTo>
                  <a:close/>
                </a:path>
              </a:pathLst>
            </a:custGeom>
            <a:blipFill>
              <a:blip r:embed="rId5"/>
              <a:stretch>
                <a:fillRect l="-4406" t="-20000" r="-1355" b="-93333"/>
              </a:stretch>
            </a:blipFill>
          </p:spPr>
          <p:txBody>
            <a:bodyPr/>
            <a:lstStyle/>
            <a:p>
              <a:endParaRPr lang="en-US"/>
            </a:p>
          </p:txBody>
        </p:sp>
      </p:grpSp>
      <p:grpSp>
        <p:nvGrpSpPr>
          <p:cNvPr id="11" name="Group 11"/>
          <p:cNvGrpSpPr/>
          <p:nvPr/>
        </p:nvGrpSpPr>
        <p:grpSpPr>
          <a:xfrm>
            <a:off x="9808535" y="2571750"/>
            <a:ext cx="2830919" cy="241102"/>
            <a:chOff x="0" y="0"/>
            <a:chExt cx="3774558" cy="321469"/>
          </a:xfrm>
        </p:grpSpPr>
        <p:sp>
          <p:nvSpPr>
            <p:cNvPr id="12" name="Freeform 12"/>
            <p:cNvSpPr/>
            <p:nvPr/>
          </p:nvSpPr>
          <p:spPr>
            <a:xfrm>
              <a:off x="0" y="0"/>
              <a:ext cx="3774558" cy="321469"/>
            </a:xfrm>
            <a:custGeom>
              <a:avLst/>
              <a:gdLst/>
              <a:ahLst/>
              <a:cxnLst/>
              <a:rect l="l" t="t" r="r" b="b"/>
              <a:pathLst>
                <a:path w="3774558" h="321469">
                  <a:moveTo>
                    <a:pt x="0" y="0"/>
                  </a:moveTo>
                  <a:lnTo>
                    <a:pt x="3774558" y="0"/>
                  </a:lnTo>
                  <a:lnTo>
                    <a:pt x="3774558" y="321469"/>
                  </a:lnTo>
                  <a:lnTo>
                    <a:pt x="0" y="321469"/>
                  </a:lnTo>
                  <a:close/>
                </a:path>
              </a:pathLst>
            </a:custGeom>
            <a:blipFill>
              <a:blip r:embed="rId6"/>
              <a:stretch>
                <a:fillRect l="-469" b="-77777"/>
              </a:stretch>
            </a:blipFill>
          </p:spPr>
          <p:txBody>
            <a:bodyPr/>
            <a:lstStyle/>
            <a:p>
              <a:endParaRPr lang="en-US"/>
            </a:p>
          </p:txBody>
        </p:sp>
      </p:grpSp>
      <p:grpSp>
        <p:nvGrpSpPr>
          <p:cNvPr id="13" name="Group 13"/>
          <p:cNvGrpSpPr/>
          <p:nvPr/>
        </p:nvGrpSpPr>
        <p:grpSpPr>
          <a:xfrm>
            <a:off x="13583093" y="2611934"/>
            <a:ext cx="3894174" cy="200918"/>
            <a:chOff x="0" y="0"/>
            <a:chExt cx="5192233" cy="267891"/>
          </a:xfrm>
        </p:grpSpPr>
        <p:sp>
          <p:nvSpPr>
            <p:cNvPr id="14" name="Freeform 14"/>
            <p:cNvSpPr/>
            <p:nvPr/>
          </p:nvSpPr>
          <p:spPr>
            <a:xfrm>
              <a:off x="0" y="0"/>
              <a:ext cx="5192233" cy="267891"/>
            </a:xfrm>
            <a:custGeom>
              <a:avLst/>
              <a:gdLst/>
              <a:ahLst/>
              <a:cxnLst/>
              <a:rect l="l" t="t" r="r" b="b"/>
              <a:pathLst>
                <a:path w="5192233" h="267891">
                  <a:moveTo>
                    <a:pt x="0" y="0"/>
                  </a:moveTo>
                  <a:lnTo>
                    <a:pt x="5192233" y="0"/>
                  </a:lnTo>
                  <a:lnTo>
                    <a:pt x="5192233" y="267891"/>
                  </a:lnTo>
                  <a:lnTo>
                    <a:pt x="0" y="267891"/>
                  </a:lnTo>
                  <a:close/>
                </a:path>
              </a:pathLst>
            </a:custGeom>
            <a:blipFill>
              <a:blip r:embed="rId7"/>
              <a:stretch>
                <a:fillRect l="-2389" t="-20000" r="-4095" b="-93333"/>
              </a:stretch>
            </a:blipFill>
          </p:spPr>
          <p:txBody>
            <a:bodyPr/>
            <a:lstStyle/>
            <a:p>
              <a:endParaRPr lang="en-US"/>
            </a:p>
          </p:txBody>
        </p:sp>
      </p:grpSp>
      <p:grpSp>
        <p:nvGrpSpPr>
          <p:cNvPr id="15" name="Group 15"/>
          <p:cNvGrpSpPr/>
          <p:nvPr/>
        </p:nvGrpSpPr>
        <p:grpSpPr>
          <a:xfrm>
            <a:off x="1196163" y="3616523"/>
            <a:ext cx="4904267" cy="4929188"/>
            <a:chOff x="0" y="0"/>
            <a:chExt cx="6539023" cy="6572250"/>
          </a:xfrm>
        </p:grpSpPr>
        <p:sp>
          <p:nvSpPr>
            <p:cNvPr id="16" name="Freeform 16"/>
            <p:cNvSpPr/>
            <p:nvPr/>
          </p:nvSpPr>
          <p:spPr>
            <a:xfrm>
              <a:off x="0" y="0"/>
              <a:ext cx="6539023" cy="6572250"/>
            </a:xfrm>
            <a:custGeom>
              <a:avLst/>
              <a:gdLst/>
              <a:ahLst/>
              <a:cxnLst/>
              <a:rect l="l" t="t" r="r" b="b"/>
              <a:pathLst>
                <a:path w="6539023" h="6572250">
                  <a:moveTo>
                    <a:pt x="0" y="0"/>
                  </a:moveTo>
                  <a:lnTo>
                    <a:pt x="6539023" y="0"/>
                  </a:lnTo>
                  <a:lnTo>
                    <a:pt x="6539023" y="6572250"/>
                  </a:lnTo>
                  <a:lnTo>
                    <a:pt x="0" y="6572250"/>
                  </a:lnTo>
                  <a:close/>
                </a:path>
              </a:pathLst>
            </a:custGeom>
            <a:blipFill>
              <a:blip r:embed="rId8"/>
              <a:stretch>
                <a:fillRect l="-2439" t="-3804" b="-543"/>
              </a:stretch>
            </a:blipFill>
          </p:spPr>
          <p:txBody>
            <a:bodyPr/>
            <a:lstStyle/>
            <a:p>
              <a:endParaRPr lang="en-US"/>
            </a:p>
          </p:txBody>
        </p:sp>
      </p:grpSp>
      <p:sp>
        <p:nvSpPr>
          <p:cNvPr id="17" name="TextBox 17"/>
          <p:cNvSpPr txBox="1"/>
          <p:nvPr/>
        </p:nvSpPr>
        <p:spPr>
          <a:xfrm>
            <a:off x="1536192" y="3917781"/>
            <a:ext cx="3913632" cy="352425"/>
          </a:xfrm>
          <a:prstGeom prst="rect">
            <a:avLst/>
          </a:prstGeom>
        </p:spPr>
        <p:txBody>
          <a:bodyPr lIns="0" tIns="0" rIns="0" bIns="0" rtlCol="0" anchor="t">
            <a:spAutoFit/>
          </a:bodyPr>
          <a:lstStyle/>
          <a:p>
            <a:pPr algn="l">
              <a:lnSpc>
                <a:spcPts val="2888"/>
              </a:lnSpc>
            </a:pPr>
            <a:r>
              <a:rPr lang="en-US" sz="2406" b="1">
                <a:solidFill>
                  <a:srgbClr val="21353A"/>
                </a:solidFill>
                <a:latin typeface="Roboto Mono Medium"/>
                <a:ea typeface="Roboto Mono Medium"/>
                <a:cs typeface="Roboto Mono Medium"/>
                <a:sym typeface="Roboto Mono Medium"/>
              </a:rPr>
              <a:t>Demand Level (lambda)</a:t>
            </a:r>
          </a:p>
        </p:txBody>
      </p:sp>
      <p:sp>
        <p:nvSpPr>
          <p:cNvPr id="18" name="TextBox 18"/>
          <p:cNvSpPr txBox="1"/>
          <p:nvPr/>
        </p:nvSpPr>
        <p:spPr>
          <a:xfrm>
            <a:off x="1536192" y="4356812"/>
            <a:ext cx="2670048" cy="304800"/>
          </a:xfrm>
          <a:prstGeom prst="rect">
            <a:avLst/>
          </a:prstGeom>
        </p:spPr>
        <p:txBody>
          <a:bodyPr lIns="0" tIns="0" rIns="0" bIns="0" rtlCol="0" anchor="t">
            <a:spAutoFit/>
          </a:bodyPr>
          <a:lstStyle/>
          <a:p>
            <a:pPr algn="l">
              <a:lnSpc>
                <a:spcPts val="2464"/>
              </a:lnSpc>
            </a:pPr>
            <a:r>
              <a:rPr lang="en-US" sz="2053" b="1">
                <a:solidFill>
                  <a:srgbClr val="21353A"/>
                </a:solidFill>
                <a:latin typeface="Roboto Mono Medium"/>
                <a:ea typeface="Roboto Mono Medium"/>
                <a:cs typeface="Roboto Mono Medium"/>
                <a:sym typeface="Roboto Mono Medium"/>
              </a:rPr>
              <a:t>Module: demand.py</a:t>
            </a:r>
          </a:p>
        </p:txBody>
      </p:sp>
      <p:sp>
        <p:nvSpPr>
          <p:cNvPr id="19" name="TextBox 19"/>
          <p:cNvSpPr txBox="1"/>
          <p:nvPr/>
        </p:nvSpPr>
        <p:spPr>
          <a:xfrm>
            <a:off x="1536192" y="5103273"/>
            <a:ext cx="3950208" cy="375324"/>
          </a:xfrm>
          <a:prstGeom prst="rect">
            <a:avLst/>
          </a:prstGeom>
        </p:spPr>
        <p:txBody>
          <a:bodyPr lIns="0" tIns="0" rIns="0" bIns="0" rtlCol="0" anchor="t">
            <a:spAutoFit/>
          </a:bodyPr>
          <a:lstStyle/>
          <a:p>
            <a:pPr algn="l">
              <a:lnSpc>
                <a:spcPts val="1556"/>
              </a:lnSpc>
            </a:pPr>
            <a:r>
              <a:rPr lang="en-US" sz="1196" b="1">
                <a:solidFill>
                  <a:srgbClr val="21353A"/>
                </a:solidFill>
                <a:latin typeface="Roboto Mono Medium"/>
                <a:ea typeface="Roboto Mono Medium"/>
                <a:cs typeface="Roboto Mono Medium"/>
                <a:sym typeface="Roboto Mono Medium"/>
              </a:rPr>
              <a:t>A flat baseline warped by multiplier lenses. Defines total expected room-nights.</a:t>
            </a:r>
          </a:p>
        </p:txBody>
      </p:sp>
      <p:grpSp>
        <p:nvGrpSpPr>
          <p:cNvPr id="20" name="Group 20"/>
          <p:cNvGrpSpPr/>
          <p:nvPr/>
        </p:nvGrpSpPr>
        <p:grpSpPr>
          <a:xfrm>
            <a:off x="1648047" y="5947172"/>
            <a:ext cx="4146698" cy="2196703"/>
            <a:chOff x="0" y="0"/>
            <a:chExt cx="5528930" cy="2928938"/>
          </a:xfrm>
        </p:grpSpPr>
        <p:sp>
          <p:nvSpPr>
            <p:cNvPr id="21" name="Freeform 21"/>
            <p:cNvSpPr/>
            <p:nvPr/>
          </p:nvSpPr>
          <p:spPr>
            <a:xfrm>
              <a:off x="0" y="0"/>
              <a:ext cx="5528930" cy="2928938"/>
            </a:xfrm>
            <a:custGeom>
              <a:avLst/>
              <a:gdLst/>
              <a:ahLst/>
              <a:cxnLst/>
              <a:rect l="l" t="t" r="r" b="b"/>
              <a:pathLst>
                <a:path w="5528930" h="2928938">
                  <a:moveTo>
                    <a:pt x="0" y="0"/>
                  </a:moveTo>
                  <a:lnTo>
                    <a:pt x="5528930" y="0"/>
                  </a:lnTo>
                  <a:lnTo>
                    <a:pt x="5528930" y="2928938"/>
                  </a:lnTo>
                  <a:lnTo>
                    <a:pt x="0" y="2928938"/>
                  </a:lnTo>
                  <a:close/>
                </a:path>
              </a:pathLst>
            </a:custGeom>
            <a:blipFill>
              <a:blip r:embed="rId9"/>
              <a:stretch>
                <a:fillRect l="-3205" t="-7317" r="-2243"/>
              </a:stretch>
            </a:blipFill>
          </p:spPr>
          <p:txBody>
            <a:bodyPr/>
            <a:lstStyle/>
            <a:p>
              <a:endParaRPr lang="en-US"/>
            </a:p>
          </p:txBody>
        </p:sp>
      </p:grpSp>
      <p:grpSp>
        <p:nvGrpSpPr>
          <p:cNvPr id="22" name="Group 22"/>
          <p:cNvGrpSpPr/>
          <p:nvPr/>
        </p:nvGrpSpPr>
        <p:grpSpPr>
          <a:xfrm>
            <a:off x="6671930" y="3616523"/>
            <a:ext cx="4944140" cy="4929188"/>
            <a:chOff x="0" y="0"/>
            <a:chExt cx="6592186" cy="6572250"/>
          </a:xfrm>
        </p:grpSpPr>
        <p:sp>
          <p:nvSpPr>
            <p:cNvPr id="23" name="Freeform 23"/>
            <p:cNvSpPr/>
            <p:nvPr/>
          </p:nvSpPr>
          <p:spPr>
            <a:xfrm>
              <a:off x="0" y="0"/>
              <a:ext cx="6592186" cy="6572250"/>
            </a:xfrm>
            <a:custGeom>
              <a:avLst/>
              <a:gdLst/>
              <a:ahLst/>
              <a:cxnLst/>
              <a:rect l="l" t="t" r="r" b="b"/>
              <a:pathLst>
                <a:path w="6592186" h="6572250">
                  <a:moveTo>
                    <a:pt x="0" y="0"/>
                  </a:moveTo>
                  <a:lnTo>
                    <a:pt x="6592186" y="0"/>
                  </a:lnTo>
                  <a:lnTo>
                    <a:pt x="6592186" y="6572250"/>
                  </a:lnTo>
                  <a:lnTo>
                    <a:pt x="0" y="6572250"/>
                  </a:lnTo>
                  <a:close/>
                </a:path>
              </a:pathLst>
            </a:custGeom>
            <a:blipFill>
              <a:blip r:embed="rId10"/>
              <a:stretch>
                <a:fillRect l="-2956" t="-3804" r="-2956" b="-543"/>
              </a:stretch>
            </a:blipFill>
          </p:spPr>
          <p:txBody>
            <a:bodyPr/>
            <a:lstStyle/>
            <a:p>
              <a:endParaRPr lang="en-US"/>
            </a:p>
          </p:txBody>
        </p:sp>
      </p:grpSp>
      <p:sp>
        <p:nvSpPr>
          <p:cNvPr id="24" name="TextBox 24"/>
          <p:cNvSpPr txBox="1"/>
          <p:nvPr/>
        </p:nvSpPr>
        <p:spPr>
          <a:xfrm>
            <a:off x="7022592" y="3917781"/>
            <a:ext cx="2596896" cy="352425"/>
          </a:xfrm>
          <a:prstGeom prst="rect">
            <a:avLst/>
          </a:prstGeom>
        </p:spPr>
        <p:txBody>
          <a:bodyPr lIns="0" tIns="0" rIns="0" bIns="0" rtlCol="0" anchor="t">
            <a:spAutoFit/>
          </a:bodyPr>
          <a:lstStyle/>
          <a:p>
            <a:pPr algn="l">
              <a:lnSpc>
                <a:spcPts val="2888"/>
              </a:lnSpc>
            </a:pPr>
            <a:r>
              <a:rPr lang="en-US" sz="2406" b="1">
                <a:solidFill>
                  <a:srgbClr val="21353A"/>
                </a:solidFill>
                <a:latin typeface="Roboto Mono Medium"/>
                <a:ea typeface="Roboto Mono Medium"/>
                <a:cs typeface="Roboto Mono Medium"/>
                <a:sym typeface="Roboto Mono Medium"/>
              </a:rPr>
              <a:t>Pace Shape (s)</a:t>
            </a:r>
          </a:p>
        </p:txBody>
      </p:sp>
      <p:sp>
        <p:nvSpPr>
          <p:cNvPr id="25" name="TextBox 25"/>
          <p:cNvSpPr txBox="1"/>
          <p:nvPr/>
        </p:nvSpPr>
        <p:spPr>
          <a:xfrm>
            <a:off x="7022592" y="4356812"/>
            <a:ext cx="2359152" cy="304800"/>
          </a:xfrm>
          <a:prstGeom prst="rect">
            <a:avLst/>
          </a:prstGeom>
        </p:spPr>
        <p:txBody>
          <a:bodyPr lIns="0" tIns="0" rIns="0" bIns="0" rtlCol="0" anchor="t">
            <a:spAutoFit/>
          </a:bodyPr>
          <a:lstStyle/>
          <a:p>
            <a:pPr algn="l">
              <a:lnSpc>
                <a:spcPts val="2464"/>
              </a:lnSpc>
            </a:pPr>
            <a:r>
              <a:rPr lang="en-US" sz="2053" b="1">
                <a:solidFill>
                  <a:srgbClr val="21353A"/>
                </a:solidFill>
                <a:latin typeface="Roboto Mono Medium"/>
                <a:ea typeface="Roboto Mono Medium"/>
                <a:cs typeface="Roboto Mono Medium"/>
                <a:sym typeface="Roboto Mono Medium"/>
              </a:rPr>
              <a:t>Module: pace.py</a:t>
            </a:r>
          </a:p>
        </p:txBody>
      </p:sp>
      <p:sp>
        <p:nvSpPr>
          <p:cNvPr id="26" name="TextBox 26"/>
          <p:cNvSpPr txBox="1"/>
          <p:nvPr/>
        </p:nvSpPr>
        <p:spPr>
          <a:xfrm>
            <a:off x="7022592" y="4803903"/>
            <a:ext cx="4242816" cy="937230"/>
          </a:xfrm>
          <a:prstGeom prst="rect">
            <a:avLst/>
          </a:prstGeom>
        </p:spPr>
        <p:txBody>
          <a:bodyPr lIns="0" tIns="0" rIns="0" bIns="0" rtlCol="0" anchor="t">
            <a:spAutoFit/>
          </a:bodyPr>
          <a:lstStyle/>
          <a:p>
            <a:pPr algn="l">
              <a:lnSpc>
                <a:spcPts val="2538"/>
              </a:lnSpc>
            </a:pPr>
            <a:r>
              <a:rPr lang="en-US" sz="1952" b="1">
                <a:solidFill>
                  <a:srgbClr val="21353A"/>
                </a:solidFill>
                <a:latin typeface="Roboto Mono Medium"/>
                <a:ea typeface="Roboto Mono Medium"/>
                <a:cs typeface="Roboto Mono Medium"/>
                <a:sym typeface="Roboto Mono Medium"/>
              </a:rPr>
              <a:t>A stylized probability curve summing to 1. The systematic booking timeline.</a:t>
            </a:r>
          </a:p>
        </p:txBody>
      </p:sp>
      <p:grpSp>
        <p:nvGrpSpPr>
          <p:cNvPr id="27" name="Group 27"/>
          <p:cNvGrpSpPr/>
          <p:nvPr/>
        </p:nvGrpSpPr>
        <p:grpSpPr>
          <a:xfrm>
            <a:off x="7123814" y="5947172"/>
            <a:ext cx="4199860" cy="2196703"/>
            <a:chOff x="0" y="0"/>
            <a:chExt cx="5599814" cy="2928938"/>
          </a:xfrm>
        </p:grpSpPr>
        <p:sp>
          <p:nvSpPr>
            <p:cNvPr id="28" name="Freeform 28"/>
            <p:cNvSpPr/>
            <p:nvPr/>
          </p:nvSpPr>
          <p:spPr>
            <a:xfrm>
              <a:off x="0" y="0"/>
              <a:ext cx="5599814" cy="2928938"/>
            </a:xfrm>
            <a:custGeom>
              <a:avLst/>
              <a:gdLst/>
              <a:ahLst/>
              <a:cxnLst/>
              <a:rect l="l" t="t" r="r" b="b"/>
              <a:pathLst>
                <a:path w="5599814" h="2928938">
                  <a:moveTo>
                    <a:pt x="0" y="0"/>
                  </a:moveTo>
                  <a:lnTo>
                    <a:pt x="5599814" y="0"/>
                  </a:lnTo>
                  <a:lnTo>
                    <a:pt x="5599814" y="2928938"/>
                  </a:lnTo>
                  <a:lnTo>
                    <a:pt x="0" y="2928938"/>
                  </a:lnTo>
                  <a:close/>
                </a:path>
              </a:pathLst>
            </a:custGeom>
            <a:blipFill>
              <a:blip r:embed="rId11"/>
              <a:stretch>
                <a:fillRect l="-3797" t="-7317"/>
              </a:stretch>
            </a:blipFill>
          </p:spPr>
          <p:txBody>
            <a:bodyPr/>
            <a:lstStyle/>
            <a:p>
              <a:endParaRPr lang="en-US"/>
            </a:p>
          </p:txBody>
        </p:sp>
      </p:grpSp>
      <p:grpSp>
        <p:nvGrpSpPr>
          <p:cNvPr id="29" name="Group 29"/>
          <p:cNvGrpSpPr/>
          <p:nvPr/>
        </p:nvGrpSpPr>
        <p:grpSpPr>
          <a:xfrm>
            <a:off x="8678826" y="6858000"/>
            <a:ext cx="691116" cy="562570"/>
            <a:chOff x="0" y="0"/>
            <a:chExt cx="921488" cy="750094"/>
          </a:xfrm>
        </p:grpSpPr>
        <p:sp>
          <p:nvSpPr>
            <p:cNvPr id="30" name="Freeform 30"/>
            <p:cNvSpPr/>
            <p:nvPr/>
          </p:nvSpPr>
          <p:spPr>
            <a:xfrm>
              <a:off x="0" y="0"/>
              <a:ext cx="921488" cy="750094"/>
            </a:xfrm>
            <a:custGeom>
              <a:avLst/>
              <a:gdLst/>
              <a:ahLst/>
              <a:cxnLst/>
              <a:rect l="l" t="t" r="r" b="b"/>
              <a:pathLst>
                <a:path w="921488" h="750094">
                  <a:moveTo>
                    <a:pt x="0" y="0"/>
                  </a:moveTo>
                  <a:lnTo>
                    <a:pt x="921488" y="0"/>
                  </a:lnTo>
                  <a:lnTo>
                    <a:pt x="921488" y="750094"/>
                  </a:lnTo>
                  <a:lnTo>
                    <a:pt x="0" y="750094"/>
                  </a:lnTo>
                  <a:close/>
                </a:path>
              </a:pathLst>
            </a:custGeom>
            <a:blipFill>
              <a:blip r:embed="rId12"/>
              <a:stretch>
                <a:fillRect l="-28846" b="-14285"/>
              </a:stretch>
            </a:blipFill>
          </p:spPr>
          <p:txBody>
            <a:bodyPr/>
            <a:lstStyle/>
            <a:p>
              <a:endParaRPr lang="en-US"/>
            </a:p>
          </p:txBody>
        </p:sp>
      </p:grpSp>
      <p:grpSp>
        <p:nvGrpSpPr>
          <p:cNvPr id="31" name="Group 31"/>
          <p:cNvGrpSpPr/>
          <p:nvPr/>
        </p:nvGrpSpPr>
        <p:grpSpPr>
          <a:xfrm>
            <a:off x="12160988" y="3616523"/>
            <a:ext cx="4930849" cy="4929188"/>
            <a:chOff x="0" y="0"/>
            <a:chExt cx="6574465" cy="6572250"/>
          </a:xfrm>
        </p:grpSpPr>
        <p:sp>
          <p:nvSpPr>
            <p:cNvPr id="32" name="Freeform 32"/>
            <p:cNvSpPr/>
            <p:nvPr/>
          </p:nvSpPr>
          <p:spPr>
            <a:xfrm>
              <a:off x="0" y="0"/>
              <a:ext cx="6574465" cy="6572250"/>
            </a:xfrm>
            <a:custGeom>
              <a:avLst/>
              <a:gdLst/>
              <a:ahLst/>
              <a:cxnLst/>
              <a:rect l="l" t="t" r="r" b="b"/>
              <a:pathLst>
                <a:path w="6574465" h="6572250">
                  <a:moveTo>
                    <a:pt x="0" y="0"/>
                  </a:moveTo>
                  <a:lnTo>
                    <a:pt x="6574465" y="0"/>
                  </a:lnTo>
                  <a:lnTo>
                    <a:pt x="6574465" y="6572250"/>
                  </a:lnTo>
                  <a:lnTo>
                    <a:pt x="0" y="6572250"/>
                  </a:lnTo>
                  <a:close/>
                </a:path>
              </a:pathLst>
            </a:custGeom>
            <a:blipFill>
              <a:blip r:embed="rId13"/>
              <a:stretch>
                <a:fillRect l="-4043" t="-3804" r="-2425" b="-543"/>
              </a:stretch>
            </a:blipFill>
          </p:spPr>
          <p:txBody>
            <a:bodyPr/>
            <a:lstStyle/>
            <a:p>
              <a:endParaRPr lang="en-US"/>
            </a:p>
          </p:txBody>
        </p:sp>
      </p:grpSp>
      <p:sp>
        <p:nvSpPr>
          <p:cNvPr id="33" name="TextBox 33"/>
          <p:cNvSpPr txBox="1"/>
          <p:nvPr/>
        </p:nvSpPr>
        <p:spPr>
          <a:xfrm>
            <a:off x="12490704" y="3901559"/>
            <a:ext cx="3200400" cy="371475"/>
          </a:xfrm>
          <a:prstGeom prst="rect">
            <a:avLst/>
          </a:prstGeom>
        </p:spPr>
        <p:txBody>
          <a:bodyPr lIns="0" tIns="0" rIns="0" bIns="0" rtlCol="0" anchor="t">
            <a:spAutoFit/>
          </a:bodyPr>
          <a:lstStyle/>
          <a:p>
            <a:pPr algn="l">
              <a:lnSpc>
                <a:spcPts val="2951"/>
              </a:lnSpc>
            </a:pPr>
            <a:r>
              <a:rPr lang="en-US" sz="2459" b="1">
                <a:solidFill>
                  <a:srgbClr val="21353A"/>
                </a:solidFill>
                <a:latin typeface="Roboto Mono Medium"/>
                <a:ea typeface="Roboto Mono Medium"/>
                <a:cs typeface="Roboto Mono Medium"/>
                <a:sym typeface="Roboto Mono Medium"/>
              </a:rPr>
              <a:t>Pace Shock (zeta)</a:t>
            </a:r>
          </a:p>
        </p:txBody>
      </p:sp>
      <p:sp>
        <p:nvSpPr>
          <p:cNvPr id="34" name="TextBox 34"/>
          <p:cNvSpPr txBox="1"/>
          <p:nvPr/>
        </p:nvSpPr>
        <p:spPr>
          <a:xfrm>
            <a:off x="12490704" y="4356812"/>
            <a:ext cx="2359152" cy="304800"/>
          </a:xfrm>
          <a:prstGeom prst="rect">
            <a:avLst/>
          </a:prstGeom>
        </p:spPr>
        <p:txBody>
          <a:bodyPr lIns="0" tIns="0" rIns="0" bIns="0" rtlCol="0" anchor="t">
            <a:spAutoFit/>
          </a:bodyPr>
          <a:lstStyle/>
          <a:p>
            <a:pPr algn="l">
              <a:lnSpc>
                <a:spcPts val="2464"/>
              </a:lnSpc>
            </a:pPr>
            <a:r>
              <a:rPr lang="en-US" sz="2053" b="1">
                <a:solidFill>
                  <a:srgbClr val="21353A"/>
                </a:solidFill>
                <a:latin typeface="Roboto Mono Medium"/>
                <a:ea typeface="Roboto Mono Medium"/>
                <a:cs typeface="Roboto Mono Medium"/>
                <a:sym typeface="Roboto Mono Medium"/>
              </a:rPr>
              <a:t>Module: pace.py</a:t>
            </a:r>
          </a:p>
        </p:txBody>
      </p:sp>
      <p:sp>
        <p:nvSpPr>
          <p:cNvPr id="35" name="TextBox 35"/>
          <p:cNvSpPr txBox="1"/>
          <p:nvPr/>
        </p:nvSpPr>
        <p:spPr>
          <a:xfrm>
            <a:off x="12490704" y="4803903"/>
            <a:ext cx="4242816" cy="937230"/>
          </a:xfrm>
          <a:prstGeom prst="rect">
            <a:avLst/>
          </a:prstGeom>
        </p:spPr>
        <p:txBody>
          <a:bodyPr lIns="0" tIns="0" rIns="0" bIns="0" rtlCol="0" anchor="t">
            <a:spAutoFit/>
          </a:bodyPr>
          <a:lstStyle/>
          <a:p>
            <a:pPr algn="l">
              <a:lnSpc>
                <a:spcPts val="2538"/>
              </a:lnSpc>
            </a:pPr>
            <a:r>
              <a:rPr lang="en-US" sz="1952" b="1">
                <a:solidFill>
                  <a:srgbClr val="21353A"/>
                </a:solidFill>
                <a:latin typeface="Roboto Mono Medium"/>
                <a:ea typeface="Roboto Mono Medium"/>
                <a:cs typeface="Roboto Mono Medium"/>
                <a:sym typeface="Roboto Mono Medium"/>
              </a:rPr>
              <a:t>A jagged noise wave with mean 1. The specific date's deviation.</a:t>
            </a:r>
          </a:p>
        </p:txBody>
      </p:sp>
      <p:grpSp>
        <p:nvGrpSpPr>
          <p:cNvPr id="36" name="Group 36"/>
          <p:cNvGrpSpPr/>
          <p:nvPr/>
        </p:nvGrpSpPr>
        <p:grpSpPr>
          <a:xfrm>
            <a:off x="12612872" y="5933777"/>
            <a:ext cx="4159988" cy="2210098"/>
            <a:chOff x="0" y="0"/>
            <a:chExt cx="5546651" cy="2946797"/>
          </a:xfrm>
        </p:grpSpPr>
        <p:sp>
          <p:nvSpPr>
            <p:cNvPr id="37" name="Freeform 37"/>
            <p:cNvSpPr/>
            <p:nvPr/>
          </p:nvSpPr>
          <p:spPr>
            <a:xfrm>
              <a:off x="0" y="0"/>
              <a:ext cx="5546651" cy="2946797"/>
            </a:xfrm>
            <a:custGeom>
              <a:avLst/>
              <a:gdLst/>
              <a:ahLst/>
              <a:cxnLst/>
              <a:rect l="l" t="t" r="r" b="b"/>
              <a:pathLst>
                <a:path w="5546651" h="2946797">
                  <a:moveTo>
                    <a:pt x="0" y="0"/>
                  </a:moveTo>
                  <a:lnTo>
                    <a:pt x="5546651" y="0"/>
                  </a:lnTo>
                  <a:lnTo>
                    <a:pt x="5546651" y="2946797"/>
                  </a:lnTo>
                  <a:lnTo>
                    <a:pt x="0" y="2946797"/>
                  </a:lnTo>
                  <a:close/>
                </a:path>
              </a:pathLst>
            </a:custGeom>
            <a:blipFill>
              <a:blip r:embed="rId14"/>
              <a:stretch>
                <a:fillRect l="-5111" t="-6666"/>
              </a:stretch>
            </a:blipFill>
          </p:spPr>
          <p:txBody>
            <a:bodyPr/>
            <a:lstStyle/>
            <a:p>
              <a:endParaRPr lang="en-US"/>
            </a:p>
          </p:txBody>
        </p:sp>
      </p:grpSp>
      <p:grpSp>
        <p:nvGrpSpPr>
          <p:cNvPr id="38" name="Group 38"/>
          <p:cNvGrpSpPr/>
          <p:nvPr/>
        </p:nvGrpSpPr>
        <p:grpSpPr>
          <a:xfrm>
            <a:off x="877186" y="8371582"/>
            <a:ext cx="8519337" cy="1071562"/>
            <a:chOff x="0" y="0"/>
            <a:chExt cx="11359116" cy="1428750"/>
          </a:xfrm>
        </p:grpSpPr>
        <p:sp>
          <p:nvSpPr>
            <p:cNvPr id="39" name="Freeform 39"/>
            <p:cNvSpPr/>
            <p:nvPr/>
          </p:nvSpPr>
          <p:spPr>
            <a:xfrm>
              <a:off x="0" y="0"/>
              <a:ext cx="11359116" cy="1428750"/>
            </a:xfrm>
            <a:custGeom>
              <a:avLst/>
              <a:gdLst/>
              <a:ahLst/>
              <a:cxnLst/>
              <a:rect l="l" t="t" r="r" b="b"/>
              <a:pathLst>
                <a:path w="11359116" h="1428750">
                  <a:moveTo>
                    <a:pt x="0" y="0"/>
                  </a:moveTo>
                  <a:lnTo>
                    <a:pt x="11359116" y="0"/>
                  </a:lnTo>
                  <a:lnTo>
                    <a:pt x="11359116" y="1428750"/>
                  </a:lnTo>
                  <a:lnTo>
                    <a:pt x="0" y="1428750"/>
                  </a:lnTo>
                  <a:close/>
                </a:path>
              </a:pathLst>
            </a:custGeom>
            <a:blipFill>
              <a:blip r:embed="rId15"/>
              <a:stretch>
                <a:fillRect l="-156" t="-1250" r="-2184" b="-18750"/>
              </a:stretch>
            </a:blipFill>
          </p:spPr>
          <p:txBody>
            <a:bodyPr/>
            <a:lstStyle/>
            <a:p>
              <a:endParaRPr lang="en-US"/>
            </a:p>
          </p:txBody>
        </p:sp>
      </p:grpSp>
      <p:grpSp>
        <p:nvGrpSpPr>
          <p:cNvPr id="40" name="Group 40"/>
          <p:cNvGrpSpPr/>
          <p:nvPr/>
        </p:nvGrpSpPr>
        <p:grpSpPr>
          <a:xfrm>
            <a:off x="9210453" y="8371582"/>
            <a:ext cx="8200360" cy="629543"/>
            <a:chOff x="0" y="0"/>
            <a:chExt cx="10933814" cy="839391"/>
          </a:xfrm>
        </p:grpSpPr>
        <p:sp>
          <p:nvSpPr>
            <p:cNvPr id="41" name="Freeform 41"/>
            <p:cNvSpPr/>
            <p:nvPr/>
          </p:nvSpPr>
          <p:spPr>
            <a:xfrm>
              <a:off x="0" y="0"/>
              <a:ext cx="10933814" cy="839391"/>
            </a:xfrm>
            <a:custGeom>
              <a:avLst/>
              <a:gdLst/>
              <a:ahLst/>
              <a:cxnLst/>
              <a:rect l="l" t="t" r="r" b="b"/>
              <a:pathLst>
                <a:path w="10933814" h="839391">
                  <a:moveTo>
                    <a:pt x="0" y="0"/>
                  </a:moveTo>
                  <a:lnTo>
                    <a:pt x="10933814" y="0"/>
                  </a:lnTo>
                  <a:lnTo>
                    <a:pt x="10933814" y="839391"/>
                  </a:lnTo>
                  <a:lnTo>
                    <a:pt x="0" y="839391"/>
                  </a:lnTo>
                  <a:close/>
                </a:path>
              </a:pathLst>
            </a:custGeom>
            <a:blipFill>
              <a:blip r:embed="rId16"/>
              <a:stretch>
                <a:fillRect l="-810" t="-2127" r="-162"/>
              </a:stretch>
            </a:blipFill>
          </p:spPr>
          <p:txBody>
            <a:bodyPr/>
            <a:lstStyle/>
            <a:p>
              <a:endParaRPr lang="en-US"/>
            </a:p>
          </p:txBody>
        </p:sp>
      </p:grpSp>
      <p:grpSp>
        <p:nvGrpSpPr>
          <p:cNvPr id="42" name="Group 42"/>
          <p:cNvGrpSpPr/>
          <p:nvPr/>
        </p:nvGrpSpPr>
        <p:grpSpPr>
          <a:xfrm>
            <a:off x="3402419" y="9429750"/>
            <a:ext cx="11483163" cy="763488"/>
            <a:chOff x="0" y="0"/>
            <a:chExt cx="15310884" cy="1017984"/>
          </a:xfrm>
        </p:grpSpPr>
        <p:sp>
          <p:nvSpPr>
            <p:cNvPr id="43" name="Freeform 43"/>
            <p:cNvSpPr/>
            <p:nvPr/>
          </p:nvSpPr>
          <p:spPr>
            <a:xfrm>
              <a:off x="0" y="0"/>
              <a:ext cx="15310884" cy="1017984"/>
            </a:xfrm>
            <a:custGeom>
              <a:avLst/>
              <a:gdLst/>
              <a:ahLst/>
              <a:cxnLst/>
              <a:rect l="l" t="t" r="r" b="b"/>
              <a:pathLst>
                <a:path w="15310884" h="1017984">
                  <a:moveTo>
                    <a:pt x="0" y="0"/>
                  </a:moveTo>
                  <a:lnTo>
                    <a:pt x="15310884" y="0"/>
                  </a:lnTo>
                  <a:lnTo>
                    <a:pt x="15310884" y="1017984"/>
                  </a:lnTo>
                  <a:lnTo>
                    <a:pt x="0" y="1017984"/>
                  </a:lnTo>
                  <a:close/>
                </a:path>
              </a:pathLst>
            </a:custGeom>
            <a:blipFill>
              <a:blip r:embed="rId17"/>
              <a:stretch>
                <a:fillRect l="-1273" r="-1273" b="-12280"/>
              </a:stretch>
            </a:blipFill>
          </p:spPr>
          <p:txBody>
            <a:bodyPr/>
            <a:lstStyle/>
            <a:p>
              <a:endParaRPr lang="en-US"/>
            </a:p>
          </p:txBody>
        </p:sp>
      </p:grpSp>
      <p:sp>
        <p:nvSpPr>
          <p:cNvPr id="44" name="TextBox 44"/>
          <p:cNvSpPr txBox="1"/>
          <p:nvPr/>
        </p:nvSpPr>
        <p:spPr>
          <a:xfrm>
            <a:off x="3639312" y="9704016"/>
            <a:ext cx="11009376" cy="285750"/>
          </a:xfrm>
          <a:prstGeom prst="rect">
            <a:avLst/>
          </a:prstGeom>
        </p:spPr>
        <p:txBody>
          <a:bodyPr lIns="0" tIns="0" rIns="0" bIns="0" rtlCol="0" anchor="t">
            <a:spAutoFit/>
          </a:bodyPr>
          <a:lstStyle/>
          <a:p>
            <a:pPr algn="ctr">
              <a:lnSpc>
                <a:spcPts val="2256"/>
              </a:lnSpc>
            </a:pPr>
            <a:r>
              <a:rPr lang="en-US" sz="1880" b="1">
                <a:solidFill>
                  <a:srgbClr val="21353A"/>
                </a:solidFill>
                <a:latin typeface="Roboto Mono Medium"/>
                <a:ea typeface="Roboto Mono Medium"/>
                <a:cs typeface="Roboto Mono Medium"/>
                <a:sym typeface="Roboto Mono Medium"/>
              </a:rPr>
              <a:t>Output: v(k) [Booking Intensity] -&gt; flows to curve.py (Increment &amp; Capacity)</a:t>
            </a:r>
          </a:p>
        </p:txBody>
      </p:sp>
      <p:sp>
        <p:nvSpPr>
          <p:cNvPr id="45" name="TextBox 45"/>
          <p:cNvSpPr txBox="1"/>
          <p:nvPr/>
        </p:nvSpPr>
        <p:spPr>
          <a:xfrm>
            <a:off x="877824" y="2014162"/>
            <a:ext cx="16532352" cy="685800"/>
          </a:xfrm>
          <a:prstGeom prst="rect">
            <a:avLst/>
          </a:prstGeom>
        </p:spPr>
        <p:txBody>
          <a:bodyPr lIns="0" tIns="0" rIns="0" bIns="0" rtlCol="0" anchor="t">
            <a:spAutoFit/>
          </a:bodyPr>
          <a:lstStyle/>
          <a:p>
            <a:pPr algn="ctr">
              <a:lnSpc>
                <a:spcPts val="5400"/>
              </a:lnSpc>
            </a:pPr>
            <a:r>
              <a:rPr lang="en-US" sz="4500" b="1">
                <a:solidFill>
                  <a:srgbClr val="21353A"/>
                </a:solidFill>
                <a:latin typeface="Roboto Mono Medium"/>
                <a:ea typeface="Roboto Mono Medium"/>
                <a:cs typeface="Roboto Mono Medium"/>
                <a:sym typeface="Roboto Mono Medium"/>
              </a:rPr>
              <a:t>v(p,d, k) = lambda(p,d) * s(p,d,k) * zeta(p,d,k)</a:t>
            </a:r>
          </a:p>
        </p:txBody>
      </p:sp>
      <p:grpSp>
        <p:nvGrpSpPr>
          <p:cNvPr id="46" name="Group 46"/>
          <p:cNvGrpSpPr/>
          <p:nvPr/>
        </p:nvGrpSpPr>
        <p:grpSpPr>
          <a:xfrm>
            <a:off x="8891477" y="2759006"/>
            <a:ext cx="2432198" cy="977801"/>
            <a:chOff x="0" y="0"/>
            <a:chExt cx="3242930" cy="1303734"/>
          </a:xfrm>
        </p:grpSpPr>
        <p:sp>
          <p:nvSpPr>
            <p:cNvPr id="47" name="Freeform 47"/>
            <p:cNvSpPr/>
            <p:nvPr/>
          </p:nvSpPr>
          <p:spPr>
            <a:xfrm>
              <a:off x="0" y="0"/>
              <a:ext cx="3242930" cy="1303734"/>
            </a:xfrm>
            <a:custGeom>
              <a:avLst/>
              <a:gdLst/>
              <a:ahLst/>
              <a:cxnLst/>
              <a:rect l="l" t="t" r="r" b="b"/>
              <a:pathLst>
                <a:path w="3242930" h="1303734">
                  <a:moveTo>
                    <a:pt x="0" y="0"/>
                  </a:moveTo>
                  <a:lnTo>
                    <a:pt x="3242930" y="0"/>
                  </a:lnTo>
                  <a:lnTo>
                    <a:pt x="3242930" y="1303734"/>
                  </a:lnTo>
                  <a:lnTo>
                    <a:pt x="0" y="1303734"/>
                  </a:lnTo>
                  <a:close/>
                </a:path>
              </a:pathLst>
            </a:custGeom>
            <a:blipFill>
              <a:blip r:embed="rId18"/>
              <a:stretch>
                <a:fillRect l="-7650" b="-9589"/>
              </a:stretch>
            </a:blipFill>
          </p:spPr>
          <p:txBody>
            <a:bodyPr/>
            <a:lstStyle/>
            <a:p>
              <a:endParaRPr lang="en-US"/>
            </a:p>
          </p:txBody>
        </p:sp>
      </p:grpSp>
      <p:sp>
        <p:nvSpPr>
          <p:cNvPr id="48" name="TextBox 48"/>
          <p:cNvSpPr txBox="1"/>
          <p:nvPr/>
        </p:nvSpPr>
        <p:spPr>
          <a:xfrm>
            <a:off x="9217152" y="6760970"/>
            <a:ext cx="768096" cy="209550"/>
          </a:xfrm>
          <a:prstGeom prst="rect">
            <a:avLst/>
          </a:prstGeom>
        </p:spPr>
        <p:txBody>
          <a:bodyPr lIns="0" tIns="0" rIns="0" bIns="0" rtlCol="0" anchor="t">
            <a:spAutoFit/>
          </a:bodyPr>
          <a:lstStyle/>
          <a:p>
            <a:pPr algn="ctr">
              <a:lnSpc>
                <a:spcPts val="1663"/>
              </a:lnSpc>
            </a:pPr>
            <a:r>
              <a:rPr lang="en-US" sz="1386" b="1">
                <a:solidFill>
                  <a:srgbClr val="21353A"/>
                </a:solidFill>
                <a:latin typeface="Roboto Mono Medium"/>
                <a:ea typeface="Roboto Mono Medium"/>
                <a:cs typeface="Roboto Mono Medium"/>
                <a:sym typeface="Roboto Mono Medium"/>
              </a:rPr>
              <a:t>Sum = 1</a:t>
            </a:r>
          </a:p>
        </p:txBody>
      </p:sp>
      <p:sp>
        <p:nvSpPr>
          <p:cNvPr id="49" name="TextBox 49"/>
          <p:cNvSpPr txBox="1"/>
          <p:nvPr/>
        </p:nvSpPr>
        <p:spPr>
          <a:xfrm rot="-5400000">
            <a:off x="12140840" y="7018145"/>
            <a:ext cx="676656" cy="209550"/>
          </a:xfrm>
          <a:prstGeom prst="rect">
            <a:avLst/>
          </a:prstGeom>
        </p:spPr>
        <p:txBody>
          <a:bodyPr lIns="0" tIns="0" rIns="0" bIns="0" rtlCol="0" anchor="t">
            <a:spAutoFit/>
          </a:bodyPr>
          <a:lstStyle/>
          <a:p>
            <a:pPr algn="ctr">
              <a:lnSpc>
                <a:spcPts val="1663"/>
              </a:lnSpc>
            </a:pPr>
            <a:r>
              <a:rPr lang="en-US" sz="1386" b="1">
                <a:solidFill>
                  <a:srgbClr val="21353A"/>
                </a:solidFill>
                <a:latin typeface="Roboto Mono Medium"/>
                <a:ea typeface="Roboto Mono Medium"/>
                <a:cs typeface="Roboto Mono Medium"/>
                <a:sym typeface="Roboto Mono Medium"/>
              </a:rPr>
              <a:t>Mean 1</a:t>
            </a:r>
          </a:p>
        </p:txBody>
      </p:sp>
      <p:sp>
        <p:nvSpPr>
          <p:cNvPr id="50" name="TextBox 50"/>
          <p:cNvSpPr txBox="1"/>
          <p:nvPr/>
        </p:nvSpPr>
        <p:spPr>
          <a:xfrm>
            <a:off x="16989552" y="9998065"/>
            <a:ext cx="1225296" cy="161925"/>
          </a:xfrm>
          <a:prstGeom prst="rect">
            <a:avLst/>
          </a:prstGeom>
        </p:spPr>
        <p:txBody>
          <a:bodyPr lIns="0" tIns="0" rIns="0" bIns="0" rtlCol="0" anchor="t">
            <a:spAutoFit/>
          </a:bodyPr>
          <a:lstStyle/>
          <a:p>
            <a:pPr algn="r">
              <a:lnSpc>
                <a:spcPts val="1240"/>
              </a:lnSpc>
            </a:pPr>
            <a:r>
              <a:rPr lang="en-US" sz="1033" b="1">
                <a:solidFill>
                  <a:srgbClr val="21353A"/>
                </a:solidFill>
                <a:latin typeface="Roboto Mono Medium"/>
                <a:ea typeface="Roboto Mono Medium"/>
                <a:cs typeface="Roboto Mono Medium"/>
                <a:sym typeface="Roboto Mono Medium"/>
              </a:rPr>
              <a:t>Gemini Notebook</a:t>
            </a:r>
          </a:p>
        </p:txBody>
      </p:sp>
      <p:grpSp>
        <p:nvGrpSpPr>
          <p:cNvPr id="51" name="Group 51"/>
          <p:cNvGrpSpPr/>
          <p:nvPr/>
        </p:nvGrpSpPr>
        <p:grpSpPr>
          <a:xfrm>
            <a:off x="3639312" y="2786062"/>
            <a:ext cx="2432198" cy="977801"/>
            <a:chOff x="0" y="0"/>
            <a:chExt cx="3242930" cy="1303734"/>
          </a:xfrm>
        </p:grpSpPr>
        <p:sp>
          <p:nvSpPr>
            <p:cNvPr id="52" name="Freeform 52"/>
            <p:cNvSpPr/>
            <p:nvPr/>
          </p:nvSpPr>
          <p:spPr>
            <a:xfrm>
              <a:off x="0" y="0"/>
              <a:ext cx="3242930" cy="1303734"/>
            </a:xfrm>
            <a:custGeom>
              <a:avLst/>
              <a:gdLst/>
              <a:ahLst/>
              <a:cxnLst/>
              <a:rect l="l" t="t" r="r" b="b"/>
              <a:pathLst>
                <a:path w="3242930" h="1303734">
                  <a:moveTo>
                    <a:pt x="0" y="0"/>
                  </a:moveTo>
                  <a:lnTo>
                    <a:pt x="3242930" y="0"/>
                  </a:lnTo>
                  <a:lnTo>
                    <a:pt x="3242930" y="1303734"/>
                  </a:lnTo>
                  <a:lnTo>
                    <a:pt x="0" y="1303734"/>
                  </a:lnTo>
                  <a:close/>
                </a:path>
              </a:pathLst>
            </a:custGeom>
            <a:blipFill>
              <a:blip r:embed="rId18"/>
              <a:stretch>
                <a:fillRect l="-7650" b="-9589"/>
              </a:stretch>
            </a:blipFill>
          </p:spPr>
          <p:txBody>
            <a:bodyPr/>
            <a:lstStyle/>
            <a:p>
              <a:endParaRPr lang="en-US"/>
            </a:p>
          </p:txBody>
        </p:sp>
      </p:grpSp>
      <p:grpSp>
        <p:nvGrpSpPr>
          <p:cNvPr id="53" name="Group 53"/>
          <p:cNvGrpSpPr/>
          <p:nvPr/>
        </p:nvGrpSpPr>
        <p:grpSpPr>
          <a:xfrm>
            <a:off x="13670280" y="2759006"/>
            <a:ext cx="2432198" cy="977801"/>
            <a:chOff x="0" y="0"/>
            <a:chExt cx="3242930" cy="1303734"/>
          </a:xfrm>
        </p:grpSpPr>
        <p:sp>
          <p:nvSpPr>
            <p:cNvPr id="54" name="Freeform 54"/>
            <p:cNvSpPr/>
            <p:nvPr/>
          </p:nvSpPr>
          <p:spPr>
            <a:xfrm flipH="1">
              <a:off x="0" y="0"/>
              <a:ext cx="3242930" cy="1303734"/>
            </a:xfrm>
            <a:custGeom>
              <a:avLst/>
              <a:gdLst/>
              <a:ahLst/>
              <a:cxnLst/>
              <a:rect l="l" t="t" r="r" b="b"/>
              <a:pathLst>
                <a:path w="3242930" h="1303734">
                  <a:moveTo>
                    <a:pt x="3242930" y="0"/>
                  </a:moveTo>
                  <a:lnTo>
                    <a:pt x="0" y="0"/>
                  </a:lnTo>
                  <a:lnTo>
                    <a:pt x="0" y="1303734"/>
                  </a:lnTo>
                  <a:lnTo>
                    <a:pt x="3242930" y="1303734"/>
                  </a:lnTo>
                  <a:close/>
                </a:path>
              </a:pathLst>
            </a:custGeom>
            <a:blipFill>
              <a:blip r:embed="rId18"/>
              <a:stretch>
                <a:fillRect l="-7650" b="-9589"/>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txBody>
            <a:bodyPr/>
            <a:lstStyle/>
            <a:p>
              <a:endParaRPr lang="en-US"/>
            </a:p>
          </p:txBody>
        </p:sp>
      </p:grpSp>
      <p:grpSp>
        <p:nvGrpSpPr>
          <p:cNvPr id="4" name="Group 4"/>
          <p:cNvGrpSpPr/>
          <p:nvPr/>
        </p:nvGrpSpPr>
        <p:grpSpPr>
          <a:xfrm>
            <a:off x="664535" y="629543"/>
            <a:ext cx="16958930" cy="9027914"/>
            <a:chOff x="0" y="0"/>
            <a:chExt cx="22611907" cy="12037219"/>
          </a:xfrm>
        </p:grpSpPr>
        <p:sp>
          <p:nvSpPr>
            <p:cNvPr id="5" name="Freeform 5"/>
            <p:cNvSpPr/>
            <p:nvPr/>
          </p:nvSpPr>
          <p:spPr>
            <a:xfrm>
              <a:off x="0" y="0"/>
              <a:ext cx="22611907" cy="12037219"/>
            </a:xfrm>
            <a:custGeom>
              <a:avLst/>
              <a:gdLst/>
              <a:ahLst/>
              <a:cxnLst/>
              <a:rect l="l" t="t" r="r" b="b"/>
              <a:pathLst>
                <a:path w="22611907" h="12037219">
                  <a:moveTo>
                    <a:pt x="0" y="0"/>
                  </a:moveTo>
                  <a:lnTo>
                    <a:pt x="22611907" y="0"/>
                  </a:lnTo>
                  <a:lnTo>
                    <a:pt x="22611907" y="12037219"/>
                  </a:lnTo>
                  <a:lnTo>
                    <a:pt x="0" y="12037219"/>
                  </a:lnTo>
                  <a:close/>
                </a:path>
              </a:pathLst>
            </a:custGeom>
            <a:blipFill>
              <a:blip r:embed="rId3"/>
              <a:stretch>
                <a:fillRect l="-78" t="-2225" r="-78" b="-2225"/>
              </a:stretch>
            </a:blipFill>
          </p:spPr>
          <p:txBody>
            <a:bodyPr/>
            <a:lstStyle/>
            <a:p>
              <a:endParaRPr lang="en-US"/>
            </a:p>
          </p:txBody>
        </p:sp>
      </p:grpSp>
      <p:grpSp>
        <p:nvGrpSpPr>
          <p:cNvPr id="6" name="Group 6"/>
          <p:cNvGrpSpPr/>
          <p:nvPr/>
        </p:nvGrpSpPr>
        <p:grpSpPr>
          <a:xfrm>
            <a:off x="305686" y="629543"/>
            <a:ext cx="239233" cy="9027914"/>
            <a:chOff x="0" y="0"/>
            <a:chExt cx="318977" cy="12037219"/>
          </a:xfrm>
        </p:grpSpPr>
        <p:sp>
          <p:nvSpPr>
            <p:cNvPr id="7" name="Freeform 7"/>
            <p:cNvSpPr/>
            <p:nvPr/>
          </p:nvSpPr>
          <p:spPr>
            <a:xfrm>
              <a:off x="0" y="0"/>
              <a:ext cx="318977" cy="12037219"/>
            </a:xfrm>
            <a:custGeom>
              <a:avLst/>
              <a:gdLst/>
              <a:ahLst/>
              <a:cxnLst/>
              <a:rect l="l" t="t" r="r" b="b"/>
              <a:pathLst>
                <a:path w="318977" h="12037219">
                  <a:moveTo>
                    <a:pt x="0" y="0"/>
                  </a:moveTo>
                  <a:lnTo>
                    <a:pt x="318977" y="0"/>
                  </a:lnTo>
                  <a:lnTo>
                    <a:pt x="318977" y="12037219"/>
                  </a:lnTo>
                  <a:lnTo>
                    <a:pt x="0" y="12037219"/>
                  </a:lnTo>
                  <a:close/>
                </a:path>
              </a:pathLst>
            </a:custGeom>
            <a:blipFill>
              <a:blip r:embed="rId4"/>
              <a:stretch>
                <a:fillRect l="-38888" t="-2225" r="-49999" b="-2225"/>
              </a:stretch>
            </a:blipFill>
          </p:spPr>
          <p:txBody>
            <a:bodyPr/>
            <a:lstStyle/>
            <a:p>
              <a:endParaRPr lang="en-US"/>
            </a:p>
          </p:txBody>
        </p:sp>
      </p:grpSp>
      <p:grpSp>
        <p:nvGrpSpPr>
          <p:cNvPr id="8" name="Group 8"/>
          <p:cNvGrpSpPr/>
          <p:nvPr/>
        </p:nvGrpSpPr>
        <p:grpSpPr>
          <a:xfrm>
            <a:off x="17743081" y="629543"/>
            <a:ext cx="225942" cy="9027914"/>
            <a:chOff x="0" y="0"/>
            <a:chExt cx="301256" cy="12037219"/>
          </a:xfrm>
        </p:grpSpPr>
        <p:sp>
          <p:nvSpPr>
            <p:cNvPr id="9" name="Freeform 9"/>
            <p:cNvSpPr/>
            <p:nvPr/>
          </p:nvSpPr>
          <p:spPr>
            <a:xfrm>
              <a:off x="0" y="0"/>
              <a:ext cx="301256" cy="12037219"/>
            </a:xfrm>
            <a:custGeom>
              <a:avLst/>
              <a:gdLst/>
              <a:ahLst/>
              <a:cxnLst/>
              <a:rect l="l" t="t" r="r" b="b"/>
              <a:pathLst>
                <a:path w="301256" h="12037219">
                  <a:moveTo>
                    <a:pt x="0" y="0"/>
                  </a:moveTo>
                  <a:lnTo>
                    <a:pt x="301256" y="0"/>
                  </a:lnTo>
                  <a:lnTo>
                    <a:pt x="301256" y="12037219"/>
                  </a:lnTo>
                  <a:lnTo>
                    <a:pt x="0" y="12037219"/>
                  </a:lnTo>
                  <a:close/>
                </a:path>
              </a:pathLst>
            </a:custGeom>
            <a:blipFill>
              <a:blip r:embed="rId5"/>
              <a:stretch>
                <a:fillRect l="-52941" t="-2225" r="-47058" b="-2225"/>
              </a:stretch>
            </a:blipFill>
          </p:spPr>
          <p:txBody>
            <a:bodyPr/>
            <a:lstStyle/>
            <a:p>
              <a:endParaRPr lang="en-US"/>
            </a:p>
          </p:txBody>
        </p:sp>
      </p:grpSp>
      <p:grpSp>
        <p:nvGrpSpPr>
          <p:cNvPr id="10" name="Group 10"/>
          <p:cNvGrpSpPr/>
          <p:nvPr/>
        </p:nvGrpSpPr>
        <p:grpSpPr>
          <a:xfrm>
            <a:off x="664535" y="214312"/>
            <a:ext cx="2897372" cy="267891"/>
            <a:chOff x="0" y="0"/>
            <a:chExt cx="3863163" cy="357188"/>
          </a:xfrm>
        </p:grpSpPr>
        <p:sp>
          <p:nvSpPr>
            <p:cNvPr id="11" name="Freeform 11"/>
            <p:cNvSpPr/>
            <p:nvPr/>
          </p:nvSpPr>
          <p:spPr>
            <a:xfrm>
              <a:off x="0" y="0"/>
              <a:ext cx="3863163" cy="357188"/>
            </a:xfrm>
            <a:custGeom>
              <a:avLst/>
              <a:gdLst/>
              <a:ahLst/>
              <a:cxnLst/>
              <a:rect l="l" t="t" r="r" b="b"/>
              <a:pathLst>
                <a:path w="3863163" h="357188">
                  <a:moveTo>
                    <a:pt x="0" y="0"/>
                  </a:moveTo>
                  <a:lnTo>
                    <a:pt x="3863163" y="0"/>
                  </a:lnTo>
                  <a:lnTo>
                    <a:pt x="3863163" y="357188"/>
                  </a:lnTo>
                  <a:lnTo>
                    <a:pt x="0" y="357188"/>
                  </a:lnTo>
                  <a:close/>
                </a:path>
              </a:pathLst>
            </a:custGeom>
            <a:blipFill>
              <a:blip r:embed="rId6"/>
              <a:stretch>
                <a:fillRect l="-458" r="-5045" b="-60000"/>
              </a:stretch>
            </a:blipFill>
          </p:spPr>
          <p:txBody>
            <a:bodyPr/>
            <a:lstStyle/>
            <a:p>
              <a:endParaRPr lang="en-US"/>
            </a:p>
          </p:txBody>
        </p:sp>
      </p:grpSp>
      <p:grpSp>
        <p:nvGrpSpPr>
          <p:cNvPr id="12" name="Group 12"/>
          <p:cNvGrpSpPr/>
          <p:nvPr/>
        </p:nvGrpSpPr>
        <p:grpSpPr>
          <a:xfrm>
            <a:off x="3535326" y="214312"/>
            <a:ext cx="3216349" cy="281285"/>
            <a:chOff x="0" y="0"/>
            <a:chExt cx="4288465" cy="375047"/>
          </a:xfrm>
        </p:grpSpPr>
        <p:sp>
          <p:nvSpPr>
            <p:cNvPr id="13" name="Freeform 13"/>
            <p:cNvSpPr/>
            <p:nvPr/>
          </p:nvSpPr>
          <p:spPr>
            <a:xfrm>
              <a:off x="0" y="0"/>
              <a:ext cx="4288465" cy="375047"/>
            </a:xfrm>
            <a:custGeom>
              <a:avLst/>
              <a:gdLst/>
              <a:ahLst/>
              <a:cxnLst/>
              <a:rect l="l" t="t" r="r" b="b"/>
              <a:pathLst>
                <a:path w="4288465" h="375047">
                  <a:moveTo>
                    <a:pt x="0" y="0"/>
                  </a:moveTo>
                  <a:lnTo>
                    <a:pt x="4288465" y="0"/>
                  </a:lnTo>
                  <a:lnTo>
                    <a:pt x="4288465" y="375047"/>
                  </a:lnTo>
                  <a:lnTo>
                    <a:pt x="0" y="375047"/>
                  </a:lnTo>
                  <a:close/>
                </a:path>
              </a:pathLst>
            </a:custGeom>
            <a:blipFill>
              <a:blip r:embed="rId7"/>
              <a:stretch>
                <a:fillRect l="-1652" b="-52380"/>
              </a:stretch>
            </a:blipFill>
          </p:spPr>
          <p:txBody>
            <a:bodyPr/>
            <a:lstStyle/>
            <a:p>
              <a:endParaRPr lang="en-US"/>
            </a:p>
          </p:txBody>
        </p:sp>
      </p:grpSp>
      <p:grpSp>
        <p:nvGrpSpPr>
          <p:cNvPr id="14" name="Group 14"/>
          <p:cNvGrpSpPr/>
          <p:nvPr/>
        </p:nvGrpSpPr>
        <p:grpSpPr>
          <a:xfrm>
            <a:off x="6525733" y="214312"/>
            <a:ext cx="3176477" cy="267891"/>
            <a:chOff x="0" y="0"/>
            <a:chExt cx="4235302" cy="357188"/>
          </a:xfrm>
        </p:grpSpPr>
        <p:sp>
          <p:nvSpPr>
            <p:cNvPr id="15" name="Freeform 15"/>
            <p:cNvSpPr/>
            <p:nvPr/>
          </p:nvSpPr>
          <p:spPr>
            <a:xfrm>
              <a:off x="0" y="0"/>
              <a:ext cx="4235302" cy="357188"/>
            </a:xfrm>
            <a:custGeom>
              <a:avLst/>
              <a:gdLst/>
              <a:ahLst/>
              <a:cxnLst/>
              <a:rect l="l" t="t" r="r" b="b"/>
              <a:pathLst>
                <a:path w="4235302" h="357188">
                  <a:moveTo>
                    <a:pt x="0" y="0"/>
                  </a:moveTo>
                  <a:lnTo>
                    <a:pt x="4235302" y="0"/>
                  </a:lnTo>
                  <a:lnTo>
                    <a:pt x="4235302" y="357188"/>
                  </a:lnTo>
                  <a:lnTo>
                    <a:pt x="0" y="357188"/>
                  </a:lnTo>
                  <a:close/>
                </a:path>
              </a:pathLst>
            </a:custGeom>
            <a:blipFill>
              <a:blip r:embed="rId8"/>
              <a:stretch>
                <a:fillRect r="-3347" b="-60000"/>
              </a:stretch>
            </a:blipFill>
          </p:spPr>
          <p:txBody>
            <a:bodyPr/>
            <a:lstStyle/>
            <a:p>
              <a:endParaRPr lang="en-US"/>
            </a:p>
          </p:txBody>
        </p:sp>
      </p:grpSp>
      <p:grpSp>
        <p:nvGrpSpPr>
          <p:cNvPr id="16" name="Group 16"/>
          <p:cNvGrpSpPr/>
          <p:nvPr/>
        </p:nvGrpSpPr>
        <p:grpSpPr>
          <a:xfrm>
            <a:off x="9582593" y="214312"/>
            <a:ext cx="2870791" cy="281285"/>
            <a:chOff x="0" y="0"/>
            <a:chExt cx="3827721" cy="375047"/>
          </a:xfrm>
        </p:grpSpPr>
        <p:sp>
          <p:nvSpPr>
            <p:cNvPr id="17" name="Freeform 17"/>
            <p:cNvSpPr/>
            <p:nvPr/>
          </p:nvSpPr>
          <p:spPr>
            <a:xfrm>
              <a:off x="0" y="0"/>
              <a:ext cx="3827721" cy="375047"/>
            </a:xfrm>
            <a:custGeom>
              <a:avLst/>
              <a:gdLst/>
              <a:ahLst/>
              <a:cxnLst/>
              <a:rect l="l" t="t" r="r" b="b"/>
              <a:pathLst>
                <a:path w="3827721" h="375047">
                  <a:moveTo>
                    <a:pt x="0" y="0"/>
                  </a:moveTo>
                  <a:lnTo>
                    <a:pt x="3827721" y="0"/>
                  </a:lnTo>
                  <a:lnTo>
                    <a:pt x="3827721" y="375047"/>
                  </a:lnTo>
                  <a:lnTo>
                    <a:pt x="0" y="375047"/>
                  </a:lnTo>
                  <a:close/>
                </a:path>
              </a:pathLst>
            </a:custGeom>
            <a:blipFill>
              <a:blip r:embed="rId9"/>
              <a:stretch>
                <a:fillRect l="-462" r="-6481" b="-52380"/>
              </a:stretch>
            </a:blipFill>
          </p:spPr>
          <p:txBody>
            <a:bodyPr/>
            <a:lstStyle/>
            <a:p>
              <a:endParaRPr lang="en-US"/>
            </a:p>
          </p:txBody>
        </p:sp>
      </p:grpSp>
      <p:grpSp>
        <p:nvGrpSpPr>
          <p:cNvPr id="18" name="Group 18"/>
          <p:cNvGrpSpPr/>
          <p:nvPr/>
        </p:nvGrpSpPr>
        <p:grpSpPr>
          <a:xfrm>
            <a:off x="12413512" y="214312"/>
            <a:ext cx="3096733" cy="267891"/>
            <a:chOff x="0" y="0"/>
            <a:chExt cx="4128977" cy="357188"/>
          </a:xfrm>
        </p:grpSpPr>
        <p:sp>
          <p:nvSpPr>
            <p:cNvPr id="19" name="Freeform 19"/>
            <p:cNvSpPr/>
            <p:nvPr/>
          </p:nvSpPr>
          <p:spPr>
            <a:xfrm>
              <a:off x="0" y="0"/>
              <a:ext cx="4128977" cy="357188"/>
            </a:xfrm>
            <a:custGeom>
              <a:avLst/>
              <a:gdLst/>
              <a:ahLst/>
              <a:cxnLst/>
              <a:rect l="l" t="t" r="r" b="b"/>
              <a:pathLst>
                <a:path w="4128977" h="357188">
                  <a:moveTo>
                    <a:pt x="0" y="0"/>
                  </a:moveTo>
                  <a:lnTo>
                    <a:pt x="4128977" y="0"/>
                  </a:lnTo>
                  <a:lnTo>
                    <a:pt x="4128977" y="357188"/>
                  </a:lnTo>
                  <a:lnTo>
                    <a:pt x="0" y="357188"/>
                  </a:lnTo>
                  <a:close/>
                </a:path>
              </a:pathLst>
            </a:custGeom>
            <a:blipFill>
              <a:blip r:embed="rId10"/>
              <a:stretch>
                <a:fillRect l="-429" r="-5579" b="-60000"/>
              </a:stretch>
            </a:blipFill>
          </p:spPr>
          <p:txBody>
            <a:bodyPr/>
            <a:lstStyle/>
            <a:p>
              <a:endParaRPr lang="en-US"/>
            </a:p>
          </p:txBody>
        </p:sp>
      </p:grpSp>
      <p:grpSp>
        <p:nvGrpSpPr>
          <p:cNvPr id="20" name="Group 20"/>
          <p:cNvGrpSpPr/>
          <p:nvPr/>
        </p:nvGrpSpPr>
        <p:grpSpPr>
          <a:xfrm>
            <a:off x="15483663" y="214312"/>
            <a:ext cx="2139802" cy="267891"/>
            <a:chOff x="0" y="0"/>
            <a:chExt cx="2853070" cy="357188"/>
          </a:xfrm>
        </p:grpSpPr>
        <p:sp>
          <p:nvSpPr>
            <p:cNvPr id="21" name="Freeform 21"/>
            <p:cNvSpPr/>
            <p:nvPr/>
          </p:nvSpPr>
          <p:spPr>
            <a:xfrm>
              <a:off x="0" y="0"/>
              <a:ext cx="2853070" cy="357188"/>
            </a:xfrm>
            <a:custGeom>
              <a:avLst/>
              <a:gdLst/>
              <a:ahLst/>
              <a:cxnLst/>
              <a:rect l="l" t="t" r="r" b="b"/>
              <a:pathLst>
                <a:path w="2853070" h="357188">
                  <a:moveTo>
                    <a:pt x="0" y="0"/>
                  </a:moveTo>
                  <a:lnTo>
                    <a:pt x="2853070" y="0"/>
                  </a:lnTo>
                  <a:lnTo>
                    <a:pt x="2853070" y="357188"/>
                  </a:lnTo>
                  <a:lnTo>
                    <a:pt x="0" y="357188"/>
                  </a:lnTo>
                  <a:close/>
                </a:path>
              </a:pathLst>
            </a:custGeom>
            <a:blipFill>
              <a:blip r:embed="rId11"/>
              <a:stretch>
                <a:fillRect l="-1242" r="-621" b="-60000"/>
              </a:stretch>
            </a:blipFill>
          </p:spPr>
          <p:txBody>
            <a:bodyPr/>
            <a:lstStyle/>
            <a:p>
              <a:endParaRPr lang="en-US"/>
            </a:p>
          </p:txBody>
        </p:sp>
      </p:grpSp>
      <p:grpSp>
        <p:nvGrpSpPr>
          <p:cNvPr id="22" name="Group 22"/>
          <p:cNvGrpSpPr/>
          <p:nvPr/>
        </p:nvGrpSpPr>
        <p:grpSpPr>
          <a:xfrm>
            <a:off x="664535" y="9791402"/>
            <a:ext cx="2897372" cy="267891"/>
            <a:chOff x="0" y="0"/>
            <a:chExt cx="3863163" cy="357188"/>
          </a:xfrm>
        </p:grpSpPr>
        <p:sp>
          <p:nvSpPr>
            <p:cNvPr id="23" name="Freeform 23"/>
            <p:cNvSpPr/>
            <p:nvPr/>
          </p:nvSpPr>
          <p:spPr>
            <a:xfrm>
              <a:off x="0" y="0"/>
              <a:ext cx="3863163" cy="357188"/>
            </a:xfrm>
            <a:custGeom>
              <a:avLst/>
              <a:gdLst/>
              <a:ahLst/>
              <a:cxnLst/>
              <a:rect l="l" t="t" r="r" b="b"/>
              <a:pathLst>
                <a:path w="3863163" h="357188">
                  <a:moveTo>
                    <a:pt x="0" y="0"/>
                  </a:moveTo>
                  <a:lnTo>
                    <a:pt x="3863163" y="0"/>
                  </a:lnTo>
                  <a:lnTo>
                    <a:pt x="3863163" y="357188"/>
                  </a:lnTo>
                  <a:lnTo>
                    <a:pt x="0" y="357188"/>
                  </a:lnTo>
                  <a:close/>
                </a:path>
              </a:pathLst>
            </a:custGeom>
            <a:blipFill>
              <a:blip r:embed="rId12"/>
              <a:stretch>
                <a:fillRect l="-458" t="-55000" r="-5045" b="-5000"/>
              </a:stretch>
            </a:blipFill>
          </p:spPr>
          <p:txBody>
            <a:bodyPr/>
            <a:lstStyle/>
            <a:p>
              <a:endParaRPr lang="en-US"/>
            </a:p>
          </p:txBody>
        </p:sp>
      </p:grpSp>
      <p:grpSp>
        <p:nvGrpSpPr>
          <p:cNvPr id="24" name="Group 24"/>
          <p:cNvGrpSpPr/>
          <p:nvPr/>
        </p:nvGrpSpPr>
        <p:grpSpPr>
          <a:xfrm>
            <a:off x="3535326" y="9791402"/>
            <a:ext cx="3176477" cy="267891"/>
            <a:chOff x="0" y="0"/>
            <a:chExt cx="4235302" cy="357188"/>
          </a:xfrm>
        </p:grpSpPr>
        <p:sp>
          <p:nvSpPr>
            <p:cNvPr id="25" name="Freeform 25"/>
            <p:cNvSpPr/>
            <p:nvPr/>
          </p:nvSpPr>
          <p:spPr>
            <a:xfrm>
              <a:off x="0" y="0"/>
              <a:ext cx="4235302" cy="357188"/>
            </a:xfrm>
            <a:custGeom>
              <a:avLst/>
              <a:gdLst/>
              <a:ahLst/>
              <a:cxnLst/>
              <a:rect l="l" t="t" r="r" b="b"/>
              <a:pathLst>
                <a:path w="4235302" h="357188">
                  <a:moveTo>
                    <a:pt x="0" y="0"/>
                  </a:moveTo>
                  <a:lnTo>
                    <a:pt x="4235302" y="0"/>
                  </a:lnTo>
                  <a:lnTo>
                    <a:pt x="4235302" y="357188"/>
                  </a:lnTo>
                  <a:lnTo>
                    <a:pt x="0" y="357188"/>
                  </a:lnTo>
                  <a:close/>
                </a:path>
              </a:pathLst>
            </a:custGeom>
            <a:blipFill>
              <a:blip r:embed="rId13"/>
              <a:stretch>
                <a:fillRect l="-1673" t="-55000" r="-1255" b="-5000"/>
              </a:stretch>
            </a:blipFill>
          </p:spPr>
          <p:txBody>
            <a:bodyPr/>
            <a:lstStyle/>
            <a:p>
              <a:endParaRPr lang="en-US"/>
            </a:p>
          </p:txBody>
        </p:sp>
      </p:grpSp>
      <p:grpSp>
        <p:nvGrpSpPr>
          <p:cNvPr id="26" name="Group 26"/>
          <p:cNvGrpSpPr/>
          <p:nvPr/>
        </p:nvGrpSpPr>
        <p:grpSpPr>
          <a:xfrm>
            <a:off x="6525733" y="9791402"/>
            <a:ext cx="3163186" cy="267891"/>
            <a:chOff x="0" y="0"/>
            <a:chExt cx="4217581" cy="357188"/>
          </a:xfrm>
        </p:grpSpPr>
        <p:sp>
          <p:nvSpPr>
            <p:cNvPr id="27" name="Freeform 27"/>
            <p:cNvSpPr/>
            <p:nvPr/>
          </p:nvSpPr>
          <p:spPr>
            <a:xfrm>
              <a:off x="0" y="0"/>
              <a:ext cx="4217581" cy="357188"/>
            </a:xfrm>
            <a:custGeom>
              <a:avLst/>
              <a:gdLst/>
              <a:ahLst/>
              <a:cxnLst/>
              <a:rect l="l" t="t" r="r" b="b"/>
              <a:pathLst>
                <a:path w="4217581" h="357188">
                  <a:moveTo>
                    <a:pt x="0" y="0"/>
                  </a:moveTo>
                  <a:lnTo>
                    <a:pt x="4217581" y="0"/>
                  </a:lnTo>
                  <a:lnTo>
                    <a:pt x="4217581" y="357188"/>
                  </a:lnTo>
                  <a:lnTo>
                    <a:pt x="0" y="357188"/>
                  </a:lnTo>
                  <a:close/>
                </a:path>
              </a:pathLst>
            </a:custGeom>
            <a:blipFill>
              <a:blip r:embed="rId14"/>
              <a:stretch>
                <a:fillRect t="-55000" r="-3781" b="-5000"/>
              </a:stretch>
            </a:blipFill>
          </p:spPr>
          <p:txBody>
            <a:bodyPr/>
            <a:lstStyle/>
            <a:p>
              <a:endParaRPr lang="en-US"/>
            </a:p>
          </p:txBody>
        </p:sp>
      </p:grpSp>
      <p:grpSp>
        <p:nvGrpSpPr>
          <p:cNvPr id="28" name="Group 28"/>
          <p:cNvGrpSpPr/>
          <p:nvPr/>
        </p:nvGrpSpPr>
        <p:grpSpPr>
          <a:xfrm>
            <a:off x="9582593" y="9791402"/>
            <a:ext cx="2937244" cy="267891"/>
            <a:chOff x="0" y="0"/>
            <a:chExt cx="3916326" cy="357188"/>
          </a:xfrm>
        </p:grpSpPr>
        <p:sp>
          <p:nvSpPr>
            <p:cNvPr id="29" name="Freeform 29"/>
            <p:cNvSpPr/>
            <p:nvPr/>
          </p:nvSpPr>
          <p:spPr>
            <a:xfrm>
              <a:off x="0" y="0"/>
              <a:ext cx="3916326" cy="357188"/>
            </a:xfrm>
            <a:custGeom>
              <a:avLst/>
              <a:gdLst/>
              <a:ahLst/>
              <a:cxnLst/>
              <a:rect l="l" t="t" r="r" b="b"/>
              <a:pathLst>
                <a:path w="3916326" h="357188">
                  <a:moveTo>
                    <a:pt x="0" y="0"/>
                  </a:moveTo>
                  <a:lnTo>
                    <a:pt x="3916326" y="0"/>
                  </a:lnTo>
                  <a:lnTo>
                    <a:pt x="3916326" y="357188"/>
                  </a:lnTo>
                  <a:lnTo>
                    <a:pt x="0" y="357188"/>
                  </a:lnTo>
                  <a:close/>
                </a:path>
              </a:pathLst>
            </a:custGeom>
            <a:blipFill>
              <a:blip r:embed="rId15"/>
              <a:stretch>
                <a:fillRect l="-452" t="-55000" r="-4072" b="-5000"/>
              </a:stretch>
            </a:blipFill>
          </p:spPr>
          <p:txBody>
            <a:bodyPr/>
            <a:lstStyle/>
            <a:p>
              <a:endParaRPr lang="en-US"/>
            </a:p>
          </p:txBody>
        </p:sp>
      </p:grpSp>
      <p:grpSp>
        <p:nvGrpSpPr>
          <p:cNvPr id="30" name="Group 30"/>
          <p:cNvGrpSpPr/>
          <p:nvPr/>
        </p:nvGrpSpPr>
        <p:grpSpPr>
          <a:xfrm>
            <a:off x="12506547" y="9791402"/>
            <a:ext cx="3003698" cy="281285"/>
            <a:chOff x="0" y="0"/>
            <a:chExt cx="4004930" cy="375047"/>
          </a:xfrm>
        </p:grpSpPr>
        <p:sp>
          <p:nvSpPr>
            <p:cNvPr id="31" name="Freeform 31"/>
            <p:cNvSpPr/>
            <p:nvPr/>
          </p:nvSpPr>
          <p:spPr>
            <a:xfrm>
              <a:off x="0" y="0"/>
              <a:ext cx="4004930" cy="375047"/>
            </a:xfrm>
            <a:custGeom>
              <a:avLst/>
              <a:gdLst/>
              <a:ahLst/>
              <a:cxnLst/>
              <a:rect l="l" t="t" r="r" b="b"/>
              <a:pathLst>
                <a:path w="4004930" h="375047">
                  <a:moveTo>
                    <a:pt x="0" y="0"/>
                  </a:moveTo>
                  <a:lnTo>
                    <a:pt x="4004930" y="0"/>
                  </a:lnTo>
                  <a:lnTo>
                    <a:pt x="4004930" y="375047"/>
                  </a:lnTo>
                  <a:lnTo>
                    <a:pt x="0" y="375047"/>
                  </a:lnTo>
                  <a:close/>
                </a:path>
              </a:pathLst>
            </a:custGeom>
            <a:blipFill>
              <a:blip r:embed="rId16"/>
              <a:stretch>
                <a:fillRect l="-3539" t="-52380" r="-5752"/>
              </a:stretch>
            </a:blipFill>
          </p:spPr>
          <p:txBody>
            <a:bodyPr/>
            <a:lstStyle/>
            <a:p>
              <a:endParaRPr lang="en-US"/>
            </a:p>
          </p:txBody>
        </p:sp>
      </p:grpSp>
      <p:grpSp>
        <p:nvGrpSpPr>
          <p:cNvPr id="32" name="Group 32"/>
          <p:cNvGrpSpPr/>
          <p:nvPr/>
        </p:nvGrpSpPr>
        <p:grpSpPr>
          <a:xfrm>
            <a:off x="15483663" y="9791402"/>
            <a:ext cx="2153093" cy="267891"/>
            <a:chOff x="0" y="0"/>
            <a:chExt cx="2870791" cy="357188"/>
          </a:xfrm>
        </p:grpSpPr>
        <p:sp>
          <p:nvSpPr>
            <p:cNvPr id="33" name="Freeform 33"/>
            <p:cNvSpPr/>
            <p:nvPr/>
          </p:nvSpPr>
          <p:spPr>
            <a:xfrm>
              <a:off x="0" y="0"/>
              <a:ext cx="2870791" cy="357188"/>
            </a:xfrm>
            <a:custGeom>
              <a:avLst/>
              <a:gdLst/>
              <a:ahLst/>
              <a:cxnLst/>
              <a:rect l="l" t="t" r="r" b="b"/>
              <a:pathLst>
                <a:path w="2870791" h="357188">
                  <a:moveTo>
                    <a:pt x="0" y="0"/>
                  </a:moveTo>
                  <a:lnTo>
                    <a:pt x="2870791" y="0"/>
                  </a:lnTo>
                  <a:lnTo>
                    <a:pt x="2870791" y="357188"/>
                  </a:lnTo>
                  <a:lnTo>
                    <a:pt x="0" y="357188"/>
                  </a:lnTo>
                  <a:close/>
                </a:path>
              </a:pathLst>
            </a:custGeom>
            <a:blipFill>
              <a:blip r:embed="rId17"/>
              <a:stretch>
                <a:fillRect l="-1234" t="-55000" b="-5000"/>
              </a:stretch>
            </a:blipFill>
          </p:spPr>
          <p:txBody>
            <a:bodyPr/>
            <a:lstStyle/>
            <a:p>
              <a:endParaRPr lang="en-US"/>
            </a:p>
          </p:txBody>
        </p:sp>
      </p:grpSp>
      <p:grpSp>
        <p:nvGrpSpPr>
          <p:cNvPr id="34" name="Group 34"/>
          <p:cNvGrpSpPr/>
          <p:nvPr/>
        </p:nvGrpSpPr>
        <p:grpSpPr>
          <a:xfrm>
            <a:off x="1129709" y="2330648"/>
            <a:ext cx="465174" cy="455414"/>
            <a:chOff x="0" y="0"/>
            <a:chExt cx="620233" cy="607219"/>
          </a:xfrm>
        </p:grpSpPr>
        <p:sp>
          <p:nvSpPr>
            <p:cNvPr id="35" name="Freeform 35"/>
            <p:cNvSpPr/>
            <p:nvPr/>
          </p:nvSpPr>
          <p:spPr>
            <a:xfrm>
              <a:off x="0" y="0"/>
              <a:ext cx="620233" cy="607219"/>
            </a:xfrm>
            <a:custGeom>
              <a:avLst/>
              <a:gdLst/>
              <a:ahLst/>
              <a:cxnLst/>
              <a:rect l="l" t="t" r="r" b="b"/>
              <a:pathLst>
                <a:path w="620233" h="607219">
                  <a:moveTo>
                    <a:pt x="0" y="0"/>
                  </a:moveTo>
                  <a:lnTo>
                    <a:pt x="620233" y="0"/>
                  </a:lnTo>
                  <a:lnTo>
                    <a:pt x="620233" y="607219"/>
                  </a:lnTo>
                  <a:lnTo>
                    <a:pt x="0" y="607219"/>
                  </a:lnTo>
                  <a:close/>
                </a:path>
              </a:pathLst>
            </a:custGeom>
            <a:blipFill>
              <a:blip r:embed="rId18"/>
              <a:stretch>
                <a:fillRect l="-11428" t="-41176" r="-34285"/>
              </a:stretch>
            </a:blipFill>
          </p:spPr>
          <p:txBody>
            <a:bodyPr/>
            <a:lstStyle/>
            <a:p>
              <a:endParaRPr lang="en-US"/>
            </a:p>
          </p:txBody>
        </p:sp>
      </p:grpSp>
      <p:grpSp>
        <p:nvGrpSpPr>
          <p:cNvPr id="36" name="Group 36"/>
          <p:cNvGrpSpPr/>
          <p:nvPr/>
        </p:nvGrpSpPr>
        <p:grpSpPr>
          <a:xfrm>
            <a:off x="16693116" y="2330648"/>
            <a:ext cx="465174" cy="455414"/>
            <a:chOff x="0" y="0"/>
            <a:chExt cx="620233" cy="607219"/>
          </a:xfrm>
        </p:grpSpPr>
        <p:sp>
          <p:nvSpPr>
            <p:cNvPr id="37" name="Freeform 37"/>
            <p:cNvSpPr/>
            <p:nvPr/>
          </p:nvSpPr>
          <p:spPr>
            <a:xfrm>
              <a:off x="0" y="0"/>
              <a:ext cx="620233" cy="607219"/>
            </a:xfrm>
            <a:custGeom>
              <a:avLst/>
              <a:gdLst/>
              <a:ahLst/>
              <a:cxnLst/>
              <a:rect l="l" t="t" r="r" b="b"/>
              <a:pathLst>
                <a:path w="620233" h="607219">
                  <a:moveTo>
                    <a:pt x="0" y="0"/>
                  </a:moveTo>
                  <a:lnTo>
                    <a:pt x="620233" y="0"/>
                  </a:lnTo>
                  <a:lnTo>
                    <a:pt x="620233" y="607219"/>
                  </a:lnTo>
                  <a:lnTo>
                    <a:pt x="0" y="607219"/>
                  </a:lnTo>
                  <a:close/>
                </a:path>
              </a:pathLst>
            </a:custGeom>
            <a:blipFill>
              <a:blip r:embed="rId19"/>
              <a:stretch>
                <a:fillRect l="-34285" t="-41176" r="-11428"/>
              </a:stretch>
            </a:blipFill>
          </p:spPr>
          <p:txBody>
            <a:bodyPr/>
            <a:lstStyle/>
            <a:p>
              <a:endParaRPr lang="en-US"/>
            </a:p>
          </p:txBody>
        </p:sp>
      </p:grpSp>
      <p:grpSp>
        <p:nvGrpSpPr>
          <p:cNvPr id="38" name="Group 38"/>
          <p:cNvGrpSpPr/>
          <p:nvPr/>
        </p:nvGrpSpPr>
        <p:grpSpPr>
          <a:xfrm>
            <a:off x="1302488" y="2477988"/>
            <a:ext cx="15683023" cy="696516"/>
            <a:chOff x="0" y="0"/>
            <a:chExt cx="20910698" cy="928688"/>
          </a:xfrm>
        </p:grpSpPr>
        <p:sp>
          <p:nvSpPr>
            <p:cNvPr id="39" name="Freeform 39"/>
            <p:cNvSpPr/>
            <p:nvPr/>
          </p:nvSpPr>
          <p:spPr>
            <a:xfrm>
              <a:off x="0" y="0"/>
              <a:ext cx="20910697" cy="928688"/>
            </a:xfrm>
            <a:custGeom>
              <a:avLst/>
              <a:gdLst/>
              <a:ahLst/>
              <a:cxnLst/>
              <a:rect l="l" t="t" r="r" b="b"/>
              <a:pathLst>
                <a:path w="20910697" h="928688">
                  <a:moveTo>
                    <a:pt x="0" y="0"/>
                  </a:moveTo>
                  <a:lnTo>
                    <a:pt x="20910697" y="0"/>
                  </a:lnTo>
                  <a:lnTo>
                    <a:pt x="20910697" y="928688"/>
                  </a:lnTo>
                  <a:lnTo>
                    <a:pt x="0" y="928688"/>
                  </a:lnTo>
                  <a:close/>
                </a:path>
              </a:pathLst>
            </a:custGeom>
            <a:blipFill>
              <a:blip r:embed="rId20"/>
              <a:stretch>
                <a:fillRect l="-1440" t="-17307" b="-5769"/>
              </a:stretch>
            </a:blipFill>
          </p:spPr>
          <p:txBody>
            <a:bodyPr/>
            <a:lstStyle/>
            <a:p>
              <a:endParaRPr lang="en-US"/>
            </a:p>
          </p:txBody>
        </p:sp>
      </p:grpSp>
      <p:grpSp>
        <p:nvGrpSpPr>
          <p:cNvPr id="40" name="Group 40"/>
          <p:cNvGrpSpPr/>
          <p:nvPr/>
        </p:nvGrpSpPr>
        <p:grpSpPr>
          <a:xfrm>
            <a:off x="1302488" y="3134320"/>
            <a:ext cx="15683023" cy="40184"/>
            <a:chOff x="0" y="0"/>
            <a:chExt cx="20910698" cy="53578"/>
          </a:xfrm>
        </p:grpSpPr>
        <p:sp>
          <p:nvSpPr>
            <p:cNvPr id="41" name="Freeform 41"/>
            <p:cNvSpPr/>
            <p:nvPr/>
          </p:nvSpPr>
          <p:spPr>
            <a:xfrm>
              <a:off x="0" y="0"/>
              <a:ext cx="20910697" cy="53578"/>
            </a:xfrm>
            <a:custGeom>
              <a:avLst/>
              <a:gdLst/>
              <a:ahLst/>
              <a:cxnLst/>
              <a:rect l="l" t="t" r="r" b="b"/>
              <a:pathLst>
                <a:path w="20910697" h="53578">
                  <a:moveTo>
                    <a:pt x="0" y="0"/>
                  </a:moveTo>
                  <a:lnTo>
                    <a:pt x="20910697" y="0"/>
                  </a:lnTo>
                  <a:lnTo>
                    <a:pt x="20910697" y="53578"/>
                  </a:lnTo>
                  <a:lnTo>
                    <a:pt x="0" y="53578"/>
                  </a:lnTo>
                  <a:close/>
                </a:path>
              </a:pathLst>
            </a:custGeom>
            <a:blipFill>
              <a:blip r:embed="rId21"/>
              <a:stretch>
                <a:fillRect l="-1440" t="-333333" b="-100000"/>
              </a:stretch>
            </a:blipFill>
          </p:spPr>
          <p:txBody>
            <a:bodyPr/>
            <a:lstStyle/>
            <a:p>
              <a:endParaRPr lang="en-US"/>
            </a:p>
          </p:txBody>
        </p:sp>
      </p:grpSp>
      <p:grpSp>
        <p:nvGrpSpPr>
          <p:cNvPr id="42" name="Group 42"/>
          <p:cNvGrpSpPr/>
          <p:nvPr/>
        </p:nvGrpSpPr>
        <p:grpSpPr>
          <a:xfrm>
            <a:off x="1302488" y="3750469"/>
            <a:ext cx="15683023" cy="66973"/>
            <a:chOff x="0" y="0"/>
            <a:chExt cx="20910698" cy="89297"/>
          </a:xfrm>
        </p:grpSpPr>
        <p:sp>
          <p:nvSpPr>
            <p:cNvPr id="43" name="Freeform 43"/>
            <p:cNvSpPr/>
            <p:nvPr/>
          </p:nvSpPr>
          <p:spPr>
            <a:xfrm>
              <a:off x="0" y="0"/>
              <a:ext cx="20910697" cy="89297"/>
            </a:xfrm>
            <a:custGeom>
              <a:avLst/>
              <a:gdLst/>
              <a:ahLst/>
              <a:cxnLst/>
              <a:rect l="l" t="t" r="r" b="b"/>
              <a:pathLst>
                <a:path w="20910697" h="89297">
                  <a:moveTo>
                    <a:pt x="0" y="0"/>
                  </a:moveTo>
                  <a:lnTo>
                    <a:pt x="20910697" y="0"/>
                  </a:lnTo>
                  <a:lnTo>
                    <a:pt x="20910697" y="89297"/>
                  </a:lnTo>
                  <a:lnTo>
                    <a:pt x="0" y="89297"/>
                  </a:lnTo>
                  <a:close/>
                </a:path>
              </a:pathLst>
            </a:custGeom>
            <a:blipFill>
              <a:blip r:embed="rId22"/>
              <a:stretch>
                <a:fillRect l="-1440" t="-160000" b="-60000"/>
              </a:stretch>
            </a:blipFill>
          </p:spPr>
          <p:txBody>
            <a:bodyPr/>
            <a:lstStyle/>
            <a:p>
              <a:endParaRPr lang="en-US"/>
            </a:p>
          </p:txBody>
        </p:sp>
      </p:grpSp>
      <p:grpSp>
        <p:nvGrpSpPr>
          <p:cNvPr id="44" name="Group 44"/>
          <p:cNvGrpSpPr/>
          <p:nvPr/>
        </p:nvGrpSpPr>
        <p:grpSpPr>
          <a:xfrm>
            <a:off x="1302488" y="4393406"/>
            <a:ext cx="15683023" cy="26789"/>
            <a:chOff x="0" y="0"/>
            <a:chExt cx="20910698" cy="35719"/>
          </a:xfrm>
        </p:grpSpPr>
        <p:sp>
          <p:nvSpPr>
            <p:cNvPr id="45" name="Freeform 45"/>
            <p:cNvSpPr/>
            <p:nvPr/>
          </p:nvSpPr>
          <p:spPr>
            <a:xfrm>
              <a:off x="0" y="0"/>
              <a:ext cx="20910697" cy="35719"/>
            </a:xfrm>
            <a:custGeom>
              <a:avLst/>
              <a:gdLst/>
              <a:ahLst/>
              <a:cxnLst/>
              <a:rect l="l" t="t" r="r" b="b"/>
              <a:pathLst>
                <a:path w="20910697" h="35719">
                  <a:moveTo>
                    <a:pt x="0" y="0"/>
                  </a:moveTo>
                  <a:lnTo>
                    <a:pt x="20910697" y="0"/>
                  </a:lnTo>
                  <a:lnTo>
                    <a:pt x="20910697" y="35719"/>
                  </a:lnTo>
                  <a:lnTo>
                    <a:pt x="0" y="35719"/>
                  </a:lnTo>
                  <a:close/>
                </a:path>
              </a:pathLst>
            </a:custGeom>
            <a:blipFill>
              <a:blip r:embed="rId23"/>
              <a:stretch>
                <a:fillRect l="-1440" t="-400000" b="-300000"/>
              </a:stretch>
            </a:blipFill>
          </p:spPr>
          <p:txBody>
            <a:bodyPr/>
            <a:lstStyle/>
            <a:p>
              <a:endParaRPr lang="en-US"/>
            </a:p>
          </p:txBody>
        </p:sp>
      </p:grpSp>
      <p:grpSp>
        <p:nvGrpSpPr>
          <p:cNvPr id="46" name="Group 46"/>
          <p:cNvGrpSpPr/>
          <p:nvPr/>
        </p:nvGrpSpPr>
        <p:grpSpPr>
          <a:xfrm>
            <a:off x="1302488" y="5022949"/>
            <a:ext cx="15683023" cy="26789"/>
            <a:chOff x="0" y="0"/>
            <a:chExt cx="20910698" cy="35719"/>
          </a:xfrm>
        </p:grpSpPr>
        <p:sp>
          <p:nvSpPr>
            <p:cNvPr id="47" name="Freeform 47"/>
            <p:cNvSpPr/>
            <p:nvPr/>
          </p:nvSpPr>
          <p:spPr>
            <a:xfrm>
              <a:off x="0" y="0"/>
              <a:ext cx="20910697" cy="35719"/>
            </a:xfrm>
            <a:custGeom>
              <a:avLst/>
              <a:gdLst/>
              <a:ahLst/>
              <a:cxnLst/>
              <a:rect l="l" t="t" r="r" b="b"/>
              <a:pathLst>
                <a:path w="20910697" h="35719">
                  <a:moveTo>
                    <a:pt x="0" y="0"/>
                  </a:moveTo>
                  <a:lnTo>
                    <a:pt x="20910697" y="0"/>
                  </a:lnTo>
                  <a:lnTo>
                    <a:pt x="20910697" y="35719"/>
                  </a:lnTo>
                  <a:lnTo>
                    <a:pt x="0" y="35719"/>
                  </a:lnTo>
                  <a:close/>
                </a:path>
              </a:pathLst>
            </a:custGeom>
            <a:blipFill>
              <a:blip r:embed="rId24"/>
              <a:stretch>
                <a:fillRect l="-1440" t="-350000" b="-350000"/>
              </a:stretch>
            </a:blipFill>
          </p:spPr>
          <p:txBody>
            <a:bodyPr/>
            <a:lstStyle/>
            <a:p>
              <a:endParaRPr lang="en-US"/>
            </a:p>
          </p:txBody>
        </p:sp>
      </p:grpSp>
      <p:grpSp>
        <p:nvGrpSpPr>
          <p:cNvPr id="48" name="Group 48"/>
          <p:cNvGrpSpPr/>
          <p:nvPr/>
        </p:nvGrpSpPr>
        <p:grpSpPr>
          <a:xfrm>
            <a:off x="1302488" y="5639098"/>
            <a:ext cx="15683023" cy="40184"/>
            <a:chOff x="0" y="0"/>
            <a:chExt cx="20910698" cy="53578"/>
          </a:xfrm>
        </p:grpSpPr>
        <p:sp>
          <p:nvSpPr>
            <p:cNvPr id="49" name="Freeform 49"/>
            <p:cNvSpPr/>
            <p:nvPr/>
          </p:nvSpPr>
          <p:spPr>
            <a:xfrm>
              <a:off x="0" y="0"/>
              <a:ext cx="20910697" cy="53578"/>
            </a:xfrm>
            <a:custGeom>
              <a:avLst/>
              <a:gdLst/>
              <a:ahLst/>
              <a:cxnLst/>
              <a:rect l="l" t="t" r="r" b="b"/>
              <a:pathLst>
                <a:path w="20910697" h="53578">
                  <a:moveTo>
                    <a:pt x="0" y="0"/>
                  </a:moveTo>
                  <a:lnTo>
                    <a:pt x="20910697" y="0"/>
                  </a:lnTo>
                  <a:lnTo>
                    <a:pt x="20910697" y="53578"/>
                  </a:lnTo>
                  <a:lnTo>
                    <a:pt x="0" y="53578"/>
                  </a:lnTo>
                  <a:close/>
                </a:path>
              </a:pathLst>
            </a:custGeom>
            <a:blipFill>
              <a:blip r:embed="rId25"/>
              <a:stretch>
                <a:fillRect l="-1440" t="-166666" b="-266666"/>
              </a:stretch>
            </a:blipFill>
          </p:spPr>
          <p:txBody>
            <a:bodyPr/>
            <a:lstStyle/>
            <a:p>
              <a:endParaRPr lang="en-US"/>
            </a:p>
          </p:txBody>
        </p:sp>
      </p:grpSp>
      <p:grpSp>
        <p:nvGrpSpPr>
          <p:cNvPr id="50" name="Group 50"/>
          <p:cNvGrpSpPr/>
          <p:nvPr/>
        </p:nvGrpSpPr>
        <p:grpSpPr>
          <a:xfrm>
            <a:off x="1302488" y="6268641"/>
            <a:ext cx="15683023" cy="40184"/>
            <a:chOff x="0" y="0"/>
            <a:chExt cx="20910698" cy="53578"/>
          </a:xfrm>
        </p:grpSpPr>
        <p:sp>
          <p:nvSpPr>
            <p:cNvPr id="51" name="Freeform 51"/>
            <p:cNvSpPr/>
            <p:nvPr/>
          </p:nvSpPr>
          <p:spPr>
            <a:xfrm>
              <a:off x="0" y="0"/>
              <a:ext cx="20910697" cy="53578"/>
            </a:xfrm>
            <a:custGeom>
              <a:avLst/>
              <a:gdLst/>
              <a:ahLst/>
              <a:cxnLst/>
              <a:rect l="l" t="t" r="r" b="b"/>
              <a:pathLst>
                <a:path w="20910697" h="53578">
                  <a:moveTo>
                    <a:pt x="0" y="0"/>
                  </a:moveTo>
                  <a:lnTo>
                    <a:pt x="20910697" y="0"/>
                  </a:lnTo>
                  <a:lnTo>
                    <a:pt x="20910697" y="53578"/>
                  </a:lnTo>
                  <a:lnTo>
                    <a:pt x="0" y="53578"/>
                  </a:lnTo>
                  <a:close/>
                </a:path>
              </a:pathLst>
            </a:custGeom>
            <a:blipFill>
              <a:blip r:embed="rId26"/>
              <a:stretch>
                <a:fillRect l="-1440" t="-133333" b="-300000"/>
              </a:stretch>
            </a:blipFill>
          </p:spPr>
          <p:txBody>
            <a:bodyPr/>
            <a:lstStyle/>
            <a:p>
              <a:endParaRPr lang="en-US"/>
            </a:p>
          </p:txBody>
        </p:sp>
      </p:grpSp>
      <p:grpSp>
        <p:nvGrpSpPr>
          <p:cNvPr id="52" name="Group 52"/>
          <p:cNvGrpSpPr/>
          <p:nvPr/>
        </p:nvGrpSpPr>
        <p:grpSpPr>
          <a:xfrm>
            <a:off x="1129709" y="6616898"/>
            <a:ext cx="465174" cy="455414"/>
            <a:chOff x="0" y="0"/>
            <a:chExt cx="620233" cy="607219"/>
          </a:xfrm>
        </p:grpSpPr>
        <p:sp>
          <p:nvSpPr>
            <p:cNvPr id="53" name="Freeform 53"/>
            <p:cNvSpPr/>
            <p:nvPr/>
          </p:nvSpPr>
          <p:spPr>
            <a:xfrm>
              <a:off x="0" y="0"/>
              <a:ext cx="620233" cy="607219"/>
            </a:xfrm>
            <a:custGeom>
              <a:avLst/>
              <a:gdLst/>
              <a:ahLst/>
              <a:cxnLst/>
              <a:rect l="l" t="t" r="r" b="b"/>
              <a:pathLst>
                <a:path w="620233" h="607219">
                  <a:moveTo>
                    <a:pt x="0" y="0"/>
                  </a:moveTo>
                  <a:lnTo>
                    <a:pt x="620233" y="0"/>
                  </a:lnTo>
                  <a:lnTo>
                    <a:pt x="620233" y="607219"/>
                  </a:lnTo>
                  <a:lnTo>
                    <a:pt x="0" y="607219"/>
                  </a:lnTo>
                  <a:close/>
                </a:path>
              </a:pathLst>
            </a:custGeom>
            <a:blipFill>
              <a:blip r:embed="rId27"/>
              <a:stretch>
                <a:fillRect l="-11428" t="-41176" r="-34285"/>
              </a:stretch>
            </a:blipFill>
          </p:spPr>
          <p:txBody>
            <a:bodyPr/>
            <a:lstStyle/>
            <a:p>
              <a:endParaRPr lang="en-US"/>
            </a:p>
          </p:txBody>
        </p:sp>
      </p:grpSp>
      <p:grpSp>
        <p:nvGrpSpPr>
          <p:cNvPr id="54" name="Group 54"/>
          <p:cNvGrpSpPr/>
          <p:nvPr/>
        </p:nvGrpSpPr>
        <p:grpSpPr>
          <a:xfrm>
            <a:off x="16706407" y="6616898"/>
            <a:ext cx="451884" cy="455414"/>
            <a:chOff x="0" y="0"/>
            <a:chExt cx="602512" cy="607219"/>
          </a:xfrm>
        </p:grpSpPr>
        <p:sp>
          <p:nvSpPr>
            <p:cNvPr id="55" name="Freeform 55"/>
            <p:cNvSpPr/>
            <p:nvPr/>
          </p:nvSpPr>
          <p:spPr>
            <a:xfrm>
              <a:off x="0" y="0"/>
              <a:ext cx="602512" cy="607219"/>
            </a:xfrm>
            <a:custGeom>
              <a:avLst/>
              <a:gdLst/>
              <a:ahLst/>
              <a:cxnLst/>
              <a:rect l="l" t="t" r="r" b="b"/>
              <a:pathLst>
                <a:path w="602512" h="607219">
                  <a:moveTo>
                    <a:pt x="0" y="0"/>
                  </a:moveTo>
                  <a:lnTo>
                    <a:pt x="602512" y="0"/>
                  </a:lnTo>
                  <a:lnTo>
                    <a:pt x="602512" y="607219"/>
                  </a:lnTo>
                  <a:lnTo>
                    <a:pt x="0" y="607219"/>
                  </a:lnTo>
                  <a:close/>
                </a:path>
              </a:pathLst>
            </a:custGeom>
            <a:blipFill>
              <a:blip r:embed="rId28"/>
              <a:stretch>
                <a:fillRect l="-38235" t="-41176" r="-11764"/>
              </a:stretch>
            </a:blipFill>
          </p:spPr>
          <p:txBody>
            <a:bodyPr/>
            <a:lstStyle/>
            <a:p>
              <a:endParaRPr lang="en-US"/>
            </a:p>
          </p:txBody>
        </p:sp>
      </p:grpSp>
      <p:grpSp>
        <p:nvGrpSpPr>
          <p:cNvPr id="56" name="Group 56"/>
          <p:cNvGrpSpPr/>
          <p:nvPr/>
        </p:nvGrpSpPr>
        <p:grpSpPr>
          <a:xfrm>
            <a:off x="970221" y="7500938"/>
            <a:ext cx="16347558" cy="2009180"/>
            <a:chOff x="0" y="0"/>
            <a:chExt cx="21796744" cy="2678906"/>
          </a:xfrm>
        </p:grpSpPr>
        <p:sp>
          <p:nvSpPr>
            <p:cNvPr id="57" name="Freeform 57"/>
            <p:cNvSpPr/>
            <p:nvPr/>
          </p:nvSpPr>
          <p:spPr>
            <a:xfrm>
              <a:off x="0" y="0"/>
              <a:ext cx="21796744" cy="2678906"/>
            </a:xfrm>
            <a:custGeom>
              <a:avLst/>
              <a:gdLst/>
              <a:ahLst/>
              <a:cxnLst/>
              <a:rect l="l" t="t" r="r" b="b"/>
              <a:pathLst>
                <a:path w="21796744" h="2678906">
                  <a:moveTo>
                    <a:pt x="0" y="0"/>
                  </a:moveTo>
                  <a:lnTo>
                    <a:pt x="21796744" y="0"/>
                  </a:lnTo>
                  <a:lnTo>
                    <a:pt x="21796744" y="2678906"/>
                  </a:lnTo>
                  <a:lnTo>
                    <a:pt x="0" y="2678906"/>
                  </a:lnTo>
                  <a:close/>
                </a:path>
              </a:pathLst>
            </a:custGeom>
            <a:blipFill>
              <a:blip r:embed="rId29"/>
              <a:stretch>
                <a:fillRect l="-650" r="-650" b="-6666"/>
              </a:stretch>
            </a:blipFill>
          </p:spPr>
          <p:txBody>
            <a:bodyPr/>
            <a:lstStyle/>
            <a:p>
              <a:endParaRPr lang="en-US"/>
            </a:p>
          </p:txBody>
        </p:sp>
      </p:grpSp>
      <p:grpSp>
        <p:nvGrpSpPr>
          <p:cNvPr id="58" name="Group 58"/>
          <p:cNvGrpSpPr/>
          <p:nvPr/>
        </p:nvGrpSpPr>
        <p:grpSpPr>
          <a:xfrm>
            <a:off x="1528430" y="8117086"/>
            <a:ext cx="863895" cy="817066"/>
            <a:chOff x="0" y="0"/>
            <a:chExt cx="1151860" cy="1089422"/>
          </a:xfrm>
        </p:grpSpPr>
        <p:sp>
          <p:nvSpPr>
            <p:cNvPr id="59" name="Freeform 59"/>
            <p:cNvSpPr/>
            <p:nvPr/>
          </p:nvSpPr>
          <p:spPr>
            <a:xfrm>
              <a:off x="0" y="0"/>
              <a:ext cx="1151861" cy="1089422"/>
            </a:xfrm>
            <a:custGeom>
              <a:avLst/>
              <a:gdLst/>
              <a:ahLst/>
              <a:cxnLst/>
              <a:rect l="l" t="t" r="r" b="b"/>
              <a:pathLst>
                <a:path w="1151861" h="1089422">
                  <a:moveTo>
                    <a:pt x="0" y="0"/>
                  </a:moveTo>
                  <a:lnTo>
                    <a:pt x="1151861" y="0"/>
                  </a:lnTo>
                  <a:lnTo>
                    <a:pt x="1151861" y="1089422"/>
                  </a:lnTo>
                  <a:lnTo>
                    <a:pt x="0" y="1089422"/>
                  </a:lnTo>
                  <a:close/>
                </a:path>
              </a:pathLst>
            </a:custGeom>
            <a:blipFill>
              <a:blip r:embed="rId30"/>
              <a:stretch>
                <a:fillRect l="-1538" t="-22950" r="-1538" b="-8196"/>
              </a:stretch>
            </a:blipFill>
          </p:spPr>
          <p:txBody>
            <a:bodyPr/>
            <a:lstStyle/>
            <a:p>
              <a:endParaRPr lang="en-US"/>
            </a:p>
          </p:txBody>
        </p:sp>
      </p:grpSp>
      <p:sp>
        <p:nvSpPr>
          <p:cNvPr id="60" name="TextBox 60"/>
          <p:cNvSpPr txBox="1"/>
          <p:nvPr/>
        </p:nvSpPr>
        <p:spPr>
          <a:xfrm>
            <a:off x="1463040" y="824353"/>
            <a:ext cx="13642848" cy="809625"/>
          </a:xfrm>
          <a:prstGeom prst="rect">
            <a:avLst/>
          </a:prstGeom>
        </p:spPr>
        <p:txBody>
          <a:bodyPr lIns="0" tIns="0" rIns="0" bIns="0" rtlCol="0" anchor="t">
            <a:spAutoFit/>
          </a:bodyPr>
          <a:lstStyle/>
          <a:p>
            <a:pPr algn="l">
              <a:lnSpc>
                <a:spcPts val="6390"/>
              </a:lnSpc>
            </a:pPr>
            <a:r>
              <a:rPr lang="en-US" sz="5325" b="1">
                <a:solidFill>
                  <a:srgbClr val="394860"/>
                </a:solidFill>
                <a:latin typeface="Roboto Mono Bold"/>
                <a:ea typeface="Roboto Mono Bold"/>
                <a:cs typeface="Roboto Mono Bold"/>
                <a:sym typeface="Roboto Mono Bold"/>
              </a:rPr>
              <a:t>The Property Universe (config.py)</a:t>
            </a:r>
          </a:p>
        </p:txBody>
      </p:sp>
      <p:sp>
        <p:nvSpPr>
          <p:cNvPr id="61" name="TextBox 61"/>
          <p:cNvSpPr txBox="1"/>
          <p:nvPr/>
        </p:nvSpPr>
        <p:spPr>
          <a:xfrm>
            <a:off x="1463040" y="1734794"/>
            <a:ext cx="15072360" cy="457200"/>
          </a:xfrm>
          <a:prstGeom prst="rect">
            <a:avLst/>
          </a:prstGeom>
        </p:spPr>
        <p:txBody>
          <a:bodyPr wrap="square" lIns="0" tIns="0" rIns="0" bIns="0" rtlCol="0" anchor="t">
            <a:spAutoFit/>
          </a:bodyPr>
          <a:lstStyle/>
          <a:p>
            <a:pPr algn="l">
              <a:lnSpc>
                <a:spcPts val="3688"/>
              </a:lnSpc>
            </a:pPr>
            <a:r>
              <a:rPr lang="en-US" sz="3074" dirty="0">
                <a:solidFill>
                  <a:srgbClr val="000000"/>
                </a:solidFill>
                <a:latin typeface="Roboto Mono"/>
                <a:ea typeface="Roboto Mono"/>
                <a:cs typeface="Roboto Mono"/>
                <a:sym typeface="Roboto Mono"/>
              </a:rPr>
              <a:t>Sandbox: 60 properties | 5 archetypes | 1,096 arrival dates</a:t>
            </a:r>
          </a:p>
        </p:txBody>
      </p:sp>
      <p:sp>
        <p:nvSpPr>
          <p:cNvPr id="62" name="TextBox 62"/>
          <p:cNvSpPr txBox="1"/>
          <p:nvPr/>
        </p:nvSpPr>
        <p:spPr>
          <a:xfrm>
            <a:off x="7589520" y="2636258"/>
            <a:ext cx="3108960" cy="371475"/>
          </a:xfrm>
          <a:prstGeom prst="rect">
            <a:avLst/>
          </a:prstGeom>
        </p:spPr>
        <p:txBody>
          <a:bodyPr lIns="0" tIns="0" rIns="0" bIns="0" rtlCol="0" anchor="t">
            <a:spAutoFit/>
          </a:bodyPr>
          <a:lstStyle/>
          <a:p>
            <a:pPr algn="ctr">
              <a:lnSpc>
                <a:spcPts val="2951"/>
              </a:lnSpc>
            </a:pPr>
            <a:r>
              <a:rPr lang="en-US" sz="2459" b="1">
                <a:solidFill>
                  <a:srgbClr val="000000"/>
                </a:solidFill>
                <a:latin typeface="Roboto Mono Bold"/>
                <a:ea typeface="Roboto Mono Bold"/>
                <a:cs typeface="Roboto Mono Bold"/>
                <a:sym typeface="Roboto Mono Bold"/>
              </a:rPr>
              <a:t>Archetype Matrix</a:t>
            </a:r>
          </a:p>
        </p:txBody>
      </p:sp>
      <p:sp>
        <p:nvSpPr>
          <p:cNvPr id="63" name="TextBox 63"/>
          <p:cNvSpPr txBox="1"/>
          <p:nvPr/>
        </p:nvSpPr>
        <p:spPr>
          <a:xfrm>
            <a:off x="1463040" y="3314718"/>
            <a:ext cx="1517904" cy="333375"/>
          </a:xfrm>
          <a:prstGeom prst="rect">
            <a:avLst/>
          </a:prstGeom>
        </p:spPr>
        <p:txBody>
          <a:bodyPr lIns="0" tIns="0" rIns="0" bIns="0" rtlCol="0" anchor="t">
            <a:spAutoFit/>
          </a:bodyPr>
          <a:lstStyle/>
          <a:p>
            <a:pPr algn="l">
              <a:lnSpc>
                <a:spcPts val="2637"/>
              </a:lnSpc>
            </a:pPr>
            <a:r>
              <a:rPr lang="en-US" sz="2197" b="1">
                <a:solidFill>
                  <a:srgbClr val="000000"/>
                </a:solidFill>
                <a:latin typeface="Roboto Mono Bold"/>
                <a:ea typeface="Roboto Mono Bold"/>
                <a:cs typeface="Roboto Mono Bold"/>
                <a:sym typeface="Roboto Mono Bold"/>
              </a:rPr>
              <a:t>Archetype</a:t>
            </a:r>
          </a:p>
        </p:txBody>
      </p:sp>
      <p:sp>
        <p:nvSpPr>
          <p:cNvPr id="64" name="TextBox 64"/>
          <p:cNvSpPr txBox="1"/>
          <p:nvPr/>
        </p:nvSpPr>
        <p:spPr>
          <a:xfrm>
            <a:off x="4370832" y="3314718"/>
            <a:ext cx="1353312" cy="333375"/>
          </a:xfrm>
          <a:prstGeom prst="rect">
            <a:avLst/>
          </a:prstGeom>
        </p:spPr>
        <p:txBody>
          <a:bodyPr lIns="0" tIns="0" rIns="0" bIns="0" rtlCol="0" anchor="t">
            <a:spAutoFit/>
          </a:bodyPr>
          <a:lstStyle/>
          <a:p>
            <a:pPr algn="l">
              <a:lnSpc>
                <a:spcPts val="2637"/>
              </a:lnSpc>
            </a:pPr>
            <a:r>
              <a:rPr lang="en-US" sz="2197" b="1">
                <a:solidFill>
                  <a:srgbClr val="000000"/>
                </a:solidFill>
                <a:latin typeface="Roboto Mono Bold"/>
                <a:ea typeface="Roboto Mono Bold"/>
                <a:cs typeface="Roboto Mono Bold"/>
                <a:sym typeface="Roboto Mono Bold"/>
              </a:rPr>
              <a:t>Capacity</a:t>
            </a:r>
          </a:p>
        </p:txBody>
      </p:sp>
      <p:sp>
        <p:nvSpPr>
          <p:cNvPr id="65" name="TextBox 65"/>
          <p:cNvSpPr txBox="1"/>
          <p:nvPr/>
        </p:nvSpPr>
        <p:spPr>
          <a:xfrm>
            <a:off x="6309360" y="3301323"/>
            <a:ext cx="731520" cy="352425"/>
          </a:xfrm>
          <a:prstGeom prst="rect">
            <a:avLst/>
          </a:prstGeom>
        </p:spPr>
        <p:txBody>
          <a:bodyPr lIns="0" tIns="0" rIns="0" bIns="0" rtlCol="0" anchor="t">
            <a:spAutoFit/>
          </a:bodyPr>
          <a:lstStyle/>
          <a:p>
            <a:pPr algn="l">
              <a:lnSpc>
                <a:spcPts val="2825"/>
              </a:lnSpc>
            </a:pPr>
            <a:r>
              <a:rPr lang="en-US" sz="2354" b="1">
                <a:solidFill>
                  <a:srgbClr val="000000"/>
                </a:solidFill>
                <a:latin typeface="Roboto Mono Bold"/>
                <a:ea typeface="Roboto Mono Bold"/>
                <a:cs typeface="Roboto Mono Bold"/>
                <a:sym typeface="Roboto Mono Bold"/>
              </a:rPr>
              <a:t>Base</a:t>
            </a:r>
          </a:p>
        </p:txBody>
      </p:sp>
      <p:sp>
        <p:nvSpPr>
          <p:cNvPr id="66" name="TextBox 66"/>
          <p:cNvSpPr txBox="1"/>
          <p:nvPr/>
        </p:nvSpPr>
        <p:spPr>
          <a:xfrm>
            <a:off x="7114032" y="3301323"/>
            <a:ext cx="1097280" cy="352425"/>
          </a:xfrm>
          <a:prstGeom prst="rect">
            <a:avLst/>
          </a:prstGeom>
        </p:spPr>
        <p:txBody>
          <a:bodyPr lIns="0" tIns="0" rIns="0" bIns="0" rtlCol="0" anchor="t">
            <a:spAutoFit/>
          </a:bodyPr>
          <a:lstStyle/>
          <a:p>
            <a:pPr algn="l">
              <a:lnSpc>
                <a:spcPts val="2825"/>
              </a:lnSpc>
            </a:pPr>
            <a:r>
              <a:rPr lang="en-US" sz="2354" b="1">
                <a:solidFill>
                  <a:srgbClr val="000000"/>
                </a:solidFill>
                <a:latin typeface="Roboto Mono Bold"/>
                <a:ea typeface="Roboto Mono Bold"/>
                <a:cs typeface="Roboto Mono Bold"/>
                <a:sym typeface="Roboto Mono Bold"/>
              </a:rPr>
              <a:t>Demand</a:t>
            </a:r>
          </a:p>
        </p:txBody>
      </p:sp>
      <p:sp>
        <p:nvSpPr>
          <p:cNvPr id="67" name="TextBox 67"/>
          <p:cNvSpPr txBox="1"/>
          <p:nvPr/>
        </p:nvSpPr>
        <p:spPr>
          <a:xfrm>
            <a:off x="8540496" y="3314718"/>
            <a:ext cx="512064" cy="333375"/>
          </a:xfrm>
          <a:prstGeom prst="rect">
            <a:avLst/>
          </a:prstGeom>
        </p:spPr>
        <p:txBody>
          <a:bodyPr lIns="0" tIns="0" rIns="0" bIns="0" rtlCol="0" anchor="t">
            <a:spAutoFit/>
          </a:bodyPr>
          <a:lstStyle/>
          <a:p>
            <a:pPr algn="l">
              <a:lnSpc>
                <a:spcPts val="2637"/>
              </a:lnSpc>
            </a:pPr>
            <a:r>
              <a:rPr lang="en-US" sz="2197" b="1">
                <a:solidFill>
                  <a:srgbClr val="000000"/>
                </a:solidFill>
                <a:latin typeface="Roboto Mono Bold"/>
                <a:ea typeface="Roboto Mono Bold"/>
                <a:cs typeface="Roboto Mono Bold"/>
                <a:sym typeface="Roboto Mono Bold"/>
              </a:rPr>
              <a:t>ADR</a:t>
            </a:r>
          </a:p>
        </p:txBody>
      </p:sp>
      <p:sp>
        <p:nvSpPr>
          <p:cNvPr id="68" name="TextBox 68"/>
          <p:cNvSpPr txBox="1"/>
          <p:nvPr/>
        </p:nvSpPr>
        <p:spPr>
          <a:xfrm>
            <a:off x="10186416" y="3314718"/>
            <a:ext cx="1517904" cy="333375"/>
          </a:xfrm>
          <a:prstGeom prst="rect">
            <a:avLst/>
          </a:prstGeom>
        </p:spPr>
        <p:txBody>
          <a:bodyPr lIns="0" tIns="0" rIns="0" bIns="0" rtlCol="0" anchor="t">
            <a:spAutoFit/>
          </a:bodyPr>
          <a:lstStyle/>
          <a:p>
            <a:pPr algn="l">
              <a:lnSpc>
                <a:spcPts val="2637"/>
              </a:lnSpc>
            </a:pPr>
            <a:r>
              <a:rPr lang="en-US" sz="2197" b="1">
                <a:solidFill>
                  <a:srgbClr val="000000"/>
                </a:solidFill>
                <a:latin typeface="Roboto Mono Bold"/>
                <a:ea typeface="Roboto Mono Bold"/>
                <a:cs typeface="Roboto Mono Bold"/>
                <a:sym typeface="Roboto Mono Bold"/>
              </a:rPr>
              <a:t>Character</a:t>
            </a:r>
          </a:p>
        </p:txBody>
      </p:sp>
      <p:sp>
        <p:nvSpPr>
          <p:cNvPr id="69" name="TextBox 69"/>
          <p:cNvSpPr txBox="1"/>
          <p:nvPr/>
        </p:nvSpPr>
        <p:spPr>
          <a:xfrm>
            <a:off x="1463040" y="3884267"/>
            <a:ext cx="2852928" cy="2799686"/>
          </a:xfrm>
          <a:prstGeom prst="rect">
            <a:avLst/>
          </a:prstGeom>
        </p:spPr>
        <p:txBody>
          <a:bodyPr lIns="0" tIns="0" rIns="0" bIns="0" rtlCol="0" anchor="t">
            <a:spAutoFit/>
          </a:bodyPr>
          <a:lstStyle/>
          <a:p>
            <a:pPr algn="l">
              <a:lnSpc>
                <a:spcPts val="4513"/>
              </a:lnSpc>
            </a:pPr>
            <a:r>
              <a:rPr lang="en-US" sz="2256">
                <a:solidFill>
                  <a:srgbClr val="000000"/>
                </a:solidFill>
                <a:latin typeface="Roboto Mono"/>
                <a:ea typeface="Roboto Mono"/>
                <a:cs typeface="Roboto Mono"/>
                <a:sym typeface="Roboto Mono"/>
              </a:rPr>
              <a:t>Urban Business</a:t>
            </a:r>
          </a:p>
          <a:p>
            <a:pPr algn="l">
              <a:lnSpc>
                <a:spcPts val="4513"/>
              </a:lnSpc>
            </a:pPr>
            <a:r>
              <a:rPr lang="en-US" sz="2256">
                <a:solidFill>
                  <a:srgbClr val="000000"/>
                </a:solidFill>
                <a:latin typeface="Roboto Mono"/>
                <a:ea typeface="Roboto Mono"/>
                <a:cs typeface="Roboto Mono"/>
                <a:sym typeface="Roboto Mono"/>
              </a:rPr>
              <a:t>Resort</a:t>
            </a:r>
          </a:p>
          <a:p>
            <a:pPr algn="l">
              <a:lnSpc>
                <a:spcPts val="4513"/>
              </a:lnSpc>
            </a:pPr>
            <a:r>
              <a:rPr lang="en-US" sz="2256">
                <a:solidFill>
                  <a:srgbClr val="000000"/>
                </a:solidFill>
                <a:latin typeface="Roboto Mono"/>
                <a:ea typeface="Roboto Mono"/>
                <a:cs typeface="Roboto Mono"/>
                <a:sym typeface="Roboto Mono"/>
              </a:rPr>
              <a:t>Airport</a:t>
            </a:r>
          </a:p>
          <a:p>
            <a:pPr algn="l">
              <a:lnSpc>
                <a:spcPts val="4513"/>
              </a:lnSpc>
            </a:pPr>
            <a:r>
              <a:rPr lang="en-US" sz="2256">
                <a:solidFill>
                  <a:srgbClr val="000000"/>
                </a:solidFill>
                <a:latin typeface="Roboto Mono"/>
                <a:ea typeface="Roboto Mono"/>
                <a:cs typeface="Roboto Mono"/>
                <a:sym typeface="Roboto Mono"/>
              </a:rPr>
              <a:t>Convention</a:t>
            </a:r>
          </a:p>
          <a:p>
            <a:pPr algn="l">
              <a:lnSpc>
                <a:spcPts val="4513"/>
              </a:lnSpc>
            </a:pPr>
            <a:r>
              <a:rPr lang="en-US" sz="2256">
                <a:solidFill>
                  <a:srgbClr val="000000"/>
                </a:solidFill>
                <a:latin typeface="Roboto Mono"/>
                <a:ea typeface="Roboto Mono"/>
                <a:cs typeface="Roboto Mono"/>
                <a:sym typeface="Roboto Mono"/>
              </a:rPr>
              <a:t>Suburban Select</a:t>
            </a:r>
          </a:p>
        </p:txBody>
      </p:sp>
      <p:sp>
        <p:nvSpPr>
          <p:cNvPr id="70" name="TextBox 70"/>
          <p:cNvSpPr txBox="1"/>
          <p:nvPr/>
        </p:nvSpPr>
        <p:spPr>
          <a:xfrm>
            <a:off x="4370832" y="3987219"/>
            <a:ext cx="1133856" cy="2625399"/>
          </a:xfrm>
          <a:prstGeom prst="rect">
            <a:avLst/>
          </a:prstGeom>
        </p:spPr>
        <p:txBody>
          <a:bodyPr lIns="0" tIns="0" rIns="0" bIns="0" rtlCol="0" anchor="t">
            <a:spAutoFit/>
          </a:bodyPr>
          <a:lstStyle/>
          <a:p>
            <a:pPr algn="l">
              <a:lnSpc>
                <a:spcPts val="4238"/>
              </a:lnSpc>
            </a:pPr>
            <a:r>
              <a:rPr lang="en-US" sz="2119" dirty="0">
                <a:solidFill>
                  <a:srgbClr val="000000"/>
                </a:solidFill>
                <a:latin typeface="Roboto Mono"/>
                <a:ea typeface="Roboto Mono"/>
                <a:cs typeface="Roboto Mono"/>
                <a:sym typeface="Roboto Mono"/>
              </a:rPr>
              <a:t>120-320</a:t>
            </a:r>
          </a:p>
          <a:p>
            <a:pPr algn="l">
              <a:lnSpc>
                <a:spcPts val="4238"/>
              </a:lnSpc>
            </a:pPr>
            <a:r>
              <a:rPr lang="en-US" sz="2119" dirty="0">
                <a:solidFill>
                  <a:srgbClr val="000000"/>
                </a:solidFill>
                <a:latin typeface="Roboto Mono"/>
                <a:ea typeface="Roboto Mono"/>
                <a:cs typeface="Roboto Mono"/>
                <a:sym typeface="Roboto Mono"/>
              </a:rPr>
              <a:t>180-420</a:t>
            </a:r>
          </a:p>
          <a:p>
            <a:pPr algn="l">
              <a:lnSpc>
                <a:spcPts val="4238"/>
              </a:lnSpc>
            </a:pPr>
            <a:r>
              <a:rPr lang="en-US" sz="2119" dirty="0">
                <a:solidFill>
                  <a:srgbClr val="000000"/>
                </a:solidFill>
                <a:latin typeface="Roboto Mono"/>
                <a:ea typeface="Roboto Mono"/>
                <a:cs typeface="Roboto Mono"/>
                <a:sym typeface="Roboto Mono"/>
              </a:rPr>
              <a:t>90-200</a:t>
            </a:r>
          </a:p>
          <a:p>
            <a:pPr algn="l">
              <a:lnSpc>
                <a:spcPts val="4238"/>
              </a:lnSpc>
            </a:pPr>
            <a:r>
              <a:rPr lang="en-US" sz="2119" dirty="0">
                <a:solidFill>
                  <a:srgbClr val="000000"/>
                </a:solidFill>
                <a:latin typeface="Roboto Mono"/>
                <a:ea typeface="Roboto Mono"/>
                <a:cs typeface="Roboto Mono"/>
                <a:sym typeface="Roboto Mono"/>
              </a:rPr>
              <a:t>300-650</a:t>
            </a:r>
          </a:p>
          <a:p>
            <a:pPr algn="l">
              <a:lnSpc>
                <a:spcPts val="4238"/>
              </a:lnSpc>
            </a:pPr>
            <a:r>
              <a:rPr lang="en-US" sz="2119" dirty="0">
                <a:solidFill>
                  <a:srgbClr val="000000"/>
                </a:solidFill>
                <a:latin typeface="Roboto Mono"/>
                <a:ea typeface="Roboto Mono"/>
                <a:cs typeface="Roboto Mono"/>
                <a:sym typeface="Roboto Mono"/>
              </a:rPr>
              <a:t>80-160</a:t>
            </a:r>
          </a:p>
        </p:txBody>
      </p:sp>
      <p:sp>
        <p:nvSpPr>
          <p:cNvPr id="71" name="TextBox 71"/>
          <p:cNvSpPr txBox="1"/>
          <p:nvPr/>
        </p:nvSpPr>
        <p:spPr>
          <a:xfrm>
            <a:off x="6309360" y="3987219"/>
            <a:ext cx="822960" cy="2613616"/>
          </a:xfrm>
          <a:prstGeom prst="rect">
            <a:avLst/>
          </a:prstGeom>
        </p:spPr>
        <p:txBody>
          <a:bodyPr lIns="0" tIns="0" rIns="0" bIns="0" rtlCol="0" anchor="t">
            <a:spAutoFit/>
          </a:bodyPr>
          <a:lstStyle/>
          <a:p>
            <a:pPr algn="l">
              <a:lnSpc>
                <a:spcPts val="4238"/>
              </a:lnSpc>
            </a:pPr>
            <a:r>
              <a:rPr lang="en-US" sz="2119">
                <a:solidFill>
                  <a:srgbClr val="C69C51"/>
                </a:solidFill>
                <a:latin typeface="Roboto Mono"/>
                <a:ea typeface="Roboto Mono"/>
                <a:cs typeface="Roboto Mono"/>
                <a:sym typeface="Roboto Mono"/>
              </a:rPr>
              <a:t>0.936</a:t>
            </a:r>
          </a:p>
          <a:p>
            <a:pPr algn="l">
              <a:lnSpc>
                <a:spcPts val="4238"/>
              </a:lnSpc>
            </a:pPr>
            <a:r>
              <a:rPr lang="en-US" sz="2119">
                <a:solidFill>
                  <a:srgbClr val="C69C51"/>
                </a:solidFill>
                <a:latin typeface="Roboto Mono"/>
                <a:ea typeface="Roboto Mono"/>
                <a:cs typeface="Roboto Mono"/>
                <a:sym typeface="Roboto Mono"/>
              </a:rPr>
              <a:t>0.884</a:t>
            </a:r>
          </a:p>
          <a:p>
            <a:pPr algn="l">
              <a:lnSpc>
                <a:spcPts val="4238"/>
              </a:lnSpc>
            </a:pPr>
            <a:r>
              <a:rPr lang="en-US" sz="2119">
                <a:solidFill>
                  <a:srgbClr val="C69C51"/>
                </a:solidFill>
                <a:latin typeface="Roboto Mono"/>
                <a:ea typeface="Roboto Mono"/>
                <a:cs typeface="Roboto Mono"/>
                <a:sym typeface="Roboto Mono"/>
              </a:rPr>
              <a:t>1.014</a:t>
            </a:r>
          </a:p>
          <a:p>
            <a:pPr algn="l">
              <a:lnSpc>
                <a:spcPts val="4238"/>
              </a:lnSpc>
            </a:pPr>
            <a:r>
              <a:rPr lang="en-US" sz="2119">
                <a:solidFill>
                  <a:srgbClr val="C69C51"/>
                </a:solidFill>
                <a:latin typeface="Roboto Mono"/>
                <a:ea typeface="Roboto Mono"/>
                <a:cs typeface="Roboto Mono"/>
                <a:sym typeface="Roboto Mono"/>
              </a:rPr>
              <a:t>0.845</a:t>
            </a:r>
          </a:p>
          <a:p>
            <a:pPr algn="l">
              <a:lnSpc>
                <a:spcPts val="4238"/>
              </a:lnSpc>
            </a:pPr>
            <a:r>
              <a:rPr lang="en-US" sz="2119">
                <a:solidFill>
                  <a:srgbClr val="C69C51"/>
                </a:solidFill>
                <a:latin typeface="Roboto Mono"/>
                <a:ea typeface="Roboto Mono"/>
                <a:cs typeface="Roboto Mono"/>
                <a:sym typeface="Roboto Mono"/>
              </a:rPr>
              <a:t>0.910</a:t>
            </a:r>
          </a:p>
        </p:txBody>
      </p:sp>
      <p:sp>
        <p:nvSpPr>
          <p:cNvPr id="72" name="TextBox 72"/>
          <p:cNvSpPr txBox="1"/>
          <p:nvPr/>
        </p:nvSpPr>
        <p:spPr>
          <a:xfrm>
            <a:off x="8540496" y="3987219"/>
            <a:ext cx="1133856" cy="2613616"/>
          </a:xfrm>
          <a:prstGeom prst="rect">
            <a:avLst/>
          </a:prstGeom>
        </p:spPr>
        <p:txBody>
          <a:bodyPr lIns="0" tIns="0" rIns="0" bIns="0" rtlCol="0" anchor="t">
            <a:spAutoFit/>
          </a:bodyPr>
          <a:lstStyle/>
          <a:p>
            <a:pPr algn="l">
              <a:lnSpc>
                <a:spcPts val="4238"/>
              </a:lnSpc>
            </a:pPr>
            <a:r>
              <a:rPr lang="en-US" sz="2119">
                <a:solidFill>
                  <a:srgbClr val="C69C51"/>
                </a:solidFill>
                <a:latin typeface="Roboto Mono"/>
                <a:ea typeface="Roboto Mono"/>
                <a:cs typeface="Roboto Mono"/>
                <a:sym typeface="Roboto Mono"/>
              </a:rPr>
              <a:t>180-320</a:t>
            </a:r>
          </a:p>
          <a:p>
            <a:pPr algn="l">
              <a:lnSpc>
                <a:spcPts val="4238"/>
              </a:lnSpc>
            </a:pPr>
            <a:r>
              <a:rPr lang="en-US" sz="2119">
                <a:solidFill>
                  <a:srgbClr val="C69C51"/>
                </a:solidFill>
                <a:latin typeface="Roboto Mono"/>
                <a:ea typeface="Roboto Mono"/>
                <a:cs typeface="Roboto Mono"/>
                <a:sym typeface="Roboto Mono"/>
              </a:rPr>
              <a:t>260-620</a:t>
            </a:r>
          </a:p>
          <a:p>
            <a:pPr algn="l">
              <a:lnSpc>
                <a:spcPts val="4238"/>
              </a:lnSpc>
            </a:pPr>
            <a:r>
              <a:rPr lang="en-US" sz="2119">
                <a:solidFill>
                  <a:srgbClr val="C69C51"/>
                </a:solidFill>
                <a:latin typeface="Roboto Mono"/>
                <a:ea typeface="Roboto Mono"/>
                <a:cs typeface="Roboto Mono"/>
                <a:sym typeface="Roboto Mono"/>
              </a:rPr>
              <a:t>120-190</a:t>
            </a:r>
          </a:p>
          <a:p>
            <a:pPr algn="l">
              <a:lnSpc>
                <a:spcPts val="4238"/>
              </a:lnSpc>
            </a:pPr>
            <a:r>
              <a:rPr lang="en-US" sz="2119">
                <a:solidFill>
                  <a:srgbClr val="C69C51"/>
                </a:solidFill>
                <a:latin typeface="Roboto Mono"/>
                <a:ea typeface="Roboto Mono"/>
                <a:cs typeface="Roboto Mono"/>
                <a:sym typeface="Roboto Mono"/>
              </a:rPr>
              <a:t>200-380</a:t>
            </a:r>
          </a:p>
          <a:p>
            <a:pPr algn="l">
              <a:lnSpc>
                <a:spcPts val="4238"/>
              </a:lnSpc>
            </a:pPr>
            <a:r>
              <a:rPr lang="en-US" sz="2119">
                <a:solidFill>
                  <a:srgbClr val="C69C51"/>
                </a:solidFill>
                <a:latin typeface="Roboto Mono"/>
                <a:ea typeface="Roboto Mono"/>
                <a:cs typeface="Roboto Mono"/>
                <a:sym typeface="Roboto Mono"/>
              </a:rPr>
              <a:t>110-165</a:t>
            </a:r>
          </a:p>
        </p:txBody>
      </p:sp>
      <p:sp>
        <p:nvSpPr>
          <p:cNvPr id="73" name="TextBox 73"/>
          <p:cNvSpPr txBox="1"/>
          <p:nvPr/>
        </p:nvSpPr>
        <p:spPr>
          <a:xfrm>
            <a:off x="10186416" y="3946551"/>
            <a:ext cx="6766560" cy="2666114"/>
          </a:xfrm>
          <a:prstGeom prst="rect">
            <a:avLst/>
          </a:prstGeom>
        </p:spPr>
        <p:txBody>
          <a:bodyPr lIns="0" tIns="0" rIns="0" bIns="0" rtlCol="0" anchor="t">
            <a:spAutoFit/>
          </a:bodyPr>
          <a:lstStyle/>
          <a:p>
            <a:pPr algn="l">
              <a:lnSpc>
                <a:spcPts val="4329"/>
              </a:lnSpc>
            </a:pPr>
            <a:r>
              <a:rPr lang="en-US" sz="2164">
                <a:solidFill>
                  <a:srgbClr val="000000"/>
                </a:solidFill>
                <a:latin typeface="Roboto Mono"/>
                <a:ea typeface="Roboto Mono"/>
                <a:cs typeface="Roboto Mono"/>
                <a:sym typeface="Roboto Mono"/>
              </a:rPr>
              <a:t>Tue/Wed peak, dead weekends, Dec collapse</a:t>
            </a:r>
          </a:p>
          <a:p>
            <a:pPr algn="l">
              <a:lnSpc>
                <a:spcPts val="4329"/>
              </a:lnSpc>
            </a:pPr>
            <a:r>
              <a:rPr lang="en-US" sz="2164">
                <a:solidFill>
                  <a:srgbClr val="000000"/>
                </a:solidFill>
                <a:latin typeface="Roboto Mono"/>
                <a:ea typeface="Roboto Mono"/>
                <a:cs typeface="Roboto Mono"/>
                <a:sym typeface="Roboto Mono"/>
              </a:rPr>
              <a:t>Fri/Sat + summer/holiday peak</a:t>
            </a:r>
          </a:p>
          <a:p>
            <a:pPr algn="l">
              <a:lnSpc>
                <a:spcPts val="4329"/>
              </a:lnSpc>
            </a:pPr>
            <a:r>
              <a:rPr lang="en-US" sz="2164">
                <a:solidFill>
                  <a:srgbClr val="000000"/>
                </a:solidFill>
                <a:latin typeface="Roboto Mono"/>
                <a:ea typeface="Roboto Mono"/>
                <a:cs typeface="Roboto Mono"/>
                <a:sym typeface="Roboto Mono"/>
              </a:rPr>
              <a:t>Flat seasonality</a:t>
            </a:r>
          </a:p>
          <a:p>
            <a:pPr algn="l">
              <a:lnSpc>
                <a:spcPts val="4329"/>
              </a:lnSpc>
            </a:pPr>
            <a:r>
              <a:rPr lang="en-US" sz="2164">
                <a:solidFill>
                  <a:srgbClr val="000000"/>
                </a:solidFill>
                <a:latin typeface="Roboto Mono"/>
                <a:ea typeface="Roboto Mono"/>
                <a:cs typeface="Roboto Mono"/>
                <a:sym typeface="Roboto Mono"/>
              </a:rPr>
              <a:t>Event-driven spikes (1.45-2.20x)</a:t>
            </a:r>
          </a:p>
          <a:p>
            <a:pPr algn="l">
              <a:lnSpc>
                <a:spcPts val="4329"/>
              </a:lnSpc>
            </a:pPr>
            <a:r>
              <a:rPr lang="en-US" sz="2164">
                <a:solidFill>
                  <a:srgbClr val="000000"/>
                </a:solidFill>
                <a:latin typeface="Roboto Mono"/>
                <a:ea typeface="Roboto Mono"/>
                <a:cs typeface="Roboto Mono"/>
                <a:sym typeface="Roboto Mono"/>
              </a:rPr>
              <a:t>Mild everything</a:t>
            </a:r>
          </a:p>
        </p:txBody>
      </p:sp>
      <p:sp>
        <p:nvSpPr>
          <p:cNvPr id="74" name="TextBox 74"/>
          <p:cNvSpPr txBox="1"/>
          <p:nvPr/>
        </p:nvSpPr>
        <p:spPr>
          <a:xfrm>
            <a:off x="16989552" y="9977491"/>
            <a:ext cx="1225296" cy="161925"/>
          </a:xfrm>
          <a:prstGeom prst="rect">
            <a:avLst/>
          </a:prstGeom>
        </p:spPr>
        <p:txBody>
          <a:bodyPr lIns="0" tIns="0" rIns="0" bIns="0" rtlCol="0" anchor="t">
            <a:spAutoFit/>
          </a:bodyPr>
          <a:lstStyle/>
          <a:p>
            <a:pPr algn="r">
              <a:lnSpc>
                <a:spcPts val="1240"/>
              </a:lnSpc>
            </a:pPr>
            <a:r>
              <a:rPr lang="en-US" sz="1033">
                <a:solidFill>
                  <a:srgbClr val="000000"/>
                </a:solidFill>
                <a:latin typeface="Roboto Mono"/>
                <a:ea typeface="Roboto Mono"/>
                <a:cs typeface="Roboto Mono"/>
                <a:sym typeface="Roboto Mono"/>
              </a:rPr>
              <a:t>Gemini Notebook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txBody>
            <a:bodyPr/>
            <a:lstStyle/>
            <a:p>
              <a:endParaRPr lang="en-US"/>
            </a:p>
          </p:txBody>
        </p:sp>
      </p:grpSp>
      <p:grpSp>
        <p:nvGrpSpPr>
          <p:cNvPr id="4" name="Group 4"/>
          <p:cNvGrpSpPr/>
          <p:nvPr/>
        </p:nvGrpSpPr>
        <p:grpSpPr>
          <a:xfrm>
            <a:off x="6525733" y="4286250"/>
            <a:ext cx="1010093" cy="2786062"/>
            <a:chOff x="0" y="0"/>
            <a:chExt cx="1346791" cy="3714750"/>
          </a:xfrm>
        </p:grpSpPr>
        <p:sp>
          <p:nvSpPr>
            <p:cNvPr id="5" name="Freeform 5"/>
            <p:cNvSpPr/>
            <p:nvPr/>
          </p:nvSpPr>
          <p:spPr>
            <a:xfrm>
              <a:off x="0" y="0"/>
              <a:ext cx="1346791" cy="3714750"/>
            </a:xfrm>
            <a:custGeom>
              <a:avLst/>
              <a:gdLst/>
              <a:ahLst/>
              <a:cxnLst/>
              <a:rect l="l" t="t" r="r" b="b"/>
              <a:pathLst>
                <a:path w="1346791" h="3714750">
                  <a:moveTo>
                    <a:pt x="0" y="0"/>
                  </a:moveTo>
                  <a:lnTo>
                    <a:pt x="1346791" y="0"/>
                  </a:lnTo>
                  <a:lnTo>
                    <a:pt x="1346791" y="3714750"/>
                  </a:lnTo>
                  <a:lnTo>
                    <a:pt x="0" y="3714750"/>
                  </a:lnTo>
                  <a:close/>
                </a:path>
              </a:pathLst>
            </a:custGeom>
            <a:blipFill>
              <a:blip r:embed="rId3"/>
              <a:stretch>
                <a:fillRect r="-9210"/>
              </a:stretch>
            </a:blipFill>
          </p:spPr>
          <p:txBody>
            <a:bodyPr/>
            <a:lstStyle/>
            <a:p>
              <a:endParaRPr lang="en-US"/>
            </a:p>
          </p:txBody>
        </p:sp>
      </p:grpSp>
      <p:grpSp>
        <p:nvGrpSpPr>
          <p:cNvPr id="6" name="Group 6"/>
          <p:cNvGrpSpPr/>
          <p:nvPr/>
        </p:nvGrpSpPr>
        <p:grpSpPr>
          <a:xfrm>
            <a:off x="598081" y="562570"/>
            <a:ext cx="17105128" cy="9148465"/>
            <a:chOff x="0" y="0"/>
            <a:chExt cx="22806837" cy="12197953"/>
          </a:xfrm>
        </p:grpSpPr>
        <p:sp>
          <p:nvSpPr>
            <p:cNvPr id="7" name="Freeform 7"/>
            <p:cNvSpPr/>
            <p:nvPr/>
          </p:nvSpPr>
          <p:spPr>
            <a:xfrm>
              <a:off x="0" y="0"/>
              <a:ext cx="22806837" cy="12197953"/>
            </a:xfrm>
            <a:custGeom>
              <a:avLst/>
              <a:gdLst/>
              <a:ahLst/>
              <a:cxnLst/>
              <a:rect l="l" t="t" r="r" b="b"/>
              <a:pathLst>
                <a:path w="22806837" h="12197953">
                  <a:moveTo>
                    <a:pt x="0" y="0"/>
                  </a:moveTo>
                  <a:lnTo>
                    <a:pt x="22806837" y="0"/>
                  </a:lnTo>
                  <a:lnTo>
                    <a:pt x="22806837" y="12197953"/>
                  </a:lnTo>
                  <a:lnTo>
                    <a:pt x="0" y="12197953"/>
                  </a:lnTo>
                  <a:close/>
                </a:path>
              </a:pathLst>
            </a:custGeom>
            <a:blipFill>
              <a:blip r:embed="rId4"/>
              <a:stretch>
                <a:fillRect l="-1010" t="-1464" r="-932" b="-1610"/>
              </a:stretch>
            </a:blipFill>
          </p:spPr>
          <p:txBody>
            <a:bodyPr/>
            <a:lstStyle/>
            <a:p>
              <a:endParaRPr lang="en-US"/>
            </a:p>
          </p:txBody>
        </p:sp>
      </p:grpSp>
      <p:sp>
        <p:nvSpPr>
          <p:cNvPr id="8" name="TextBox 8"/>
          <p:cNvSpPr txBox="1"/>
          <p:nvPr/>
        </p:nvSpPr>
        <p:spPr>
          <a:xfrm>
            <a:off x="896112" y="907453"/>
            <a:ext cx="12070080" cy="466725"/>
          </a:xfrm>
          <a:prstGeom prst="rect">
            <a:avLst/>
          </a:prstGeom>
        </p:spPr>
        <p:txBody>
          <a:bodyPr lIns="0" tIns="0" rIns="0" bIns="0" rtlCol="0" anchor="t">
            <a:spAutoFit/>
          </a:bodyPr>
          <a:lstStyle/>
          <a:p>
            <a:pPr algn="l">
              <a:lnSpc>
                <a:spcPts val="3696"/>
              </a:lnSpc>
            </a:pPr>
            <a:r>
              <a:rPr lang="en-US" sz="3080">
                <a:solidFill>
                  <a:srgbClr val="222222"/>
                </a:solidFill>
                <a:latin typeface="Fira Code"/>
                <a:ea typeface="Fira Code"/>
                <a:cs typeface="Fira Code"/>
                <a:sym typeface="Fira Code"/>
              </a:rPr>
              <a:t>Demand Intensity (lambda): The Multiplicative Stack</a:t>
            </a:r>
          </a:p>
        </p:txBody>
      </p:sp>
      <p:grpSp>
        <p:nvGrpSpPr>
          <p:cNvPr id="9" name="Group 9"/>
          <p:cNvGrpSpPr/>
          <p:nvPr/>
        </p:nvGrpSpPr>
        <p:grpSpPr>
          <a:xfrm>
            <a:off x="863895" y="2250281"/>
            <a:ext cx="3880884" cy="642938"/>
            <a:chOff x="0" y="0"/>
            <a:chExt cx="5174512" cy="857250"/>
          </a:xfrm>
        </p:grpSpPr>
        <p:sp>
          <p:nvSpPr>
            <p:cNvPr id="10" name="Freeform 10"/>
            <p:cNvSpPr/>
            <p:nvPr/>
          </p:nvSpPr>
          <p:spPr>
            <a:xfrm>
              <a:off x="0" y="0"/>
              <a:ext cx="5174512" cy="857250"/>
            </a:xfrm>
            <a:custGeom>
              <a:avLst/>
              <a:gdLst/>
              <a:ahLst/>
              <a:cxnLst/>
              <a:rect l="l" t="t" r="r" b="b"/>
              <a:pathLst>
                <a:path w="5174512" h="857250">
                  <a:moveTo>
                    <a:pt x="0" y="0"/>
                  </a:moveTo>
                  <a:lnTo>
                    <a:pt x="5174512" y="0"/>
                  </a:lnTo>
                  <a:lnTo>
                    <a:pt x="5174512" y="857250"/>
                  </a:lnTo>
                  <a:lnTo>
                    <a:pt x="0" y="857250"/>
                  </a:lnTo>
                  <a:close/>
                </a:path>
              </a:pathLst>
            </a:custGeom>
            <a:blipFill>
              <a:blip r:embed="rId5"/>
              <a:stretch>
                <a:fillRect t="-16666" r="-1369" b="-16666"/>
              </a:stretch>
            </a:blipFill>
          </p:spPr>
          <p:txBody>
            <a:bodyPr/>
            <a:lstStyle/>
            <a:p>
              <a:endParaRPr lang="en-US"/>
            </a:p>
          </p:txBody>
        </p:sp>
      </p:grpSp>
      <p:sp>
        <p:nvSpPr>
          <p:cNvPr id="11" name="TextBox 11"/>
          <p:cNvSpPr txBox="1"/>
          <p:nvPr/>
        </p:nvSpPr>
        <p:spPr>
          <a:xfrm>
            <a:off x="1024128" y="2423339"/>
            <a:ext cx="3547872" cy="342900"/>
          </a:xfrm>
          <a:prstGeom prst="rect">
            <a:avLst/>
          </a:prstGeom>
        </p:spPr>
        <p:txBody>
          <a:bodyPr lIns="0" tIns="0" rIns="0" bIns="0" rtlCol="0" anchor="t">
            <a:spAutoFit/>
          </a:bodyPr>
          <a:lstStyle/>
          <a:p>
            <a:pPr algn="l">
              <a:lnSpc>
                <a:spcPts val="2770"/>
              </a:lnSpc>
            </a:pPr>
            <a:r>
              <a:rPr lang="en-US" sz="2308">
                <a:solidFill>
                  <a:srgbClr val="222222"/>
                </a:solidFill>
                <a:latin typeface="Fira Code"/>
                <a:ea typeface="Fira Code"/>
                <a:cs typeface="Fira Code"/>
                <a:sym typeface="Fira Code"/>
              </a:rPr>
              <a:t>Factor Stack Diagram</a:t>
            </a:r>
          </a:p>
        </p:txBody>
      </p:sp>
      <p:sp>
        <p:nvSpPr>
          <p:cNvPr id="12" name="TextBox 12"/>
          <p:cNvSpPr txBox="1"/>
          <p:nvPr/>
        </p:nvSpPr>
        <p:spPr>
          <a:xfrm>
            <a:off x="1024128" y="5073622"/>
            <a:ext cx="2048256" cy="228600"/>
          </a:xfrm>
          <a:prstGeom prst="rect">
            <a:avLst/>
          </a:prstGeom>
        </p:spPr>
        <p:txBody>
          <a:bodyPr lIns="0" tIns="0" rIns="0" bIns="0" rtlCol="0" anchor="t">
            <a:spAutoFit/>
          </a:bodyPr>
          <a:lstStyle/>
          <a:p>
            <a:pPr algn="l">
              <a:lnSpc>
                <a:spcPts val="1946"/>
              </a:lnSpc>
            </a:pPr>
            <a:r>
              <a:rPr lang="en-US" sz="1622">
                <a:solidFill>
                  <a:srgbClr val="222222"/>
                </a:solidFill>
                <a:latin typeface="Fira Code"/>
                <a:ea typeface="Fira Code"/>
                <a:cs typeface="Fira Code"/>
                <a:sym typeface="Fira Code"/>
              </a:rPr>
              <a:t>Baseline Demand</a:t>
            </a:r>
          </a:p>
        </p:txBody>
      </p:sp>
      <p:grpSp>
        <p:nvGrpSpPr>
          <p:cNvPr id="13" name="Group 13"/>
          <p:cNvGrpSpPr/>
          <p:nvPr/>
        </p:nvGrpSpPr>
        <p:grpSpPr>
          <a:xfrm>
            <a:off x="744279" y="5424785"/>
            <a:ext cx="4904267" cy="482203"/>
            <a:chOff x="0" y="0"/>
            <a:chExt cx="6539023" cy="642938"/>
          </a:xfrm>
        </p:grpSpPr>
        <p:sp>
          <p:nvSpPr>
            <p:cNvPr id="14" name="Freeform 14"/>
            <p:cNvSpPr/>
            <p:nvPr/>
          </p:nvSpPr>
          <p:spPr>
            <a:xfrm>
              <a:off x="0" y="0"/>
              <a:ext cx="6539023" cy="642938"/>
            </a:xfrm>
            <a:custGeom>
              <a:avLst/>
              <a:gdLst/>
              <a:ahLst/>
              <a:cxnLst/>
              <a:rect l="l" t="t" r="r" b="b"/>
              <a:pathLst>
                <a:path w="6539023" h="642938">
                  <a:moveTo>
                    <a:pt x="0" y="0"/>
                  </a:moveTo>
                  <a:lnTo>
                    <a:pt x="6539023" y="0"/>
                  </a:lnTo>
                  <a:lnTo>
                    <a:pt x="6539023" y="642938"/>
                  </a:lnTo>
                  <a:lnTo>
                    <a:pt x="0" y="642938"/>
                  </a:lnTo>
                  <a:close/>
                </a:path>
              </a:pathLst>
            </a:custGeom>
            <a:blipFill>
              <a:blip r:embed="rId6"/>
              <a:stretch>
                <a:fillRect l="-1897" t="-13888" r="-271" b="-19444"/>
              </a:stretch>
            </a:blipFill>
          </p:spPr>
          <p:txBody>
            <a:bodyPr/>
            <a:lstStyle/>
            <a:p>
              <a:endParaRPr lang="en-US"/>
            </a:p>
          </p:txBody>
        </p:sp>
      </p:grpSp>
      <p:grpSp>
        <p:nvGrpSpPr>
          <p:cNvPr id="15" name="Group 15"/>
          <p:cNvGrpSpPr/>
          <p:nvPr/>
        </p:nvGrpSpPr>
        <p:grpSpPr>
          <a:xfrm>
            <a:off x="3522035" y="4286250"/>
            <a:ext cx="1049965" cy="2786062"/>
            <a:chOff x="0" y="0"/>
            <a:chExt cx="1399953" cy="3714750"/>
          </a:xfrm>
        </p:grpSpPr>
        <p:sp>
          <p:nvSpPr>
            <p:cNvPr id="16" name="Freeform 16"/>
            <p:cNvSpPr/>
            <p:nvPr/>
          </p:nvSpPr>
          <p:spPr>
            <a:xfrm>
              <a:off x="0" y="0"/>
              <a:ext cx="1399954" cy="3714750"/>
            </a:xfrm>
            <a:custGeom>
              <a:avLst/>
              <a:gdLst/>
              <a:ahLst/>
              <a:cxnLst/>
              <a:rect l="l" t="t" r="r" b="b"/>
              <a:pathLst>
                <a:path w="1399954" h="3714750">
                  <a:moveTo>
                    <a:pt x="0" y="0"/>
                  </a:moveTo>
                  <a:lnTo>
                    <a:pt x="1399954" y="0"/>
                  </a:lnTo>
                  <a:lnTo>
                    <a:pt x="1399954" y="3714750"/>
                  </a:lnTo>
                  <a:lnTo>
                    <a:pt x="0" y="3714750"/>
                  </a:lnTo>
                  <a:close/>
                </a:path>
              </a:pathLst>
            </a:custGeom>
            <a:blipFill>
              <a:blip r:embed="rId7"/>
              <a:stretch>
                <a:fillRect l="-3797"/>
              </a:stretch>
            </a:blipFill>
          </p:spPr>
          <p:txBody>
            <a:bodyPr/>
            <a:lstStyle/>
            <a:p>
              <a:endParaRPr lang="en-US"/>
            </a:p>
          </p:txBody>
        </p:sp>
      </p:grpSp>
      <p:grpSp>
        <p:nvGrpSpPr>
          <p:cNvPr id="17" name="Group 17"/>
          <p:cNvGrpSpPr/>
          <p:nvPr/>
        </p:nvGrpSpPr>
        <p:grpSpPr>
          <a:xfrm>
            <a:off x="5010593" y="4286250"/>
            <a:ext cx="1049965" cy="2745879"/>
            <a:chOff x="0" y="0"/>
            <a:chExt cx="1399953" cy="3661172"/>
          </a:xfrm>
        </p:grpSpPr>
        <p:sp>
          <p:nvSpPr>
            <p:cNvPr id="18" name="Freeform 18"/>
            <p:cNvSpPr/>
            <p:nvPr/>
          </p:nvSpPr>
          <p:spPr>
            <a:xfrm>
              <a:off x="0" y="0"/>
              <a:ext cx="1399954" cy="3661172"/>
            </a:xfrm>
            <a:custGeom>
              <a:avLst/>
              <a:gdLst/>
              <a:ahLst/>
              <a:cxnLst/>
              <a:rect l="l" t="t" r="r" b="b"/>
              <a:pathLst>
                <a:path w="1399954" h="3661172">
                  <a:moveTo>
                    <a:pt x="0" y="0"/>
                  </a:moveTo>
                  <a:lnTo>
                    <a:pt x="1399954" y="0"/>
                  </a:lnTo>
                  <a:lnTo>
                    <a:pt x="1399954" y="3661172"/>
                  </a:lnTo>
                  <a:lnTo>
                    <a:pt x="0" y="3661172"/>
                  </a:lnTo>
                  <a:close/>
                </a:path>
              </a:pathLst>
            </a:custGeom>
            <a:blipFill>
              <a:blip r:embed="rId8"/>
              <a:stretch>
                <a:fillRect l="-1265" r="-3797" b="-1463"/>
              </a:stretch>
            </a:blipFill>
          </p:spPr>
          <p:txBody>
            <a:bodyPr/>
            <a:lstStyle/>
            <a:p>
              <a:endParaRPr lang="en-US"/>
            </a:p>
          </p:txBody>
        </p:sp>
      </p:grpSp>
      <p:grpSp>
        <p:nvGrpSpPr>
          <p:cNvPr id="19" name="Group 19"/>
          <p:cNvGrpSpPr/>
          <p:nvPr/>
        </p:nvGrpSpPr>
        <p:grpSpPr>
          <a:xfrm>
            <a:off x="8027581" y="4286250"/>
            <a:ext cx="996802" cy="2745879"/>
            <a:chOff x="0" y="0"/>
            <a:chExt cx="1329070" cy="3661172"/>
          </a:xfrm>
        </p:grpSpPr>
        <p:sp>
          <p:nvSpPr>
            <p:cNvPr id="20" name="Freeform 20"/>
            <p:cNvSpPr/>
            <p:nvPr/>
          </p:nvSpPr>
          <p:spPr>
            <a:xfrm>
              <a:off x="0" y="0"/>
              <a:ext cx="1329070" cy="3661172"/>
            </a:xfrm>
            <a:custGeom>
              <a:avLst/>
              <a:gdLst/>
              <a:ahLst/>
              <a:cxnLst/>
              <a:rect l="l" t="t" r="r" b="b"/>
              <a:pathLst>
                <a:path w="1329070" h="3661172">
                  <a:moveTo>
                    <a:pt x="0" y="0"/>
                  </a:moveTo>
                  <a:lnTo>
                    <a:pt x="1329070" y="0"/>
                  </a:lnTo>
                  <a:lnTo>
                    <a:pt x="1329070" y="3661172"/>
                  </a:lnTo>
                  <a:lnTo>
                    <a:pt x="0" y="3661172"/>
                  </a:lnTo>
                  <a:close/>
                </a:path>
              </a:pathLst>
            </a:custGeom>
            <a:blipFill>
              <a:blip r:embed="rId9"/>
              <a:stretch>
                <a:fillRect l="-20000" r="-12000" b="-1463"/>
              </a:stretch>
            </a:blipFill>
          </p:spPr>
          <p:txBody>
            <a:bodyPr/>
            <a:lstStyle/>
            <a:p>
              <a:endParaRPr lang="en-US"/>
            </a:p>
          </p:txBody>
        </p:sp>
      </p:grpSp>
      <p:grpSp>
        <p:nvGrpSpPr>
          <p:cNvPr id="21" name="Group 21"/>
          <p:cNvGrpSpPr/>
          <p:nvPr/>
        </p:nvGrpSpPr>
        <p:grpSpPr>
          <a:xfrm>
            <a:off x="9502849" y="4286250"/>
            <a:ext cx="996802" cy="2759273"/>
            <a:chOff x="0" y="0"/>
            <a:chExt cx="1329070" cy="3679031"/>
          </a:xfrm>
        </p:grpSpPr>
        <p:sp>
          <p:nvSpPr>
            <p:cNvPr id="22" name="Freeform 22"/>
            <p:cNvSpPr/>
            <p:nvPr/>
          </p:nvSpPr>
          <p:spPr>
            <a:xfrm>
              <a:off x="0" y="0"/>
              <a:ext cx="1329070" cy="3679031"/>
            </a:xfrm>
            <a:custGeom>
              <a:avLst/>
              <a:gdLst/>
              <a:ahLst/>
              <a:cxnLst/>
              <a:rect l="l" t="t" r="r" b="b"/>
              <a:pathLst>
                <a:path w="1329070" h="3679031">
                  <a:moveTo>
                    <a:pt x="0" y="0"/>
                  </a:moveTo>
                  <a:lnTo>
                    <a:pt x="1329070" y="0"/>
                  </a:lnTo>
                  <a:lnTo>
                    <a:pt x="1329070" y="3679031"/>
                  </a:lnTo>
                  <a:lnTo>
                    <a:pt x="0" y="3679031"/>
                  </a:lnTo>
                  <a:close/>
                </a:path>
              </a:pathLst>
            </a:custGeom>
            <a:blipFill>
              <a:blip r:embed="rId10"/>
              <a:stretch>
                <a:fillRect l="-14666" r="-17333" b="-970"/>
              </a:stretch>
            </a:blipFill>
          </p:spPr>
          <p:txBody>
            <a:bodyPr/>
            <a:lstStyle/>
            <a:p>
              <a:endParaRPr lang="en-US"/>
            </a:p>
          </p:txBody>
        </p:sp>
      </p:grpSp>
      <p:grpSp>
        <p:nvGrpSpPr>
          <p:cNvPr id="23" name="Group 23"/>
          <p:cNvGrpSpPr/>
          <p:nvPr/>
        </p:nvGrpSpPr>
        <p:grpSpPr>
          <a:xfrm>
            <a:off x="10964826" y="4286250"/>
            <a:ext cx="1236035" cy="2745879"/>
            <a:chOff x="0" y="0"/>
            <a:chExt cx="1648047" cy="3661172"/>
          </a:xfrm>
        </p:grpSpPr>
        <p:sp>
          <p:nvSpPr>
            <p:cNvPr id="24" name="Freeform 24"/>
            <p:cNvSpPr/>
            <p:nvPr/>
          </p:nvSpPr>
          <p:spPr>
            <a:xfrm>
              <a:off x="0" y="0"/>
              <a:ext cx="1648046" cy="3661172"/>
            </a:xfrm>
            <a:custGeom>
              <a:avLst/>
              <a:gdLst/>
              <a:ahLst/>
              <a:cxnLst/>
              <a:rect l="l" t="t" r="r" b="b"/>
              <a:pathLst>
                <a:path w="1648046" h="3661172">
                  <a:moveTo>
                    <a:pt x="0" y="0"/>
                  </a:moveTo>
                  <a:lnTo>
                    <a:pt x="1648046" y="0"/>
                  </a:lnTo>
                  <a:lnTo>
                    <a:pt x="1648046" y="3661172"/>
                  </a:lnTo>
                  <a:lnTo>
                    <a:pt x="0" y="3661172"/>
                  </a:lnTo>
                  <a:close/>
                </a:path>
              </a:pathLst>
            </a:custGeom>
            <a:blipFill>
              <a:blip r:embed="rId11"/>
              <a:stretch>
                <a:fillRect l="-6451" b="-1463"/>
              </a:stretch>
            </a:blipFill>
          </p:spPr>
          <p:txBody>
            <a:bodyPr/>
            <a:lstStyle/>
            <a:p>
              <a:endParaRPr lang="en-US"/>
            </a:p>
          </p:txBody>
        </p:sp>
      </p:grpSp>
      <p:sp>
        <p:nvSpPr>
          <p:cNvPr id="25" name="TextBox 25"/>
          <p:cNvSpPr txBox="1"/>
          <p:nvPr/>
        </p:nvSpPr>
        <p:spPr>
          <a:xfrm>
            <a:off x="3749040" y="7157662"/>
            <a:ext cx="822960" cy="685800"/>
          </a:xfrm>
          <a:prstGeom prst="rect">
            <a:avLst/>
          </a:prstGeom>
        </p:spPr>
        <p:txBody>
          <a:bodyPr lIns="0" tIns="0" rIns="0" bIns="0" rtlCol="0" anchor="t">
            <a:spAutoFit/>
          </a:bodyPr>
          <a:lstStyle/>
          <a:p>
            <a:pPr algn="ctr">
              <a:lnSpc>
                <a:spcPts val="1820"/>
              </a:lnSpc>
            </a:pPr>
            <a:r>
              <a:rPr lang="en-US" sz="1517">
                <a:solidFill>
                  <a:srgbClr val="222222"/>
                </a:solidFill>
                <a:latin typeface="Fira Code"/>
                <a:ea typeface="Fira Code"/>
                <a:cs typeface="Fira Code"/>
                <a:sym typeface="Fira Code"/>
              </a:rPr>
              <a:t>Y</a:t>
            </a:r>
          </a:p>
          <a:p>
            <a:pPr algn="ctr">
              <a:lnSpc>
                <a:spcPts val="1820"/>
              </a:lnSpc>
            </a:pPr>
            <a:r>
              <a:rPr lang="en-US" sz="1517">
                <a:solidFill>
                  <a:srgbClr val="222222"/>
                </a:solidFill>
                <a:latin typeface="Fira Code"/>
                <a:ea typeface="Fira Code"/>
                <a:cs typeface="Fira Code"/>
                <a:sym typeface="Fira Code"/>
              </a:rPr>
              <a:t>(Yearly smooth)</a:t>
            </a:r>
          </a:p>
        </p:txBody>
      </p:sp>
      <p:sp>
        <p:nvSpPr>
          <p:cNvPr id="26" name="TextBox 26"/>
          <p:cNvSpPr txBox="1"/>
          <p:nvPr/>
        </p:nvSpPr>
        <p:spPr>
          <a:xfrm>
            <a:off x="11100816" y="7363027"/>
            <a:ext cx="914400" cy="514350"/>
          </a:xfrm>
          <a:prstGeom prst="rect">
            <a:avLst/>
          </a:prstGeom>
        </p:spPr>
        <p:txBody>
          <a:bodyPr lIns="0" tIns="0" rIns="0" bIns="0" rtlCol="0" anchor="t">
            <a:spAutoFit/>
          </a:bodyPr>
          <a:lstStyle/>
          <a:p>
            <a:pPr algn="ctr">
              <a:lnSpc>
                <a:spcPts val="2025"/>
              </a:lnSpc>
            </a:pPr>
            <a:r>
              <a:rPr lang="en-US" sz="1687">
                <a:solidFill>
                  <a:srgbClr val="222222"/>
                </a:solidFill>
                <a:latin typeface="Fira Code"/>
                <a:ea typeface="Fira Code"/>
                <a:cs typeface="Fira Code"/>
                <a:sym typeface="Fira Code"/>
              </a:rPr>
              <a:t>epsilon</a:t>
            </a:r>
          </a:p>
          <a:p>
            <a:pPr algn="ctr">
              <a:lnSpc>
                <a:spcPts val="2025"/>
              </a:lnSpc>
            </a:pPr>
            <a:r>
              <a:rPr lang="en-US" sz="1687">
                <a:solidFill>
                  <a:srgbClr val="222222"/>
                </a:solidFill>
                <a:latin typeface="Fira Code"/>
                <a:ea typeface="Fira Code"/>
                <a:cs typeface="Fira Code"/>
                <a:sym typeface="Fira Code"/>
              </a:rPr>
              <a:t>(Noise)</a:t>
            </a:r>
          </a:p>
        </p:txBody>
      </p:sp>
      <p:grpSp>
        <p:nvGrpSpPr>
          <p:cNvPr id="27" name="Group 27"/>
          <p:cNvGrpSpPr/>
          <p:nvPr/>
        </p:nvGrpSpPr>
        <p:grpSpPr>
          <a:xfrm>
            <a:off x="12081244" y="5143500"/>
            <a:ext cx="3561907" cy="2129730"/>
            <a:chOff x="0" y="0"/>
            <a:chExt cx="4749209" cy="2839641"/>
          </a:xfrm>
        </p:grpSpPr>
        <p:sp>
          <p:nvSpPr>
            <p:cNvPr id="28" name="Freeform 28"/>
            <p:cNvSpPr/>
            <p:nvPr/>
          </p:nvSpPr>
          <p:spPr>
            <a:xfrm>
              <a:off x="0" y="0"/>
              <a:ext cx="4749209" cy="2839641"/>
            </a:xfrm>
            <a:custGeom>
              <a:avLst/>
              <a:gdLst/>
              <a:ahLst/>
              <a:cxnLst/>
              <a:rect l="l" t="t" r="r" b="b"/>
              <a:pathLst>
                <a:path w="4749209" h="2839641">
                  <a:moveTo>
                    <a:pt x="0" y="0"/>
                  </a:moveTo>
                  <a:lnTo>
                    <a:pt x="4749209" y="0"/>
                  </a:lnTo>
                  <a:lnTo>
                    <a:pt x="4749209" y="2839641"/>
                  </a:lnTo>
                  <a:lnTo>
                    <a:pt x="0" y="2839641"/>
                  </a:lnTo>
                  <a:close/>
                </a:path>
              </a:pathLst>
            </a:custGeom>
            <a:blipFill>
              <a:blip r:embed="rId12"/>
              <a:stretch>
                <a:fillRect l="-3358" r="-1119" b="-10691"/>
              </a:stretch>
            </a:blipFill>
          </p:spPr>
          <p:txBody>
            <a:bodyPr/>
            <a:lstStyle/>
            <a:p>
              <a:endParaRPr lang="en-US"/>
            </a:p>
          </p:txBody>
        </p:sp>
      </p:grpSp>
      <p:grpSp>
        <p:nvGrpSpPr>
          <p:cNvPr id="29" name="Group 29"/>
          <p:cNvGrpSpPr/>
          <p:nvPr/>
        </p:nvGrpSpPr>
        <p:grpSpPr>
          <a:xfrm>
            <a:off x="11974919" y="4339828"/>
            <a:ext cx="2990407" cy="2544961"/>
            <a:chOff x="0" y="0"/>
            <a:chExt cx="3987209" cy="3393281"/>
          </a:xfrm>
        </p:grpSpPr>
        <p:sp>
          <p:nvSpPr>
            <p:cNvPr id="30" name="Freeform 30"/>
            <p:cNvSpPr/>
            <p:nvPr/>
          </p:nvSpPr>
          <p:spPr>
            <a:xfrm>
              <a:off x="0" y="0"/>
              <a:ext cx="3987209" cy="3393281"/>
            </a:xfrm>
            <a:custGeom>
              <a:avLst/>
              <a:gdLst/>
              <a:ahLst/>
              <a:cxnLst/>
              <a:rect l="l" t="t" r="r" b="b"/>
              <a:pathLst>
                <a:path w="3987209" h="3393281">
                  <a:moveTo>
                    <a:pt x="0" y="0"/>
                  </a:moveTo>
                  <a:lnTo>
                    <a:pt x="3987209" y="0"/>
                  </a:lnTo>
                  <a:lnTo>
                    <a:pt x="3987209" y="3393281"/>
                  </a:lnTo>
                  <a:lnTo>
                    <a:pt x="0" y="3393281"/>
                  </a:lnTo>
                  <a:close/>
                </a:path>
              </a:pathLst>
            </a:custGeom>
            <a:blipFill>
              <a:blip r:embed="rId13"/>
              <a:stretch>
                <a:fillRect l="-444" t="-2105" r="-2222" b="-7368"/>
              </a:stretch>
            </a:blipFill>
          </p:spPr>
          <p:txBody>
            <a:bodyPr/>
            <a:lstStyle/>
            <a:p>
              <a:endParaRPr lang="en-US"/>
            </a:p>
          </p:txBody>
        </p:sp>
      </p:grpSp>
      <p:sp>
        <p:nvSpPr>
          <p:cNvPr id="31" name="TextBox 31"/>
          <p:cNvSpPr txBox="1"/>
          <p:nvPr/>
        </p:nvSpPr>
        <p:spPr>
          <a:xfrm>
            <a:off x="15837408" y="5054572"/>
            <a:ext cx="1426464" cy="1228725"/>
          </a:xfrm>
          <a:prstGeom prst="rect">
            <a:avLst/>
          </a:prstGeom>
        </p:spPr>
        <p:txBody>
          <a:bodyPr lIns="0" tIns="0" rIns="0" bIns="0" rtlCol="0" anchor="t">
            <a:spAutoFit/>
          </a:bodyPr>
          <a:lstStyle/>
          <a:p>
            <a:pPr algn="l">
              <a:lnSpc>
                <a:spcPts val="2415"/>
              </a:lnSpc>
            </a:pPr>
            <a:r>
              <a:rPr lang="en-US" sz="2012">
                <a:solidFill>
                  <a:srgbClr val="222222"/>
                </a:solidFill>
                <a:latin typeface="Archivo Black"/>
                <a:ea typeface="Archivo Black"/>
                <a:cs typeface="Archivo Black"/>
                <a:sym typeface="Archivo Black"/>
              </a:rPr>
              <a:t>lambda (Gross Demand Intensity)</a:t>
            </a:r>
          </a:p>
        </p:txBody>
      </p:sp>
      <p:grpSp>
        <p:nvGrpSpPr>
          <p:cNvPr id="32" name="Group 32"/>
          <p:cNvGrpSpPr/>
          <p:nvPr/>
        </p:nvGrpSpPr>
        <p:grpSpPr>
          <a:xfrm>
            <a:off x="12918558" y="1794867"/>
            <a:ext cx="4478965" cy="2049363"/>
            <a:chOff x="0" y="0"/>
            <a:chExt cx="5971953" cy="2732484"/>
          </a:xfrm>
        </p:grpSpPr>
        <p:sp>
          <p:nvSpPr>
            <p:cNvPr id="33" name="Freeform 33"/>
            <p:cNvSpPr/>
            <p:nvPr/>
          </p:nvSpPr>
          <p:spPr>
            <a:xfrm>
              <a:off x="0" y="0"/>
              <a:ext cx="5971953" cy="2732484"/>
            </a:xfrm>
            <a:custGeom>
              <a:avLst/>
              <a:gdLst/>
              <a:ahLst/>
              <a:cxnLst/>
              <a:rect l="l" t="t" r="r" b="b"/>
              <a:pathLst>
                <a:path w="5971953" h="2732484">
                  <a:moveTo>
                    <a:pt x="0" y="0"/>
                  </a:moveTo>
                  <a:lnTo>
                    <a:pt x="5971953" y="0"/>
                  </a:lnTo>
                  <a:lnTo>
                    <a:pt x="5971953" y="2732484"/>
                  </a:lnTo>
                  <a:lnTo>
                    <a:pt x="0" y="2732484"/>
                  </a:lnTo>
                  <a:close/>
                </a:path>
              </a:pathLst>
            </a:custGeom>
            <a:blipFill>
              <a:blip r:embed="rId14"/>
              <a:stretch>
                <a:fillRect l="-1780" t="-14379" r="-5341" b="-11111"/>
              </a:stretch>
            </a:blipFill>
          </p:spPr>
          <p:txBody>
            <a:bodyPr/>
            <a:lstStyle/>
            <a:p>
              <a:endParaRPr lang="en-US"/>
            </a:p>
          </p:txBody>
        </p:sp>
      </p:grpSp>
      <p:sp>
        <p:nvSpPr>
          <p:cNvPr id="34" name="TextBox 34"/>
          <p:cNvSpPr txBox="1"/>
          <p:nvPr/>
        </p:nvSpPr>
        <p:spPr>
          <a:xfrm>
            <a:off x="13167360" y="2012138"/>
            <a:ext cx="3291840" cy="314325"/>
          </a:xfrm>
          <a:prstGeom prst="rect">
            <a:avLst/>
          </a:prstGeom>
        </p:spPr>
        <p:txBody>
          <a:bodyPr lIns="0" tIns="0" rIns="0" bIns="0" rtlCol="0" anchor="t">
            <a:spAutoFit/>
          </a:bodyPr>
          <a:lstStyle/>
          <a:p>
            <a:pPr algn="l">
              <a:lnSpc>
                <a:spcPts val="2417"/>
              </a:lnSpc>
            </a:pPr>
            <a:r>
              <a:rPr lang="en-US" sz="2014">
                <a:solidFill>
                  <a:srgbClr val="222222"/>
                </a:solidFill>
                <a:latin typeface="Fira Code"/>
                <a:ea typeface="Fira Code"/>
                <a:cs typeface="Fira Code"/>
                <a:sym typeface="Fira Code"/>
              </a:rPr>
              <a:t>Holiday Inversion (H)</a:t>
            </a:r>
          </a:p>
        </p:txBody>
      </p:sp>
      <p:sp>
        <p:nvSpPr>
          <p:cNvPr id="35" name="TextBox 35"/>
          <p:cNvSpPr txBox="1"/>
          <p:nvPr/>
        </p:nvSpPr>
        <p:spPr>
          <a:xfrm>
            <a:off x="13167360" y="2509909"/>
            <a:ext cx="4096512" cy="466725"/>
          </a:xfrm>
          <a:prstGeom prst="rect">
            <a:avLst/>
          </a:prstGeom>
        </p:spPr>
        <p:txBody>
          <a:bodyPr lIns="0" tIns="0" rIns="0" bIns="0" rtlCol="0" anchor="t">
            <a:spAutoFit/>
          </a:bodyPr>
          <a:lstStyle/>
          <a:p>
            <a:pPr algn="l">
              <a:lnSpc>
                <a:spcPts val="1946"/>
              </a:lnSpc>
            </a:pPr>
            <a:r>
              <a:rPr lang="en-US" sz="1622">
                <a:solidFill>
                  <a:srgbClr val="222222"/>
                </a:solidFill>
                <a:latin typeface="Fira Code"/>
                <a:ea typeface="Fira Code"/>
                <a:cs typeface="Fira Code"/>
                <a:sym typeface="Fira Code"/>
              </a:rPr>
              <a:t>Christmas multiplies Urban by 0.28x, but Resort by 1.50x.</a:t>
            </a:r>
          </a:p>
        </p:txBody>
      </p:sp>
      <p:sp>
        <p:nvSpPr>
          <p:cNvPr id="36" name="TextBox 36"/>
          <p:cNvSpPr txBox="1"/>
          <p:nvPr/>
        </p:nvSpPr>
        <p:spPr>
          <a:xfrm>
            <a:off x="13167360" y="3195828"/>
            <a:ext cx="3767328" cy="438150"/>
          </a:xfrm>
          <a:prstGeom prst="rect">
            <a:avLst/>
          </a:prstGeom>
        </p:spPr>
        <p:txBody>
          <a:bodyPr lIns="0" tIns="0" rIns="0" bIns="0" rtlCol="0" anchor="t">
            <a:spAutoFit/>
          </a:bodyPr>
          <a:lstStyle/>
          <a:p>
            <a:pPr algn="l">
              <a:lnSpc>
                <a:spcPts val="1758"/>
              </a:lnSpc>
            </a:pPr>
            <a:r>
              <a:rPr lang="en-US" sz="1465">
                <a:solidFill>
                  <a:srgbClr val="222222"/>
                </a:solidFill>
                <a:latin typeface="Fira Code"/>
                <a:ea typeface="Fira Code"/>
                <a:cs typeface="Fira Code"/>
                <a:sym typeface="Fira Code"/>
              </a:rPr>
              <a:t>Insight: Punishes models learning one global holiday effect.</a:t>
            </a:r>
          </a:p>
        </p:txBody>
      </p:sp>
      <p:grpSp>
        <p:nvGrpSpPr>
          <p:cNvPr id="37" name="Group 37"/>
          <p:cNvGrpSpPr/>
          <p:nvPr/>
        </p:nvGrpSpPr>
        <p:grpSpPr>
          <a:xfrm>
            <a:off x="16932349" y="3388816"/>
            <a:ext cx="332267" cy="321469"/>
            <a:chOff x="0" y="0"/>
            <a:chExt cx="443023" cy="428625"/>
          </a:xfrm>
        </p:grpSpPr>
        <p:sp>
          <p:nvSpPr>
            <p:cNvPr id="38" name="Freeform 38"/>
            <p:cNvSpPr/>
            <p:nvPr/>
          </p:nvSpPr>
          <p:spPr>
            <a:xfrm>
              <a:off x="0" y="0"/>
              <a:ext cx="443023" cy="428625"/>
            </a:xfrm>
            <a:custGeom>
              <a:avLst/>
              <a:gdLst/>
              <a:ahLst/>
              <a:cxnLst/>
              <a:rect l="l" t="t" r="r" b="b"/>
              <a:pathLst>
                <a:path w="443023" h="428625">
                  <a:moveTo>
                    <a:pt x="0" y="0"/>
                  </a:moveTo>
                  <a:lnTo>
                    <a:pt x="443023" y="0"/>
                  </a:lnTo>
                  <a:lnTo>
                    <a:pt x="443023" y="428625"/>
                  </a:lnTo>
                  <a:lnTo>
                    <a:pt x="0" y="428625"/>
                  </a:lnTo>
                  <a:close/>
                </a:path>
              </a:pathLst>
            </a:custGeom>
            <a:blipFill>
              <a:blip r:embed="rId15"/>
              <a:stretch>
                <a:fillRect l="-52000" t="-54166" r="-48000" b="-45833"/>
              </a:stretch>
            </a:blipFill>
          </p:spPr>
          <p:txBody>
            <a:bodyPr/>
            <a:lstStyle/>
            <a:p>
              <a:endParaRPr lang="en-US"/>
            </a:p>
          </p:txBody>
        </p:sp>
      </p:grpSp>
      <p:grpSp>
        <p:nvGrpSpPr>
          <p:cNvPr id="39" name="Group 39"/>
          <p:cNvGrpSpPr/>
          <p:nvPr/>
        </p:nvGrpSpPr>
        <p:grpSpPr>
          <a:xfrm>
            <a:off x="10473070" y="2786062"/>
            <a:ext cx="2485360" cy="964406"/>
            <a:chOff x="0" y="0"/>
            <a:chExt cx="3313814" cy="1285875"/>
          </a:xfrm>
        </p:grpSpPr>
        <p:sp>
          <p:nvSpPr>
            <p:cNvPr id="40" name="Freeform 40"/>
            <p:cNvSpPr/>
            <p:nvPr/>
          </p:nvSpPr>
          <p:spPr>
            <a:xfrm>
              <a:off x="0" y="0"/>
              <a:ext cx="3313814" cy="1285875"/>
            </a:xfrm>
            <a:custGeom>
              <a:avLst/>
              <a:gdLst/>
              <a:ahLst/>
              <a:cxnLst/>
              <a:rect l="l" t="t" r="r" b="b"/>
              <a:pathLst>
                <a:path w="3313814" h="1285875">
                  <a:moveTo>
                    <a:pt x="0" y="0"/>
                  </a:moveTo>
                  <a:lnTo>
                    <a:pt x="3313814" y="0"/>
                  </a:lnTo>
                  <a:lnTo>
                    <a:pt x="3313814" y="1285875"/>
                  </a:lnTo>
                  <a:lnTo>
                    <a:pt x="0" y="1285875"/>
                  </a:lnTo>
                  <a:close/>
                </a:path>
              </a:pathLst>
            </a:custGeom>
            <a:blipFill>
              <a:blip r:embed="rId16"/>
              <a:stretch>
                <a:fillRect l="-1069" r="-4278" b="-11111"/>
              </a:stretch>
            </a:blipFill>
          </p:spPr>
          <p:txBody>
            <a:bodyPr/>
            <a:lstStyle/>
            <a:p>
              <a:endParaRPr lang="en-US"/>
            </a:p>
          </p:txBody>
        </p:sp>
      </p:grpSp>
      <p:grpSp>
        <p:nvGrpSpPr>
          <p:cNvPr id="41" name="Group 41"/>
          <p:cNvGrpSpPr/>
          <p:nvPr/>
        </p:nvGrpSpPr>
        <p:grpSpPr>
          <a:xfrm>
            <a:off x="13064756" y="7313414"/>
            <a:ext cx="4465674" cy="2411016"/>
            <a:chOff x="0" y="0"/>
            <a:chExt cx="5954233" cy="3214688"/>
          </a:xfrm>
        </p:grpSpPr>
        <p:sp>
          <p:nvSpPr>
            <p:cNvPr id="42" name="Freeform 42"/>
            <p:cNvSpPr/>
            <p:nvPr/>
          </p:nvSpPr>
          <p:spPr>
            <a:xfrm>
              <a:off x="0" y="0"/>
              <a:ext cx="5954233" cy="3214688"/>
            </a:xfrm>
            <a:custGeom>
              <a:avLst/>
              <a:gdLst/>
              <a:ahLst/>
              <a:cxnLst/>
              <a:rect l="l" t="t" r="r" b="b"/>
              <a:pathLst>
                <a:path w="5954233" h="3214688">
                  <a:moveTo>
                    <a:pt x="0" y="0"/>
                  </a:moveTo>
                  <a:lnTo>
                    <a:pt x="5954233" y="0"/>
                  </a:lnTo>
                  <a:lnTo>
                    <a:pt x="5954233" y="3214688"/>
                  </a:lnTo>
                  <a:lnTo>
                    <a:pt x="0" y="3214688"/>
                  </a:lnTo>
                  <a:close/>
                </a:path>
              </a:pathLst>
            </a:custGeom>
            <a:blipFill>
              <a:blip r:embed="rId17"/>
              <a:stretch>
                <a:fillRect l="-5059" t="-1111" r="-2380" b="-5555"/>
              </a:stretch>
            </a:blipFill>
          </p:spPr>
          <p:txBody>
            <a:bodyPr/>
            <a:lstStyle/>
            <a:p>
              <a:endParaRPr lang="en-US"/>
            </a:p>
          </p:txBody>
        </p:sp>
      </p:grpSp>
      <p:sp>
        <p:nvSpPr>
          <p:cNvPr id="43" name="TextBox 43"/>
          <p:cNvSpPr txBox="1"/>
          <p:nvPr/>
        </p:nvSpPr>
        <p:spPr>
          <a:xfrm>
            <a:off x="13240512" y="7586930"/>
            <a:ext cx="3986784" cy="314325"/>
          </a:xfrm>
          <a:prstGeom prst="rect">
            <a:avLst/>
          </a:prstGeom>
        </p:spPr>
        <p:txBody>
          <a:bodyPr lIns="0" tIns="0" rIns="0" bIns="0" rtlCol="0" anchor="t">
            <a:spAutoFit/>
          </a:bodyPr>
          <a:lstStyle/>
          <a:p>
            <a:pPr algn="l">
              <a:lnSpc>
                <a:spcPts val="2476"/>
              </a:lnSpc>
            </a:pPr>
            <a:r>
              <a:rPr lang="en-US" sz="2063">
                <a:solidFill>
                  <a:srgbClr val="222222"/>
                </a:solidFill>
                <a:latin typeface="Fira Code"/>
                <a:ea typeface="Fira Code"/>
                <a:cs typeface="Fira Code"/>
                <a:sym typeface="Fira Code"/>
              </a:rPr>
              <a:t>The Mood Factor (epsilon)</a:t>
            </a:r>
          </a:p>
        </p:txBody>
      </p:sp>
      <p:sp>
        <p:nvSpPr>
          <p:cNvPr id="44" name="TextBox 44"/>
          <p:cNvSpPr txBox="1"/>
          <p:nvPr/>
        </p:nvSpPr>
        <p:spPr>
          <a:xfrm>
            <a:off x="13240512" y="8071866"/>
            <a:ext cx="3291840" cy="438150"/>
          </a:xfrm>
          <a:prstGeom prst="rect">
            <a:avLst/>
          </a:prstGeom>
        </p:spPr>
        <p:txBody>
          <a:bodyPr lIns="0" tIns="0" rIns="0" bIns="0" rtlCol="0" anchor="t">
            <a:spAutoFit/>
          </a:bodyPr>
          <a:lstStyle/>
          <a:p>
            <a:pPr algn="l">
              <a:lnSpc>
                <a:spcPts val="1758"/>
              </a:lnSpc>
            </a:pPr>
            <a:r>
              <a:rPr lang="en-US" sz="1465">
                <a:solidFill>
                  <a:srgbClr val="222222"/>
                </a:solidFill>
                <a:latin typeface="Fira Code"/>
                <a:ea typeface="Fira Code"/>
                <a:cs typeface="Fira Code"/>
                <a:sym typeface="Fira Code"/>
              </a:rPr>
              <a:t>AR(1) over weekly innovations (phi = 0.93, sigma = 0.09).</a:t>
            </a:r>
          </a:p>
        </p:txBody>
      </p:sp>
      <p:sp>
        <p:nvSpPr>
          <p:cNvPr id="45" name="TextBox 45"/>
          <p:cNvSpPr txBox="1"/>
          <p:nvPr/>
        </p:nvSpPr>
        <p:spPr>
          <a:xfrm>
            <a:off x="13240512" y="8761952"/>
            <a:ext cx="4096512" cy="657225"/>
          </a:xfrm>
          <a:prstGeom prst="rect">
            <a:avLst/>
          </a:prstGeom>
        </p:spPr>
        <p:txBody>
          <a:bodyPr lIns="0" tIns="0" rIns="0" bIns="0" rtlCol="0" anchor="t">
            <a:spAutoFit/>
          </a:bodyPr>
          <a:lstStyle/>
          <a:p>
            <a:pPr algn="l">
              <a:lnSpc>
                <a:spcPts val="1758"/>
              </a:lnSpc>
            </a:pPr>
            <a:r>
              <a:rPr lang="en-US" sz="1465">
                <a:solidFill>
                  <a:srgbClr val="222222"/>
                </a:solidFill>
                <a:latin typeface="Fira Code"/>
                <a:ea typeface="Fira Code"/>
                <a:cs typeface="Fira Code"/>
                <a:sym typeface="Fira Code"/>
              </a:rPr>
              <a:t>Starts at stationary variance (0.245) to prevent artificial forecasting accuracy in early weeks.</a:t>
            </a:r>
          </a:p>
        </p:txBody>
      </p:sp>
      <p:grpSp>
        <p:nvGrpSpPr>
          <p:cNvPr id="46" name="Group 46"/>
          <p:cNvGrpSpPr/>
          <p:nvPr/>
        </p:nvGrpSpPr>
        <p:grpSpPr>
          <a:xfrm>
            <a:off x="16732988" y="8304609"/>
            <a:ext cx="598081" cy="602754"/>
            <a:chOff x="0" y="0"/>
            <a:chExt cx="797442" cy="803672"/>
          </a:xfrm>
        </p:grpSpPr>
        <p:sp>
          <p:nvSpPr>
            <p:cNvPr id="47" name="Freeform 47"/>
            <p:cNvSpPr/>
            <p:nvPr/>
          </p:nvSpPr>
          <p:spPr>
            <a:xfrm>
              <a:off x="0" y="0"/>
              <a:ext cx="797442" cy="803672"/>
            </a:xfrm>
            <a:custGeom>
              <a:avLst/>
              <a:gdLst/>
              <a:ahLst/>
              <a:cxnLst/>
              <a:rect l="l" t="t" r="r" b="b"/>
              <a:pathLst>
                <a:path w="797442" h="803672">
                  <a:moveTo>
                    <a:pt x="0" y="0"/>
                  </a:moveTo>
                  <a:lnTo>
                    <a:pt x="797442" y="0"/>
                  </a:lnTo>
                  <a:lnTo>
                    <a:pt x="797442" y="803672"/>
                  </a:lnTo>
                  <a:lnTo>
                    <a:pt x="0" y="803672"/>
                  </a:lnTo>
                  <a:close/>
                </a:path>
              </a:pathLst>
            </a:custGeom>
            <a:blipFill>
              <a:blip r:embed="rId18"/>
              <a:stretch>
                <a:fillRect l="-33333" t="-26666" r="-15555" b="-15555"/>
              </a:stretch>
            </a:blipFill>
          </p:spPr>
          <p:txBody>
            <a:bodyPr/>
            <a:lstStyle/>
            <a:p>
              <a:endParaRPr lang="en-US"/>
            </a:p>
          </p:txBody>
        </p:sp>
      </p:grpSp>
      <p:sp>
        <p:nvSpPr>
          <p:cNvPr id="48" name="TextBox 48"/>
          <p:cNvSpPr txBox="1"/>
          <p:nvPr/>
        </p:nvSpPr>
        <p:spPr>
          <a:xfrm>
            <a:off x="8606790" y="3558480"/>
            <a:ext cx="3108960" cy="561975"/>
          </a:xfrm>
          <a:prstGeom prst="rect">
            <a:avLst/>
          </a:prstGeom>
        </p:spPr>
        <p:txBody>
          <a:bodyPr lIns="0" tIns="0" rIns="0" bIns="0" rtlCol="0" anchor="t">
            <a:spAutoFit/>
          </a:bodyPr>
          <a:lstStyle/>
          <a:p>
            <a:pPr algn="ctr">
              <a:lnSpc>
                <a:spcPts val="2181"/>
              </a:lnSpc>
            </a:pPr>
            <a:r>
              <a:rPr lang="en-US" sz="1818">
                <a:solidFill>
                  <a:srgbClr val="222222"/>
                </a:solidFill>
                <a:latin typeface="Fira Code"/>
                <a:ea typeface="Fira Code"/>
                <a:cs typeface="Fira Code"/>
                <a:sym typeface="Fira Code"/>
              </a:rPr>
              <a:t>H</a:t>
            </a:r>
          </a:p>
          <a:p>
            <a:pPr algn="ctr">
              <a:lnSpc>
                <a:spcPts val="2181"/>
              </a:lnSpc>
            </a:pPr>
            <a:r>
              <a:rPr lang="en-US" sz="1818">
                <a:solidFill>
                  <a:srgbClr val="222222"/>
                </a:solidFill>
                <a:latin typeface="Fira Code"/>
                <a:ea typeface="Fira Code"/>
                <a:cs typeface="Fira Code"/>
                <a:sym typeface="Fira Code"/>
              </a:rPr>
              <a:t>(Holiday)</a:t>
            </a:r>
          </a:p>
        </p:txBody>
      </p:sp>
      <p:sp>
        <p:nvSpPr>
          <p:cNvPr id="49" name="TextBox 49"/>
          <p:cNvSpPr txBox="1"/>
          <p:nvPr/>
        </p:nvSpPr>
        <p:spPr>
          <a:xfrm>
            <a:off x="4572000" y="7147096"/>
            <a:ext cx="1426464" cy="704850"/>
          </a:xfrm>
          <a:prstGeom prst="rect">
            <a:avLst/>
          </a:prstGeom>
        </p:spPr>
        <p:txBody>
          <a:bodyPr lIns="0" tIns="0" rIns="0" bIns="0" rtlCol="0" anchor="t">
            <a:spAutoFit/>
          </a:bodyPr>
          <a:lstStyle/>
          <a:p>
            <a:pPr algn="ctr">
              <a:lnSpc>
                <a:spcPts val="1946"/>
              </a:lnSpc>
            </a:pPr>
            <a:r>
              <a:rPr lang="en-US" sz="1622">
                <a:solidFill>
                  <a:srgbClr val="222222"/>
                </a:solidFill>
                <a:latin typeface="Fira Code"/>
                <a:ea typeface="Fira Code"/>
                <a:cs typeface="Fira Code"/>
                <a:sym typeface="Fira Code"/>
              </a:rPr>
              <a:t>M</a:t>
            </a:r>
          </a:p>
          <a:p>
            <a:pPr algn="ctr">
              <a:lnSpc>
                <a:spcPts val="1946"/>
              </a:lnSpc>
            </a:pPr>
            <a:r>
              <a:rPr lang="en-US" sz="1622">
                <a:solidFill>
                  <a:srgbClr val="222222"/>
                </a:solidFill>
                <a:latin typeface="Fira Code"/>
                <a:ea typeface="Fira Code"/>
                <a:cs typeface="Fira Code"/>
                <a:sym typeface="Fira Code"/>
              </a:rPr>
              <a:t>(Monthly step)</a:t>
            </a:r>
          </a:p>
        </p:txBody>
      </p:sp>
      <p:sp>
        <p:nvSpPr>
          <p:cNvPr id="50" name="TextBox 50"/>
          <p:cNvSpPr txBox="1"/>
          <p:nvPr/>
        </p:nvSpPr>
        <p:spPr>
          <a:xfrm>
            <a:off x="5535576" y="7136713"/>
            <a:ext cx="3108960" cy="514350"/>
          </a:xfrm>
          <a:prstGeom prst="rect">
            <a:avLst/>
          </a:prstGeom>
        </p:spPr>
        <p:txBody>
          <a:bodyPr lIns="0" tIns="0" rIns="0" bIns="0" rtlCol="0" anchor="t">
            <a:spAutoFit/>
          </a:bodyPr>
          <a:lstStyle/>
          <a:p>
            <a:pPr algn="ctr">
              <a:lnSpc>
                <a:spcPts val="2025"/>
              </a:lnSpc>
            </a:pPr>
            <a:r>
              <a:rPr lang="en-US" sz="1687">
                <a:solidFill>
                  <a:srgbClr val="222222"/>
                </a:solidFill>
                <a:latin typeface="Fira Code"/>
                <a:ea typeface="Fira Code"/>
                <a:cs typeface="Fira Code"/>
                <a:sym typeface="Fira Code"/>
              </a:rPr>
              <a:t>W</a:t>
            </a:r>
          </a:p>
          <a:p>
            <a:pPr algn="ctr">
              <a:lnSpc>
                <a:spcPts val="2025"/>
              </a:lnSpc>
            </a:pPr>
            <a:r>
              <a:rPr lang="en-US" sz="1687">
                <a:solidFill>
                  <a:srgbClr val="222222"/>
                </a:solidFill>
                <a:latin typeface="Fira Code"/>
                <a:ea typeface="Fira Code"/>
                <a:cs typeface="Fira Code"/>
                <a:sym typeface="Fira Code"/>
              </a:rPr>
              <a:t>(Day-of-Week)</a:t>
            </a:r>
          </a:p>
        </p:txBody>
      </p:sp>
      <p:sp>
        <p:nvSpPr>
          <p:cNvPr id="51" name="TextBox 51"/>
          <p:cNvSpPr txBox="1"/>
          <p:nvPr/>
        </p:nvSpPr>
        <p:spPr>
          <a:xfrm>
            <a:off x="7927055" y="7165288"/>
            <a:ext cx="1359471" cy="466725"/>
          </a:xfrm>
          <a:prstGeom prst="rect">
            <a:avLst/>
          </a:prstGeom>
        </p:spPr>
        <p:txBody>
          <a:bodyPr lIns="0" tIns="0" rIns="0" bIns="0" rtlCol="0" anchor="t">
            <a:spAutoFit/>
          </a:bodyPr>
          <a:lstStyle/>
          <a:p>
            <a:pPr algn="ctr">
              <a:lnSpc>
                <a:spcPts val="1946"/>
              </a:lnSpc>
            </a:pPr>
            <a:r>
              <a:rPr lang="en-US" sz="1622">
                <a:solidFill>
                  <a:srgbClr val="222222"/>
                </a:solidFill>
                <a:latin typeface="Fira Code"/>
                <a:ea typeface="Fira Code"/>
                <a:cs typeface="Fira Code"/>
                <a:sym typeface="Fira Code"/>
              </a:rPr>
              <a:t>D</a:t>
            </a:r>
          </a:p>
          <a:p>
            <a:pPr algn="ctr">
              <a:lnSpc>
                <a:spcPts val="1946"/>
              </a:lnSpc>
            </a:pPr>
            <a:r>
              <a:rPr lang="en-US" sz="1622">
                <a:solidFill>
                  <a:srgbClr val="222222"/>
                </a:solidFill>
                <a:latin typeface="Fira Code"/>
                <a:ea typeface="Fira Code"/>
                <a:cs typeface="Fira Code"/>
                <a:sym typeface="Fira Code"/>
              </a:rPr>
              <a:t>(Month-end)</a:t>
            </a:r>
          </a:p>
        </p:txBody>
      </p:sp>
      <p:sp>
        <p:nvSpPr>
          <p:cNvPr id="52" name="TextBox 52"/>
          <p:cNvSpPr txBox="1"/>
          <p:nvPr/>
        </p:nvSpPr>
        <p:spPr>
          <a:xfrm>
            <a:off x="16989552" y="9988373"/>
            <a:ext cx="1225296" cy="173776"/>
          </a:xfrm>
          <a:prstGeom prst="rect">
            <a:avLst/>
          </a:prstGeom>
        </p:spPr>
        <p:txBody>
          <a:bodyPr lIns="0" tIns="0" rIns="0" bIns="0" rtlCol="0" anchor="t">
            <a:spAutoFit/>
          </a:bodyPr>
          <a:lstStyle/>
          <a:p>
            <a:pPr algn="r">
              <a:lnSpc>
                <a:spcPts val="1446"/>
              </a:lnSpc>
            </a:pPr>
            <a:r>
              <a:rPr lang="en-US" sz="1033" b="1">
                <a:solidFill>
                  <a:srgbClr val="222222"/>
                </a:solidFill>
                <a:latin typeface="Fira Code Bold"/>
                <a:ea typeface="Fira Code Bold"/>
                <a:cs typeface="Fira Code Bold"/>
                <a:sym typeface="Fira Code Bold"/>
              </a:rPr>
              <a:t>Gemini Notebook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txBody>
            <a:bodyPr/>
            <a:lstStyle/>
            <a:p>
              <a:endParaRPr lang="en-US"/>
            </a:p>
          </p:txBody>
        </p:sp>
      </p:grpSp>
      <p:grpSp>
        <p:nvGrpSpPr>
          <p:cNvPr id="4" name="Group 4"/>
          <p:cNvGrpSpPr/>
          <p:nvPr/>
        </p:nvGrpSpPr>
        <p:grpSpPr>
          <a:xfrm>
            <a:off x="531628" y="133945"/>
            <a:ext cx="17211453" cy="294680"/>
            <a:chOff x="0" y="0"/>
            <a:chExt cx="22948605" cy="392906"/>
          </a:xfrm>
        </p:grpSpPr>
        <p:sp>
          <p:nvSpPr>
            <p:cNvPr id="5" name="Freeform 5"/>
            <p:cNvSpPr/>
            <p:nvPr/>
          </p:nvSpPr>
          <p:spPr>
            <a:xfrm>
              <a:off x="0" y="0"/>
              <a:ext cx="22948605" cy="392906"/>
            </a:xfrm>
            <a:custGeom>
              <a:avLst/>
              <a:gdLst/>
              <a:ahLst/>
              <a:cxnLst/>
              <a:rect l="l" t="t" r="r" b="b"/>
              <a:pathLst>
                <a:path w="22948605" h="392906">
                  <a:moveTo>
                    <a:pt x="0" y="0"/>
                  </a:moveTo>
                  <a:lnTo>
                    <a:pt x="22948605" y="0"/>
                  </a:lnTo>
                  <a:lnTo>
                    <a:pt x="22948605" y="392906"/>
                  </a:lnTo>
                  <a:lnTo>
                    <a:pt x="0" y="392906"/>
                  </a:lnTo>
                  <a:close/>
                </a:path>
              </a:pathLst>
            </a:custGeom>
            <a:blipFill>
              <a:blip r:embed="rId3"/>
              <a:stretch>
                <a:fillRect l="-3088" t="-45454" r="-694"/>
              </a:stretch>
            </a:blipFill>
          </p:spPr>
          <p:txBody>
            <a:bodyPr/>
            <a:lstStyle/>
            <a:p>
              <a:endParaRPr lang="en-US"/>
            </a:p>
          </p:txBody>
        </p:sp>
      </p:grpSp>
      <p:grpSp>
        <p:nvGrpSpPr>
          <p:cNvPr id="6" name="Group 6"/>
          <p:cNvGrpSpPr/>
          <p:nvPr/>
        </p:nvGrpSpPr>
        <p:grpSpPr>
          <a:xfrm>
            <a:off x="159488" y="522387"/>
            <a:ext cx="279105" cy="9335988"/>
            <a:chOff x="0" y="0"/>
            <a:chExt cx="372140" cy="12447984"/>
          </a:xfrm>
        </p:grpSpPr>
        <p:sp>
          <p:nvSpPr>
            <p:cNvPr id="7" name="Freeform 7"/>
            <p:cNvSpPr/>
            <p:nvPr/>
          </p:nvSpPr>
          <p:spPr>
            <a:xfrm>
              <a:off x="0" y="0"/>
              <a:ext cx="372140" cy="12447984"/>
            </a:xfrm>
            <a:custGeom>
              <a:avLst/>
              <a:gdLst/>
              <a:ahLst/>
              <a:cxnLst/>
              <a:rect l="l" t="t" r="r" b="b"/>
              <a:pathLst>
                <a:path w="372140" h="12447984">
                  <a:moveTo>
                    <a:pt x="0" y="0"/>
                  </a:moveTo>
                  <a:lnTo>
                    <a:pt x="372140" y="0"/>
                  </a:lnTo>
                  <a:lnTo>
                    <a:pt x="372140" y="12447984"/>
                  </a:lnTo>
                  <a:lnTo>
                    <a:pt x="0" y="12447984"/>
                  </a:lnTo>
                  <a:close/>
                </a:path>
              </a:pathLst>
            </a:custGeom>
            <a:blipFill>
              <a:blip r:embed="rId4"/>
              <a:stretch>
                <a:fillRect l="-57142" t="-1004"/>
              </a:stretch>
            </a:blipFill>
          </p:spPr>
          <p:txBody>
            <a:bodyPr/>
            <a:lstStyle/>
            <a:p>
              <a:endParaRPr lang="en-US"/>
            </a:p>
          </p:txBody>
        </p:sp>
      </p:grpSp>
      <p:grpSp>
        <p:nvGrpSpPr>
          <p:cNvPr id="8" name="Group 8"/>
          <p:cNvGrpSpPr/>
          <p:nvPr/>
        </p:nvGrpSpPr>
        <p:grpSpPr>
          <a:xfrm>
            <a:off x="531628" y="428625"/>
            <a:ext cx="17211453" cy="9429750"/>
            <a:chOff x="0" y="0"/>
            <a:chExt cx="22948605" cy="12573000"/>
          </a:xfrm>
        </p:grpSpPr>
        <p:sp>
          <p:nvSpPr>
            <p:cNvPr id="9" name="Freeform 9"/>
            <p:cNvSpPr/>
            <p:nvPr/>
          </p:nvSpPr>
          <p:spPr>
            <a:xfrm>
              <a:off x="0" y="0"/>
              <a:ext cx="22948605" cy="12573000"/>
            </a:xfrm>
            <a:custGeom>
              <a:avLst/>
              <a:gdLst/>
              <a:ahLst/>
              <a:cxnLst/>
              <a:rect l="l" t="t" r="r" b="b"/>
              <a:pathLst>
                <a:path w="22948605" h="12573000">
                  <a:moveTo>
                    <a:pt x="0" y="0"/>
                  </a:moveTo>
                  <a:lnTo>
                    <a:pt x="22948605" y="0"/>
                  </a:lnTo>
                  <a:lnTo>
                    <a:pt x="22948605" y="12573000"/>
                  </a:lnTo>
                  <a:lnTo>
                    <a:pt x="0" y="12573000"/>
                  </a:lnTo>
                  <a:close/>
                </a:path>
              </a:pathLst>
            </a:custGeom>
            <a:blipFill>
              <a:blip r:embed="rId5"/>
              <a:stretch>
                <a:fillRect l="-617" r="-694"/>
              </a:stretch>
            </a:blipFill>
          </p:spPr>
          <p:txBody>
            <a:bodyPr/>
            <a:lstStyle/>
            <a:p>
              <a:endParaRPr lang="en-US"/>
            </a:p>
          </p:txBody>
        </p:sp>
      </p:grpSp>
      <p:sp>
        <p:nvSpPr>
          <p:cNvPr id="10" name="TextBox 10"/>
          <p:cNvSpPr txBox="1"/>
          <p:nvPr/>
        </p:nvSpPr>
        <p:spPr>
          <a:xfrm>
            <a:off x="1572768" y="1053775"/>
            <a:ext cx="14959584" cy="800100"/>
          </a:xfrm>
          <a:prstGeom prst="rect">
            <a:avLst/>
          </a:prstGeom>
        </p:spPr>
        <p:txBody>
          <a:bodyPr lIns="0" tIns="0" rIns="0" bIns="0" rtlCol="0" anchor="t">
            <a:spAutoFit/>
          </a:bodyPr>
          <a:lstStyle/>
          <a:p>
            <a:pPr algn="ctr">
              <a:lnSpc>
                <a:spcPts val="6330"/>
              </a:lnSpc>
            </a:pPr>
            <a:r>
              <a:rPr lang="en-US" sz="5275">
                <a:solidFill>
                  <a:srgbClr val="3D4A55"/>
                </a:solidFill>
                <a:latin typeface="Roboto Mono"/>
                <a:ea typeface="Roboto Mono"/>
                <a:cs typeface="Roboto Mono"/>
                <a:sym typeface="Roboto Mono"/>
              </a:rPr>
              <a:t>The Regime Signal &amp; Compression Pivot</a:t>
            </a:r>
          </a:p>
        </p:txBody>
      </p:sp>
      <p:grpSp>
        <p:nvGrpSpPr>
          <p:cNvPr id="11" name="Group 11"/>
          <p:cNvGrpSpPr/>
          <p:nvPr/>
        </p:nvGrpSpPr>
        <p:grpSpPr>
          <a:xfrm>
            <a:off x="4372640" y="2571750"/>
            <a:ext cx="2963826" cy="1754684"/>
            <a:chOff x="0" y="0"/>
            <a:chExt cx="3951767" cy="2339578"/>
          </a:xfrm>
        </p:grpSpPr>
        <p:sp>
          <p:nvSpPr>
            <p:cNvPr id="12" name="Freeform 12"/>
            <p:cNvSpPr/>
            <p:nvPr/>
          </p:nvSpPr>
          <p:spPr>
            <a:xfrm>
              <a:off x="0" y="0"/>
              <a:ext cx="3951767" cy="2339578"/>
            </a:xfrm>
            <a:custGeom>
              <a:avLst/>
              <a:gdLst/>
              <a:ahLst/>
              <a:cxnLst/>
              <a:rect l="l" t="t" r="r" b="b"/>
              <a:pathLst>
                <a:path w="3951767" h="2339578">
                  <a:moveTo>
                    <a:pt x="0" y="0"/>
                  </a:moveTo>
                  <a:lnTo>
                    <a:pt x="3951767" y="0"/>
                  </a:lnTo>
                  <a:lnTo>
                    <a:pt x="3951767" y="2339578"/>
                  </a:lnTo>
                  <a:lnTo>
                    <a:pt x="0" y="2339578"/>
                  </a:lnTo>
                  <a:close/>
                </a:path>
              </a:pathLst>
            </a:custGeom>
            <a:blipFill>
              <a:blip r:embed="rId6"/>
              <a:stretch>
                <a:fillRect l="-896" r="-2242" b="-9923"/>
              </a:stretch>
            </a:blipFill>
          </p:spPr>
          <p:txBody>
            <a:bodyPr/>
            <a:lstStyle/>
            <a:p>
              <a:endParaRPr lang="en-US"/>
            </a:p>
          </p:txBody>
        </p:sp>
      </p:grpSp>
      <p:sp>
        <p:nvSpPr>
          <p:cNvPr id="13" name="TextBox 13"/>
          <p:cNvSpPr txBox="1"/>
          <p:nvPr/>
        </p:nvSpPr>
        <p:spPr>
          <a:xfrm>
            <a:off x="4517136" y="2804493"/>
            <a:ext cx="2670048" cy="971550"/>
          </a:xfrm>
          <a:prstGeom prst="rect">
            <a:avLst/>
          </a:prstGeom>
        </p:spPr>
        <p:txBody>
          <a:bodyPr lIns="0" tIns="0" rIns="0" bIns="0" rtlCol="0" anchor="t">
            <a:spAutoFit/>
          </a:bodyPr>
          <a:lstStyle/>
          <a:p>
            <a:pPr algn="ctr">
              <a:lnSpc>
                <a:spcPts val="2597"/>
              </a:lnSpc>
            </a:pPr>
            <a:r>
              <a:rPr lang="en-US" sz="2164">
                <a:solidFill>
                  <a:srgbClr val="000000"/>
                </a:solidFill>
                <a:latin typeface="Roboto Mono"/>
                <a:ea typeface="Roboto Mono"/>
                <a:cs typeface="Roboto Mono"/>
                <a:sym typeface="Roboto Mono"/>
              </a:rPr>
              <a:t>The load-bearing expected wash correction.</a:t>
            </a:r>
          </a:p>
        </p:txBody>
      </p:sp>
      <p:grpSp>
        <p:nvGrpSpPr>
          <p:cNvPr id="14" name="Group 14"/>
          <p:cNvGrpSpPr/>
          <p:nvPr/>
        </p:nvGrpSpPr>
        <p:grpSpPr>
          <a:xfrm>
            <a:off x="983512" y="4353223"/>
            <a:ext cx="2791047" cy="1326059"/>
            <a:chOff x="0" y="0"/>
            <a:chExt cx="3721395" cy="1768078"/>
          </a:xfrm>
        </p:grpSpPr>
        <p:sp>
          <p:nvSpPr>
            <p:cNvPr id="15" name="Freeform 15"/>
            <p:cNvSpPr/>
            <p:nvPr/>
          </p:nvSpPr>
          <p:spPr>
            <a:xfrm>
              <a:off x="0" y="0"/>
              <a:ext cx="3721395" cy="1768078"/>
            </a:xfrm>
            <a:custGeom>
              <a:avLst/>
              <a:gdLst/>
              <a:ahLst/>
              <a:cxnLst/>
              <a:rect l="l" t="t" r="r" b="b"/>
              <a:pathLst>
                <a:path w="3721395" h="1768078">
                  <a:moveTo>
                    <a:pt x="0" y="0"/>
                  </a:moveTo>
                  <a:lnTo>
                    <a:pt x="3721395" y="0"/>
                  </a:lnTo>
                  <a:lnTo>
                    <a:pt x="3721395" y="1768078"/>
                  </a:lnTo>
                  <a:lnTo>
                    <a:pt x="0" y="1768078"/>
                  </a:lnTo>
                  <a:close/>
                </a:path>
              </a:pathLst>
            </a:custGeom>
            <a:blipFill>
              <a:blip r:embed="rId7"/>
              <a:stretch>
                <a:fillRect l="-4285" t="-5050" r="-5238" b="-8080"/>
              </a:stretch>
            </a:blipFill>
          </p:spPr>
          <p:txBody>
            <a:bodyPr/>
            <a:lstStyle/>
            <a:p>
              <a:endParaRPr lang="en-US"/>
            </a:p>
          </p:txBody>
        </p:sp>
      </p:grpSp>
      <p:sp>
        <p:nvSpPr>
          <p:cNvPr id="16" name="TextBox 16"/>
          <p:cNvSpPr txBox="1"/>
          <p:nvPr/>
        </p:nvSpPr>
        <p:spPr>
          <a:xfrm>
            <a:off x="1152144" y="4695480"/>
            <a:ext cx="2377440" cy="666750"/>
          </a:xfrm>
          <a:prstGeom prst="rect">
            <a:avLst/>
          </a:prstGeom>
        </p:spPr>
        <p:txBody>
          <a:bodyPr lIns="0" tIns="0" rIns="0" bIns="0" rtlCol="0" anchor="t">
            <a:spAutoFit/>
          </a:bodyPr>
          <a:lstStyle/>
          <a:p>
            <a:pPr algn="ctr">
              <a:lnSpc>
                <a:spcPts val="2637"/>
              </a:lnSpc>
            </a:pPr>
            <a:r>
              <a:rPr lang="en-US" sz="2197" b="1">
                <a:solidFill>
                  <a:srgbClr val="000000"/>
                </a:solidFill>
                <a:latin typeface="Roboto Mono Medium"/>
                <a:ea typeface="Roboto Mono Medium"/>
                <a:cs typeface="Roboto Mono Medium"/>
                <a:sym typeface="Roboto Mono Medium"/>
              </a:rPr>
              <a:t>lambda</a:t>
            </a:r>
          </a:p>
          <a:p>
            <a:pPr algn="ctr">
              <a:lnSpc>
                <a:spcPts val="2637"/>
              </a:lnSpc>
            </a:pPr>
            <a:r>
              <a:rPr lang="en-US" sz="2197" b="1">
                <a:solidFill>
                  <a:srgbClr val="000000"/>
                </a:solidFill>
                <a:latin typeface="Roboto Mono Medium"/>
                <a:ea typeface="Roboto Mono Medium"/>
                <a:cs typeface="Roboto Mono Medium"/>
                <a:sym typeface="Roboto Mono Medium"/>
              </a:rPr>
              <a:t>(Gross Demand)</a:t>
            </a:r>
          </a:p>
        </p:txBody>
      </p:sp>
      <p:grpSp>
        <p:nvGrpSpPr>
          <p:cNvPr id="17" name="Group 17"/>
          <p:cNvGrpSpPr/>
          <p:nvPr/>
        </p:nvGrpSpPr>
        <p:grpSpPr>
          <a:xfrm>
            <a:off x="3708105" y="4889004"/>
            <a:ext cx="863895" cy="254496"/>
            <a:chOff x="0" y="0"/>
            <a:chExt cx="1151860" cy="339328"/>
          </a:xfrm>
        </p:grpSpPr>
        <p:sp>
          <p:nvSpPr>
            <p:cNvPr id="18" name="Freeform 18"/>
            <p:cNvSpPr/>
            <p:nvPr/>
          </p:nvSpPr>
          <p:spPr>
            <a:xfrm>
              <a:off x="0" y="0"/>
              <a:ext cx="1151861" cy="339328"/>
            </a:xfrm>
            <a:custGeom>
              <a:avLst/>
              <a:gdLst/>
              <a:ahLst/>
              <a:cxnLst/>
              <a:rect l="l" t="t" r="r" b="b"/>
              <a:pathLst>
                <a:path w="1151861" h="339328">
                  <a:moveTo>
                    <a:pt x="0" y="0"/>
                  </a:moveTo>
                  <a:lnTo>
                    <a:pt x="1151861" y="0"/>
                  </a:lnTo>
                  <a:lnTo>
                    <a:pt x="1151861" y="339328"/>
                  </a:lnTo>
                  <a:lnTo>
                    <a:pt x="0" y="339328"/>
                  </a:lnTo>
                  <a:close/>
                </a:path>
              </a:pathLst>
            </a:custGeom>
            <a:blipFill>
              <a:blip r:embed="rId8"/>
              <a:stretch>
                <a:fillRect l="-1538" t="-68421"/>
              </a:stretch>
            </a:blipFill>
          </p:spPr>
          <p:txBody>
            <a:bodyPr/>
            <a:lstStyle/>
            <a:p>
              <a:endParaRPr lang="en-US"/>
            </a:p>
          </p:txBody>
        </p:sp>
      </p:grpSp>
      <p:grpSp>
        <p:nvGrpSpPr>
          <p:cNvPr id="19" name="Group 19"/>
          <p:cNvGrpSpPr/>
          <p:nvPr/>
        </p:nvGrpSpPr>
        <p:grpSpPr>
          <a:xfrm>
            <a:off x="4572000" y="4286250"/>
            <a:ext cx="2591686" cy="1393031"/>
            <a:chOff x="0" y="0"/>
            <a:chExt cx="3455581" cy="1857375"/>
          </a:xfrm>
        </p:grpSpPr>
        <p:sp>
          <p:nvSpPr>
            <p:cNvPr id="20" name="Freeform 20"/>
            <p:cNvSpPr/>
            <p:nvPr/>
          </p:nvSpPr>
          <p:spPr>
            <a:xfrm>
              <a:off x="0" y="0"/>
              <a:ext cx="3455581" cy="1857375"/>
            </a:xfrm>
            <a:custGeom>
              <a:avLst/>
              <a:gdLst/>
              <a:ahLst/>
              <a:cxnLst/>
              <a:rect l="l" t="t" r="r" b="b"/>
              <a:pathLst>
                <a:path w="3455581" h="1857375">
                  <a:moveTo>
                    <a:pt x="0" y="0"/>
                  </a:moveTo>
                  <a:lnTo>
                    <a:pt x="3455581" y="0"/>
                  </a:lnTo>
                  <a:lnTo>
                    <a:pt x="3455581" y="1857375"/>
                  </a:lnTo>
                  <a:lnTo>
                    <a:pt x="0" y="1857375"/>
                  </a:lnTo>
                  <a:close/>
                </a:path>
              </a:pathLst>
            </a:custGeom>
            <a:blipFill>
              <a:blip r:embed="rId9"/>
              <a:stretch>
                <a:fillRect r="-1025" b="-7692"/>
              </a:stretch>
            </a:blipFill>
          </p:spPr>
          <p:txBody>
            <a:bodyPr/>
            <a:lstStyle/>
            <a:p>
              <a:endParaRPr lang="en-US"/>
            </a:p>
          </p:txBody>
        </p:sp>
      </p:grpSp>
      <p:sp>
        <p:nvSpPr>
          <p:cNvPr id="21" name="TextBox 21"/>
          <p:cNvSpPr txBox="1"/>
          <p:nvPr/>
        </p:nvSpPr>
        <p:spPr>
          <a:xfrm>
            <a:off x="4828032" y="4668691"/>
            <a:ext cx="2011680" cy="704850"/>
          </a:xfrm>
          <a:prstGeom prst="rect">
            <a:avLst/>
          </a:prstGeom>
        </p:spPr>
        <p:txBody>
          <a:bodyPr lIns="0" tIns="0" rIns="0" bIns="0" rtlCol="0" anchor="t">
            <a:spAutoFit/>
          </a:bodyPr>
          <a:lstStyle/>
          <a:p>
            <a:pPr algn="ctr">
              <a:lnSpc>
                <a:spcPts val="2825"/>
              </a:lnSpc>
            </a:pPr>
            <a:r>
              <a:rPr lang="en-US" sz="2354" b="1">
                <a:solidFill>
                  <a:srgbClr val="000000"/>
                </a:solidFill>
                <a:latin typeface="Roboto Mono Medium"/>
                <a:ea typeface="Roboto Mono Medium"/>
                <a:cs typeface="Roboto Mono Medium"/>
                <a:sym typeface="Roboto Mono Medium"/>
              </a:rPr>
              <a:t>Multiply by</a:t>
            </a:r>
          </a:p>
          <a:p>
            <a:pPr algn="ctr">
              <a:lnSpc>
                <a:spcPts val="2825"/>
              </a:lnSpc>
            </a:pPr>
            <a:r>
              <a:rPr lang="en-US" sz="2354" b="1">
                <a:solidFill>
                  <a:srgbClr val="000000"/>
                </a:solidFill>
                <a:latin typeface="Roboto Mono Medium"/>
                <a:ea typeface="Roboto Mono Medium"/>
                <a:cs typeface="Roboto Mono Medium"/>
                <a:sym typeface="Roboto Mono Medium"/>
              </a:rPr>
              <a:t>(1 - 0.24)</a:t>
            </a:r>
          </a:p>
        </p:txBody>
      </p:sp>
      <p:grpSp>
        <p:nvGrpSpPr>
          <p:cNvPr id="22" name="Group 22"/>
          <p:cNvGrpSpPr/>
          <p:nvPr/>
        </p:nvGrpSpPr>
        <p:grpSpPr>
          <a:xfrm>
            <a:off x="7110523" y="4889004"/>
            <a:ext cx="863895" cy="254496"/>
            <a:chOff x="0" y="0"/>
            <a:chExt cx="1151860" cy="339328"/>
          </a:xfrm>
        </p:grpSpPr>
        <p:sp>
          <p:nvSpPr>
            <p:cNvPr id="23" name="Freeform 23"/>
            <p:cNvSpPr/>
            <p:nvPr/>
          </p:nvSpPr>
          <p:spPr>
            <a:xfrm>
              <a:off x="0" y="0"/>
              <a:ext cx="1151861" cy="339328"/>
            </a:xfrm>
            <a:custGeom>
              <a:avLst/>
              <a:gdLst/>
              <a:ahLst/>
              <a:cxnLst/>
              <a:rect l="l" t="t" r="r" b="b"/>
              <a:pathLst>
                <a:path w="1151861" h="339328">
                  <a:moveTo>
                    <a:pt x="0" y="0"/>
                  </a:moveTo>
                  <a:lnTo>
                    <a:pt x="1151861" y="0"/>
                  </a:lnTo>
                  <a:lnTo>
                    <a:pt x="1151861" y="339328"/>
                  </a:lnTo>
                  <a:lnTo>
                    <a:pt x="0" y="339328"/>
                  </a:lnTo>
                  <a:close/>
                </a:path>
              </a:pathLst>
            </a:custGeom>
            <a:blipFill>
              <a:blip r:embed="rId10"/>
              <a:stretch>
                <a:fillRect l="-16923" t="-68421" r="-10769"/>
              </a:stretch>
            </a:blipFill>
          </p:spPr>
          <p:txBody>
            <a:bodyPr/>
            <a:lstStyle/>
            <a:p>
              <a:endParaRPr lang="en-US"/>
            </a:p>
          </p:txBody>
        </p:sp>
      </p:grpSp>
      <p:grpSp>
        <p:nvGrpSpPr>
          <p:cNvPr id="24" name="Group 24"/>
          <p:cNvGrpSpPr/>
          <p:nvPr/>
        </p:nvGrpSpPr>
        <p:grpSpPr>
          <a:xfrm>
            <a:off x="7961128" y="4353223"/>
            <a:ext cx="2578395" cy="1326059"/>
            <a:chOff x="0" y="0"/>
            <a:chExt cx="3437860" cy="1768078"/>
          </a:xfrm>
        </p:grpSpPr>
        <p:sp>
          <p:nvSpPr>
            <p:cNvPr id="25" name="Freeform 25"/>
            <p:cNvSpPr/>
            <p:nvPr/>
          </p:nvSpPr>
          <p:spPr>
            <a:xfrm>
              <a:off x="0" y="0"/>
              <a:ext cx="3437860" cy="1768078"/>
            </a:xfrm>
            <a:custGeom>
              <a:avLst/>
              <a:gdLst/>
              <a:ahLst/>
              <a:cxnLst/>
              <a:rect l="l" t="t" r="r" b="b"/>
              <a:pathLst>
                <a:path w="3437860" h="1768078">
                  <a:moveTo>
                    <a:pt x="0" y="0"/>
                  </a:moveTo>
                  <a:lnTo>
                    <a:pt x="3437860" y="0"/>
                  </a:lnTo>
                  <a:lnTo>
                    <a:pt x="3437860" y="1768078"/>
                  </a:lnTo>
                  <a:lnTo>
                    <a:pt x="0" y="1768078"/>
                  </a:lnTo>
                  <a:close/>
                </a:path>
              </a:pathLst>
            </a:custGeom>
            <a:blipFill>
              <a:blip r:embed="rId11"/>
              <a:stretch>
                <a:fillRect l="-5154" t="-5050" r="-5154" b="-8080"/>
              </a:stretch>
            </a:blipFill>
          </p:spPr>
          <p:txBody>
            <a:bodyPr/>
            <a:lstStyle/>
            <a:p>
              <a:endParaRPr lang="en-US"/>
            </a:p>
          </p:txBody>
        </p:sp>
      </p:grpSp>
      <p:sp>
        <p:nvSpPr>
          <p:cNvPr id="26" name="TextBox 26"/>
          <p:cNvSpPr txBox="1"/>
          <p:nvPr/>
        </p:nvSpPr>
        <p:spPr>
          <a:xfrm>
            <a:off x="8101584" y="4648117"/>
            <a:ext cx="2194560" cy="704850"/>
          </a:xfrm>
          <a:prstGeom prst="rect">
            <a:avLst/>
          </a:prstGeom>
        </p:spPr>
        <p:txBody>
          <a:bodyPr lIns="0" tIns="0" rIns="0" bIns="0" rtlCol="0" anchor="t">
            <a:spAutoFit/>
          </a:bodyPr>
          <a:lstStyle/>
          <a:p>
            <a:pPr algn="ctr">
              <a:lnSpc>
                <a:spcPts val="2825"/>
              </a:lnSpc>
            </a:pPr>
            <a:r>
              <a:rPr lang="en-US" sz="2354" b="1">
                <a:solidFill>
                  <a:srgbClr val="000000"/>
                </a:solidFill>
                <a:latin typeface="Roboto Mono Medium"/>
                <a:ea typeface="Roboto Mono Medium"/>
                <a:cs typeface="Roboto Mono Medium"/>
                <a:sym typeface="Roboto Mono Medium"/>
              </a:rPr>
              <a:t>Divide by Capacity (C)</a:t>
            </a:r>
          </a:p>
        </p:txBody>
      </p:sp>
      <p:grpSp>
        <p:nvGrpSpPr>
          <p:cNvPr id="27" name="Group 27"/>
          <p:cNvGrpSpPr/>
          <p:nvPr/>
        </p:nvGrpSpPr>
        <p:grpSpPr>
          <a:xfrm>
            <a:off x="10499651" y="4889004"/>
            <a:ext cx="903767" cy="254496"/>
            <a:chOff x="0" y="0"/>
            <a:chExt cx="1205023" cy="339328"/>
          </a:xfrm>
        </p:grpSpPr>
        <p:sp>
          <p:nvSpPr>
            <p:cNvPr id="28" name="Freeform 28"/>
            <p:cNvSpPr/>
            <p:nvPr/>
          </p:nvSpPr>
          <p:spPr>
            <a:xfrm>
              <a:off x="0" y="0"/>
              <a:ext cx="1205023" cy="339328"/>
            </a:xfrm>
            <a:custGeom>
              <a:avLst/>
              <a:gdLst/>
              <a:ahLst/>
              <a:cxnLst/>
              <a:rect l="l" t="t" r="r" b="b"/>
              <a:pathLst>
                <a:path w="1205023" h="339328">
                  <a:moveTo>
                    <a:pt x="0" y="0"/>
                  </a:moveTo>
                  <a:lnTo>
                    <a:pt x="1205023" y="0"/>
                  </a:lnTo>
                  <a:lnTo>
                    <a:pt x="1205023" y="339328"/>
                  </a:lnTo>
                  <a:lnTo>
                    <a:pt x="0" y="339328"/>
                  </a:lnTo>
                  <a:close/>
                </a:path>
              </a:pathLst>
            </a:custGeom>
            <a:blipFill>
              <a:blip r:embed="rId12"/>
              <a:stretch>
                <a:fillRect l="-5882" t="-68421" r="-16176"/>
              </a:stretch>
            </a:blipFill>
          </p:spPr>
          <p:txBody>
            <a:bodyPr/>
            <a:lstStyle/>
            <a:p>
              <a:endParaRPr lang="en-US"/>
            </a:p>
          </p:txBody>
        </p:sp>
      </p:grpSp>
      <p:grpSp>
        <p:nvGrpSpPr>
          <p:cNvPr id="29" name="Group 29"/>
          <p:cNvGrpSpPr/>
          <p:nvPr/>
        </p:nvGrpSpPr>
        <p:grpSpPr>
          <a:xfrm>
            <a:off x="11403419" y="4353223"/>
            <a:ext cx="2578395" cy="1326059"/>
            <a:chOff x="0" y="0"/>
            <a:chExt cx="3437860" cy="1768078"/>
          </a:xfrm>
        </p:grpSpPr>
        <p:sp>
          <p:nvSpPr>
            <p:cNvPr id="30" name="Freeform 30"/>
            <p:cNvSpPr/>
            <p:nvPr/>
          </p:nvSpPr>
          <p:spPr>
            <a:xfrm>
              <a:off x="0" y="0"/>
              <a:ext cx="3437860" cy="1768078"/>
            </a:xfrm>
            <a:custGeom>
              <a:avLst/>
              <a:gdLst/>
              <a:ahLst/>
              <a:cxnLst/>
              <a:rect l="l" t="t" r="r" b="b"/>
              <a:pathLst>
                <a:path w="3437860" h="1768078">
                  <a:moveTo>
                    <a:pt x="0" y="0"/>
                  </a:moveTo>
                  <a:lnTo>
                    <a:pt x="3437860" y="0"/>
                  </a:lnTo>
                  <a:lnTo>
                    <a:pt x="3437860" y="1768078"/>
                  </a:lnTo>
                  <a:lnTo>
                    <a:pt x="0" y="1768078"/>
                  </a:lnTo>
                  <a:close/>
                </a:path>
              </a:pathLst>
            </a:custGeom>
            <a:blipFill>
              <a:blip r:embed="rId13"/>
              <a:stretch>
                <a:fillRect l="-3608" t="-5050" r="-6701" b="-8080"/>
              </a:stretch>
            </a:blipFill>
          </p:spPr>
          <p:txBody>
            <a:bodyPr/>
            <a:lstStyle/>
            <a:p>
              <a:endParaRPr lang="en-US"/>
            </a:p>
          </p:txBody>
        </p:sp>
      </p:grpSp>
      <p:sp>
        <p:nvSpPr>
          <p:cNvPr id="31" name="TextBox 31"/>
          <p:cNvSpPr txBox="1"/>
          <p:nvPr/>
        </p:nvSpPr>
        <p:spPr>
          <a:xfrm>
            <a:off x="11960352" y="4674906"/>
            <a:ext cx="1389888" cy="685800"/>
          </a:xfrm>
          <a:prstGeom prst="rect">
            <a:avLst/>
          </a:prstGeom>
        </p:spPr>
        <p:txBody>
          <a:bodyPr lIns="0" tIns="0" rIns="0" bIns="0" rtlCol="0" anchor="t">
            <a:spAutoFit/>
          </a:bodyPr>
          <a:lstStyle/>
          <a:p>
            <a:pPr algn="ctr">
              <a:lnSpc>
                <a:spcPts val="2700"/>
              </a:lnSpc>
            </a:pPr>
            <a:r>
              <a:rPr lang="en-US" sz="2250" b="1">
                <a:solidFill>
                  <a:srgbClr val="000000"/>
                </a:solidFill>
                <a:latin typeface="Roboto Mono Medium"/>
                <a:ea typeface="Roboto Mono Medium"/>
                <a:cs typeface="Roboto Mono Medium"/>
                <a:sym typeface="Roboto Mono Medium"/>
              </a:rPr>
              <a:t>Clip at</a:t>
            </a:r>
          </a:p>
          <a:p>
            <a:pPr algn="ctr">
              <a:lnSpc>
                <a:spcPts val="2700"/>
              </a:lnSpc>
            </a:pPr>
            <a:r>
              <a:rPr lang="en-US" sz="2250" b="1">
                <a:solidFill>
                  <a:srgbClr val="000000"/>
                </a:solidFill>
                <a:latin typeface="Roboto Mono Medium"/>
                <a:ea typeface="Roboto Mono Medium"/>
                <a:cs typeface="Roboto Mono Medium"/>
                <a:sym typeface="Roboto Mono Medium"/>
              </a:rPr>
              <a:t>[0, 1.3]</a:t>
            </a:r>
          </a:p>
        </p:txBody>
      </p:sp>
      <p:grpSp>
        <p:nvGrpSpPr>
          <p:cNvPr id="32" name="Group 32"/>
          <p:cNvGrpSpPr/>
          <p:nvPr/>
        </p:nvGrpSpPr>
        <p:grpSpPr>
          <a:xfrm>
            <a:off x="13928651" y="4889004"/>
            <a:ext cx="757570" cy="254496"/>
            <a:chOff x="0" y="0"/>
            <a:chExt cx="1010093" cy="339328"/>
          </a:xfrm>
        </p:grpSpPr>
        <p:sp>
          <p:nvSpPr>
            <p:cNvPr id="33" name="Freeform 33"/>
            <p:cNvSpPr/>
            <p:nvPr/>
          </p:nvSpPr>
          <p:spPr>
            <a:xfrm>
              <a:off x="0" y="0"/>
              <a:ext cx="1010093" cy="339328"/>
            </a:xfrm>
            <a:custGeom>
              <a:avLst/>
              <a:gdLst/>
              <a:ahLst/>
              <a:cxnLst/>
              <a:rect l="l" t="t" r="r" b="b"/>
              <a:pathLst>
                <a:path w="1010093" h="339328">
                  <a:moveTo>
                    <a:pt x="0" y="0"/>
                  </a:moveTo>
                  <a:lnTo>
                    <a:pt x="1010093" y="0"/>
                  </a:lnTo>
                  <a:lnTo>
                    <a:pt x="1010093" y="339328"/>
                  </a:lnTo>
                  <a:lnTo>
                    <a:pt x="0" y="339328"/>
                  </a:lnTo>
                  <a:close/>
                </a:path>
              </a:pathLst>
            </a:custGeom>
            <a:blipFill>
              <a:blip r:embed="rId14"/>
              <a:stretch>
                <a:fillRect t="-68421" r="-15789"/>
              </a:stretch>
            </a:blipFill>
          </p:spPr>
          <p:txBody>
            <a:bodyPr/>
            <a:lstStyle/>
            <a:p>
              <a:endParaRPr lang="en-US"/>
            </a:p>
          </p:txBody>
        </p:sp>
      </p:grpSp>
      <p:grpSp>
        <p:nvGrpSpPr>
          <p:cNvPr id="34" name="Group 34"/>
          <p:cNvGrpSpPr/>
          <p:nvPr/>
        </p:nvGrpSpPr>
        <p:grpSpPr>
          <a:xfrm>
            <a:off x="14672930" y="4353223"/>
            <a:ext cx="2804337" cy="1326059"/>
            <a:chOff x="0" y="0"/>
            <a:chExt cx="3739116" cy="1768078"/>
          </a:xfrm>
        </p:grpSpPr>
        <p:sp>
          <p:nvSpPr>
            <p:cNvPr id="35" name="Freeform 35"/>
            <p:cNvSpPr/>
            <p:nvPr/>
          </p:nvSpPr>
          <p:spPr>
            <a:xfrm>
              <a:off x="0" y="0"/>
              <a:ext cx="3739116" cy="1768078"/>
            </a:xfrm>
            <a:custGeom>
              <a:avLst/>
              <a:gdLst/>
              <a:ahLst/>
              <a:cxnLst/>
              <a:rect l="l" t="t" r="r" b="b"/>
              <a:pathLst>
                <a:path w="3739116" h="1768078">
                  <a:moveTo>
                    <a:pt x="0" y="0"/>
                  </a:moveTo>
                  <a:lnTo>
                    <a:pt x="3739116" y="0"/>
                  </a:lnTo>
                  <a:lnTo>
                    <a:pt x="3739116" y="1768078"/>
                  </a:lnTo>
                  <a:lnTo>
                    <a:pt x="0" y="1768078"/>
                  </a:lnTo>
                  <a:close/>
                </a:path>
              </a:pathLst>
            </a:custGeom>
            <a:blipFill>
              <a:blip r:embed="rId15"/>
              <a:stretch>
                <a:fillRect l="-3317" t="-5050" r="-5687" b="-8080"/>
              </a:stretch>
            </a:blipFill>
          </p:spPr>
          <p:txBody>
            <a:bodyPr/>
            <a:lstStyle/>
            <a:p>
              <a:endParaRPr lang="en-US"/>
            </a:p>
          </p:txBody>
        </p:sp>
      </p:grpSp>
      <p:sp>
        <p:nvSpPr>
          <p:cNvPr id="36" name="TextBox 36"/>
          <p:cNvSpPr txBox="1"/>
          <p:nvPr/>
        </p:nvSpPr>
        <p:spPr>
          <a:xfrm>
            <a:off x="14923008" y="4695480"/>
            <a:ext cx="2194560" cy="666750"/>
          </a:xfrm>
          <a:prstGeom prst="rect">
            <a:avLst/>
          </a:prstGeom>
        </p:spPr>
        <p:txBody>
          <a:bodyPr lIns="0" tIns="0" rIns="0" bIns="0" rtlCol="0" anchor="t">
            <a:spAutoFit/>
          </a:bodyPr>
          <a:lstStyle/>
          <a:p>
            <a:pPr algn="ctr">
              <a:lnSpc>
                <a:spcPts val="2637"/>
              </a:lnSpc>
            </a:pPr>
            <a:r>
              <a:rPr lang="en-US" sz="2197" b="1">
                <a:solidFill>
                  <a:srgbClr val="000000"/>
                </a:solidFill>
                <a:latin typeface="Roboto Mono Medium"/>
                <a:ea typeface="Roboto Mono Medium"/>
                <a:cs typeface="Roboto Mono Medium"/>
                <a:sym typeface="Roboto Mono Medium"/>
              </a:rPr>
              <a:t>occ_expected</a:t>
            </a:r>
          </a:p>
          <a:p>
            <a:pPr algn="ctr">
              <a:lnSpc>
                <a:spcPts val="2637"/>
              </a:lnSpc>
            </a:pPr>
            <a:r>
              <a:rPr lang="en-US" sz="2197" b="1">
                <a:solidFill>
                  <a:srgbClr val="000000"/>
                </a:solidFill>
                <a:latin typeface="Roboto Mono Medium"/>
                <a:ea typeface="Roboto Mono Medium"/>
                <a:cs typeface="Roboto Mono Medium"/>
                <a:sym typeface="Roboto Mono Medium"/>
              </a:rPr>
              <a:t>(Mean: 0.717)</a:t>
            </a:r>
          </a:p>
        </p:txBody>
      </p:sp>
      <p:grpSp>
        <p:nvGrpSpPr>
          <p:cNvPr id="37" name="Group 37"/>
          <p:cNvGrpSpPr/>
          <p:nvPr/>
        </p:nvGrpSpPr>
        <p:grpSpPr>
          <a:xfrm>
            <a:off x="863895" y="6161484"/>
            <a:ext cx="16507047" cy="53578"/>
            <a:chOff x="0" y="0"/>
            <a:chExt cx="22009395" cy="71438"/>
          </a:xfrm>
        </p:grpSpPr>
        <p:sp>
          <p:nvSpPr>
            <p:cNvPr id="38" name="Freeform 38"/>
            <p:cNvSpPr/>
            <p:nvPr/>
          </p:nvSpPr>
          <p:spPr>
            <a:xfrm>
              <a:off x="0" y="0"/>
              <a:ext cx="22009396" cy="71438"/>
            </a:xfrm>
            <a:custGeom>
              <a:avLst/>
              <a:gdLst/>
              <a:ahLst/>
              <a:cxnLst/>
              <a:rect l="l" t="t" r="r" b="b"/>
              <a:pathLst>
                <a:path w="22009396" h="71438">
                  <a:moveTo>
                    <a:pt x="0" y="0"/>
                  </a:moveTo>
                  <a:lnTo>
                    <a:pt x="22009396" y="0"/>
                  </a:lnTo>
                  <a:lnTo>
                    <a:pt x="22009396" y="71438"/>
                  </a:lnTo>
                  <a:lnTo>
                    <a:pt x="0" y="71438"/>
                  </a:lnTo>
                  <a:close/>
                </a:path>
              </a:pathLst>
            </a:custGeom>
            <a:blipFill>
              <a:blip r:embed="rId16"/>
              <a:stretch>
                <a:fillRect t="-300000" r="-322"/>
              </a:stretch>
            </a:blipFill>
          </p:spPr>
          <p:txBody>
            <a:bodyPr/>
            <a:lstStyle/>
            <a:p>
              <a:endParaRPr lang="en-US"/>
            </a:p>
          </p:txBody>
        </p:sp>
      </p:grpSp>
      <p:sp>
        <p:nvSpPr>
          <p:cNvPr id="39" name="TextBox 39"/>
          <p:cNvSpPr txBox="1"/>
          <p:nvPr/>
        </p:nvSpPr>
        <p:spPr>
          <a:xfrm>
            <a:off x="1133856" y="6488085"/>
            <a:ext cx="16020288" cy="2800350"/>
          </a:xfrm>
          <a:prstGeom prst="rect">
            <a:avLst/>
          </a:prstGeom>
        </p:spPr>
        <p:txBody>
          <a:bodyPr lIns="0" tIns="0" rIns="0" bIns="0" rtlCol="0" anchor="t">
            <a:spAutoFit/>
          </a:bodyPr>
          <a:lstStyle/>
          <a:p>
            <a:pPr algn="l">
              <a:lnSpc>
                <a:spcPts val="4477"/>
              </a:lnSpc>
            </a:pPr>
            <a:r>
              <a:rPr lang="en-US" sz="3731" b="1">
                <a:solidFill>
                  <a:srgbClr val="000000"/>
                </a:solidFill>
                <a:latin typeface="Roboto Mono Bold"/>
                <a:ea typeface="Roboto Mono Bold"/>
                <a:cs typeface="Roboto Mono Bold"/>
                <a:sym typeface="Roboto Mono Bold"/>
              </a:rPr>
              <a:t>Design Philosophy:</a:t>
            </a:r>
          </a:p>
          <a:p>
            <a:pPr algn="l">
              <a:lnSpc>
                <a:spcPts val="4477"/>
              </a:lnSpc>
            </a:pPr>
            <a:r>
              <a:rPr lang="en-US" sz="3731">
                <a:solidFill>
                  <a:srgbClr val="000000"/>
                </a:solidFill>
                <a:latin typeface="Roboto Mono"/>
                <a:ea typeface="Roboto Mono"/>
                <a:cs typeface="Roboto Mono"/>
                <a:sym typeface="Roboto Mono"/>
              </a:rPr>
              <a:t>occ_expected is the ONLY channel connecting demand to pace shape. archetype does NOT directly enter the pace function. If it did, models could simply memorize archety instead of learning to read the booking surface.</a:t>
            </a:r>
          </a:p>
        </p:txBody>
      </p:sp>
      <p:grpSp>
        <p:nvGrpSpPr>
          <p:cNvPr id="40" name="Group 40"/>
          <p:cNvGrpSpPr/>
          <p:nvPr/>
        </p:nvGrpSpPr>
        <p:grpSpPr>
          <a:xfrm>
            <a:off x="16865895" y="10032504"/>
            <a:ext cx="332267" cy="107156"/>
            <a:chOff x="0" y="0"/>
            <a:chExt cx="443023" cy="142875"/>
          </a:xfrm>
        </p:grpSpPr>
        <p:sp>
          <p:nvSpPr>
            <p:cNvPr id="41" name="Freeform 41"/>
            <p:cNvSpPr/>
            <p:nvPr/>
          </p:nvSpPr>
          <p:spPr>
            <a:xfrm>
              <a:off x="0" y="0"/>
              <a:ext cx="443023" cy="142875"/>
            </a:xfrm>
            <a:custGeom>
              <a:avLst/>
              <a:gdLst/>
              <a:ahLst/>
              <a:cxnLst/>
              <a:rect l="l" t="t" r="r" b="b"/>
              <a:pathLst>
                <a:path w="443023" h="142875">
                  <a:moveTo>
                    <a:pt x="0" y="0"/>
                  </a:moveTo>
                  <a:lnTo>
                    <a:pt x="443023" y="0"/>
                  </a:lnTo>
                  <a:lnTo>
                    <a:pt x="443023" y="142875"/>
                  </a:lnTo>
                  <a:lnTo>
                    <a:pt x="0" y="142875"/>
                  </a:lnTo>
                  <a:close/>
                </a:path>
              </a:pathLst>
            </a:custGeom>
            <a:blipFill>
              <a:blip r:embed="rId17"/>
              <a:stretch>
                <a:fillRect l="-32000" t="-162500" r="-4000" b="-137500"/>
              </a:stretch>
            </a:blipFill>
          </p:spPr>
          <p:txBody>
            <a:bodyPr/>
            <a:lstStyle/>
            <a:p>
              <a:endParaRPr lang="en-US"/>
            </a:p>
          </p:txBody>
        </p:sp>
      </p:grpSp>
      <p:sp>
        <p:nvSpPr>
          <p:cNvPr id="42" name="TextBox 42"/>
          <p:cNvSpPr txBox="1"/>
          <p:nvPr/>
        </p:nvSpPr>
        <p:spPr>
          <a:xfrm>
            <a:off x="16952976" y="9989135"/>
            <a:ext cx="1225296" cy="183301"/>
          </a:xfrm>
          <a:prstGeom prst="rect">
            <a:avLst/>
          </a:prstGeom>
        </p:spPr>
        <p:txBody>
          <a:bodyPr lIns="0" tIns="0" rIns="0" bIns="0" rtlCol="0" anchor="t">
            <a:spAutoFit/>
          </a:bodyPr>
          <a:lstStyle/>
          <a:p>
            <a:pPr algn="r">
              <a:lnSpc>
                <a:spcPts val="1446"/>
              </a:lnSpc>
            </a:pPr>
            <a:r>
              <a:rPr lang="en-US" sz="1033" b="1">
                <a:solidFill>
                  <a:srgbClr val="3D4A55"/>
                </a:solidFill>
                <a:latin typeface="Roboto Mono Bold"/>
                <a:ea typeface="Roboto Mono Bold"/>
                <a:cs typeface="Roboto Mono Bold"/>
                <a:sym typeface="Roboto Mono Bold"/>
              </a:rPr>
              <a:t>Gemini Notebook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txBody>
            <a:bodyPr/>
            <a:lstStyle/>
            <a:p>
              <a:endParaRPr lang="en-US"/>
            </a:p>
          </p:txBody>
        </p:sp>
      </p:grpSp>
      <p:grpSp>
        <p:nvGrpSpPr>
          <p:cNvPr id="4" name="Group 4"/>
          <p:cNvGrpSpPr/>
          <p:nvPr/>
        </p:nvGrpSpPr>
        <p:grpSpPr>
          <a:xfrm>
            <a:off x="956930" y="1500188"/>
            <a:ext cx="1010093" cy="214312"/>
            <a:chOff x="0" y="0"/>
            <a:chExt cx="1346791" cy="285750"/>
          </a:xfrm>
        </p:grpSpPr>
        <p:sp>
          <p:nvSpPr>
            <p:cNvPr id="5" name="Freeform 5"/>
            <p:cNvSpPr/>
            <p:nvPr/>
          </p:nvSpPr>
          <p:spPr>
            <a:xfrm>
              <a:off x="0" y="0"/>
              <a:ext cx="1346791" cy="285750"/>
            </a:xfrm>
            <a:custGeom>
              <a:avLst/>
              <a:gdLst/>
              <a:ahLst/>
              <a:cxnLst/>
              <a:rect l="l" t="t" r="r" b="b"/>
              <a:pathLst>
                <a:path w="1346791" h="285750">
                  <a:moveTo>
                    <a:pt x="0" y="0"/>
                  </a:moveTo>
                  <a:lnTo>
                    <a:pt x="1346791" y="0"/>
                  </a:lnTo>
                  <a:lnTo>
                    <a:pt x="1346791" y="285750"/>
                  </a:lnTo>
                  <a:lnTo>
                    <a:pt x="0" y="285750"/>
                  </a:lnTo>
                  <a:close/>
                </a:path>
              </a:pathLst>
            </a:custGeom>
            <a:blipFill>
              <a:blip r:embed="rId3"/>
              <a:stretch>
                <a:fillRect l="-9210"/>
              </a:stretch>
            </a:blipFill>
          </p:spPr>
          <p:txBody>
            <a:bodyPr/>
            <a:lstStyle/>
            <a:p>
              <a:endParaRPr lang="en-US"/>
            </a:p>
          </p:txBody>
        </p:sp>
      </p:grpSp>
      <p:grpSp>
        <p:nvGrpSpPr>
          <p:cNvPr id="6" name="Group 6"/>
          <p:cNvGrpSpPr/>
          <p:nvPr/>
        </p:nvGrpSpPr>
        <p:grpSpPr>
          <a:xfrm>
            <a:off x="930349" y="2143125"/>
            <a:ext cx="53163" cy="3013770"/>
            <a:chOff x="0" y="0"/>
            <a:chExt cx="70884" cy="4018359"/>
          </a:xfrm>
        </p:grpSpPr>
        <p:sp>
          <p:nvSpPr>
            <p:cNvPr id="7" name="Freeform 7"/>
            <p:cNvSpPr/>
            <p:nvPr/>
          </p:nvSpPr>
          <p:spPr>
            <a:xfrm>
              <a:off x="0" y="0"/>
              <a:ext cx="70884" cy="4018359"/>
            </a:xfrm>
            <a:custGeom>
              <a:avLst/>
              <a:gdLst/>
              <a:ahLst/>
              <a:cxnLst/>
              <a:rect l="l" t="t" r="r" b="b"/>
              <a:pathLst>
                <a:path w="70884" h="4018359">
                  <a:moveTo>
                    <a:pt x="0" y="0"/>
                  </a:moveTo>
                  <a:lnTo>
                    <a:pt x="70884" y="0"/>
                  </a:lnTo>
                  <a:lnTo>
                    <a:pt x="70884" y="4018359"/>
                  </a:lnTo>
                  <a:lnTo>
                    <a:pt x="0" y="4018359"/>
                  </a:lnTo>
                  <a:close/>
                </a:path>
              </a:pathLst>
            </a:custGeom>
            <a:blipFill>
              <a:blip r:embed="rId4"/>
              <a:stretch>
                <a:fillRect l="-125000" r="-200000" b="-6666"/>
              </a:stretch>
            </a:blipFill>
          </p:spPr>
          <p:txBody>
            <a:bodyPr/>
            <a:lstStyle/>
            <a:p>
              <a:endParaRPr lang="en-US"/>
            </a:p>
          </p:txBody>
        </p:sp>
      </p:grpSp>
      <p:grpSp>
        <p:nvGrpSpPr>
          <p:cNvPr id="8" name="Group 8"/>
          <p:cNvGrpSpPr/>
          <p:nvPr/>
        </p:nvGrpSpPr>
        <p:grpSpPr>
          <a:xfrm>
            <a:off x="1329070" y="5183684"/>
            <a:ext cx="93035" cy="53578"/>
            <a:chOff x="0" y="0"/>
            <a:chExt cx="124047" cy="71438"/>
          </a:xfrm>
        </p:grpSpPr>
        <p:sp>
          <p:nvSpPr>
            <p:cNvPr id="9" name="Freeform 9"/>
            <p:cNvSpPr/>
            <p:nvPr/>
          </p:nvSpPr>
          <p:spPr>
            <a:xfrm>
              <a:off x="0" y="0"/>
              <a:ext cx="124047" cy="71438"/>
            </a:xfrm>
            <a:custGeom>
              <a:avLst/>
              <a:gdLst/>
              <a:ahLst/>
              <a:cxnLst/>
              <a:rect l="l" t="t" r="r" b="b"/>
              <a:pathLst>
                <a:path w="124047" h="71438">
                  <a:moveTo>
                    <a:pt x="0" y="0"/>
                  </a:moveTo>
                  <a:lnTo>
                    <a:pt x="124047" y="0"/>
                  </a:lnTo>
                  <a:lnTo>
                    <a:pt x="124047" y="71438"/>
                  </a:lnTo>
                  <a:lnTo>
                    <a:pt x="0" y="71438"/>
                  </a:lnTo>
                  <a:close/>
                </a:path>
              </a:pathLst>
            </a:custGeom>
            <a:blipFill>
              <a:blip r:embed="rId5"/>
              <a:stretch>
                <a:fillRect l="-500000" t="-75000" r="-585714" b="-225000"/>
              </a:stretch>
            </a:blipFill>
          </p:spPr>
          <p:txBody>
            <a:bodyPr/>
            <a:lstStyle/>
            <a:p>
              <a:endParaRPr lang="en-US"/>
            </a:p>
          </p:txBody>
        </p:sp>
      </p:grpSp>
      <p:sp>
        <p:nvSpPr>
          <p:cNvPr id="10" name="Freeform 10"/>
          <p:cNvSpPr/>
          <p:nvPr/>
        </p:nvSpPr>
        <p:spPr>
          <a:xfrm>
            <a:off x="0" y="39872"/>
            <a:ext cx="18288000" cy="10207256"/>
          </a:xfrm>
          <a:custGeom>
            <a:avLst/>
            <a:gdLst/>
            <a:ahLst/>
            <a:cxnLst/>
            <a:rect l="l" t="t" r="r" b="b"/>
            <a:pathLst>
              <a:path w="18288000" h="10207256">
                <a:moveTo>
                  <a:pt x="0" y="0"/>
                </a:moveTo>
                <a:lnTo>
                  <a:pt x="18288000" y="0"/>
                </a:lnTo>
                <a:lnTo>
                  <a:pt x="18288000" y="10207256"/>
                </a:lnTo>
                <a:lnTo>
                  <a:pt x="0" y="10207256"/>
                </a:lnTo>
                <a:lnTo>
                  <a:pt x="0" y="0"/>
                </a:lnTo>
                <a:close/>
              </a:path>
            </a:pathLst>
          </a:custGeom>
          <a:blipFill>
            <a:blip r:embed="rId6"/>
            <a:stretch>
              <a:fillRect/>
            </a:stretch>
          </a:blip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txBody>
            <a:bodyPr/>
            <a:lstStyle/>
            <a:p>
              <a:endParaRPr lang="en-US"/>
            </a:p>
          </p:txBody>
        </p:sp>
      </p:grpSp>
      <p:grpSp>
        <p:nvGrpSpPr>
          <p:cNvPr id="4" name="Group 4"/>
          <p:cNvGrpSpPr/>
          <p:nvPr/>
        </p:nvGrpSpPr>
        <p:grpSpPr>
          <a:xfrm>
            <a:off x="10219217" y="609451"/>
            <a:ext cx="17264616" cy="9416355"/>
            <a:chOff x="0" y="0"/>
            <a:chExt cx="23019488" cy="12555141"/>
          </a:xfrm>
        </p:grpSpPr>
        <p:sp>
          <p:nvSpPr>
            <p:cNvPr id="5" name="Freeform 5"/>
            <p:cNvSpPr/>
            <p:nvPr/>
          </p:nvSpPr>
          <p:spPr>
            <a:xfrm>
              <a:off x="0" y="0"/>
              <a:ext cx="23019488" cy="12555141"/>
            </a:xfrm>
            <a:custGeom>
              <a:avLst/>
              <a:gdLst/>
              <a:ahLst/>
              <a:cxnLst/>
              <a:rect l="l" t="t" r="r" b="b"/>
              <a:pathLst>
                <a:path w="23019488" h="12555141">
                  <a:moveTo>
                    <a:pt x="0" y="0"/>
                  </a:moveTo>
                  <a:lnTo>
                    <a:pt x="23019488" y="0"/>
                  </a:lnTo>
                  <a:lnTo>
                    <a:pt x="23019488" y="12555141"/>
                  </a:lnTo>
                  <a:lnTo>
                    <a:pt x="0" y="12555141"/>
                  </a:lnTo>
                  <a:close/>
                </a:path>
              </a:pathLst>
            </a:custGeom>
            <a:blipFill>
              <a:blip r:embed="rId3"/>
              <a:stretch>
                <a:fillRect l="-461" t="-142" r="-538"/>
              </a:stretch>
            </a:blipFill>
          </p:spPr>
          <p:txBody>
            <a:bodyPr/>
            <a:lstStyle/>
            <a:p>
              <a:endParaRPr lang="en-US"/>
            </a:p>
          </p:txBody>
        </p:sp>
      </p:grpSp>
      <p:grpSp>
        <p:nvGrpSpPr>
          <p:cNvPr id="6" name="Group 6"/>
          <p:cNvGrpSpPr/>
          <p:nvPr/>
        </p:nvGrpSpPr>
        <p:grpSpPr>
          <a:xfrm>
            <a:off x="1222744" y="2049363"/>
            <a:ext cx="279105" cy="6777633"/>
            <a:chOff x="0" y="0"/>
            <a:chExt cx="372140" cy="9036844"/>
          </a:xfrm>
        </p:grpSpPr>
        <p:sp>
          <p:nvSpPr>
            <p:cNvPr id="7" name="Freeform 7"/>
            <p:cNvSpPr/>
            <p:nvPr/>
          </p:nvSpPr>
          <p:spPr>
            <a:xfrm>
              <a:off x="0" y="0"/>
              <a:ext cx="372140" cy="9036844"/>
            </a:xfrm>
            <a:custGeom>
              <a:avLst/>
              <a:gdLst/>
              <a:ahLst/>
              <a:cxnLst/>
              <a:rect l="l" t="t" r="r" b="b"/>
              <a:pathLst>
                <a:path w="372140" h="9036844">
                  <a:moveTo>
                    <a:pt x="0" y="0"/>
                  </a:moveTo>
                  <a:lnTo>
                    <a:pt x="372140" y="0"/>
                  </a:lnTo>
                  <a:lnTo>
                    <a:pt x="372140" y="9036844"/>
                  </a:lnTo>
                  <a:lnTo>
                    <a:pt x="0" y="9036844"/>
                  </a:lnTo>
                  <a:close/>
                </a:path>
              </a:pathLst>
            </a:custGeom>
            <a:blipFill>
              <a:blip r:embed="rId4"/>
              <a:stretch>
                <a:fillRect l="-52380" t="-1778" r="-9523" b="-2569"/>
              </a:stretch>
            </a:blipFill>
          </p:spPr>
          <p:txBody>
            <a:bodyPr/>
            <a:lstStyle/>
            <a:p>
              <a:endParaRPr lang="en-US"/>
            </a:p>
          </p:txBody>
        </p:sp>
      </p:grpSp>
      <p:grpSp>
        <p:nvGrpSpPr>
          <p:cNvPr id="8" name="Group 8"/>
          <p:cNvGrpSpPr/>
          <p:nvPr/>
        </p:nvGrpSpPr>
        <p:grpSpPr>
          <a:xfrm>
            <a:off x="1448686" y="1714500"/>
            <a:ext cx="172779" cy="7206258"/>
            <a:chOff x="0" y="0"/>
            <a:chExt cx="230372" cy="9608344"/>
          </a:xfrm>
        </p:grpSpPr>
        <p:sp>
          <p:nvSpPr>
            <p:cNvPr id="9" name="Freeform 9"/>
            <p:cNvSpPr/>
            <p:nvPr/>
          </p:nvSpPr>
          <p:spPr>
            <a:xfrm>
              <a:off x="0" y="0"/>
              <a:ext cx="230372" cy="9608344"/>
            </a:xfrm>
            <a:custGeom>
              <a:avLst/>
              <a:gdLst/>
              <a:ahLst/>
              <a:cxnLst/>
              <a:rect l="l" t="t" r="r" b="b"/>
              <a:pathLst>
                <a:path w="230372" h="9608344">
                  <a:moveTo>
                    <a:pt x="0" y="0"/>
                  </a:moveTo>
                  <a:lnTo>
                    <a:pt x="230372" y="0"/>
                  </a:lnTo>
                  <a:lnTo>
                    <a:pt x="230372" y="9608344"/>
                  </a:lnTo>
                  <a:lnTo>
                    <a:pt x="0" y="9608344"/>
                  </a:lnTo>
                  <a:close/>
                </a:path>
              </a:pathLst>
            </a:custGeom>
            <a:blipFill>
              <a:blip r:embed="rId5"/>
              <a:stretch>
                <a:fillRect l="-84615" r="-76923" b="-1115"/>
              </a:stretch>
            </a:blipFill>
          </p:spPr>
          <p:txBody>
            <a:bodyPr/>
            <a:lstStyle/>
            <a:p>
              <a:endParaRPr lang="en-US"/>
            </a:p>
          </p:txBody>
        </p:sp>
      </p:grpSp>
      <p:grpSp>
        <p:nvGrpSpPr>
          <p:cNvPr id="10" name="Group 10"/>
          <p:cNvGrpSpPr/>
          <p:nvPr/>
        </p:nvGrpSpPr>
        <p:grpSpPr>
          <a:xfrm>
            <a:off x="1501849" y="8853785"/>
            <a:ext cx="7974419" cy="361652"/>
            <a:chOff x="0" y="0"/>
            <a:chExt cx="10632558" cy="482203"/>
          </a:xfrm>
        </p:grpSpPr>
        <p:sp>
          <p:nvSpPr>
            <p:cNvPr id="11" name="Freeform 11"/>
            <p:cNvSpPr/>
            <p:nvPr/>
          </p:nvSpPr>
          <p:spPr>
            <a:xfrm>
              <a:off x="0" y="0"/>
              <a:ext cx="10632558" cy="482203"/>
            </a:xfrm>
            <a:custGeom>
              <a:avLst/>
              <a:gdLst/>
              <a:ahLst/>
              <a:cxnLst/>
              <a:rect l="l" t="t" r="r" b="b"/>
              <a:pathLst>
                <a:path w="10632558" h="482203">
                  <a:moveTo>
                    <a:pt x="0" y="0"/>
                  </a:moveTo>
                  <a:lnTo>
                    <a:pt x="10632558" y="0"/>
                  </a:lnTo>
                  <a:lnTo>
                    <a:pt x="10632558" y="482203"/>
                  </a:lnTo>
                  <a:lnTo>
                    <a:pt x="0" y="482203"/>
                  </a:lnTo>
                  <a:close/>
                </a:path>
              </a:pathLst>
            </a:custGeom>
            <a:blipFill>
              <a:blip r:embed="rId6"/>
              <a:stretch>
                <a:fillRect t="-379644" b="-379644"/>
              </a:stretch>
            </a:blipFill>
          </p:spPr>
          <p:txBody>
            <a:bodyPr/>
            <a:lstStyle/>
            <a:p>
              <a:endParaRPr lang="en-US"/>
            </a:p>
          </p:txBody>
        </p:sp>
      </p:grpSp>
      <p:grpSp>
        <p:nvGrpSpPr>
          <p:cNvPr id="12" name="Group 12"/>
          <p:cNvGrpSpPr/>
          <p:nvPr/>
        </p:nvGrpSpPr>
        <p:grpSpPr>
          <a:xfrm>
            <a:off x="1528430" y="2035969"/>
            <a:ext cx="863895" cy="535781"/>
            <a:chOff x="0" y="0"/>
            <a:chExt cx="1151860" cy="714375"/>
          </a:xfrm>
        </p:grpSpPr>
        <p:sp>
          <p:nvSpPr>
            <p:cNvPr id="13" name="Freeform 13"/>
            <p:cNvSpPr/>
            <p:nvPr/>
          </p:nvSpPr>
          <p:spPr>
            <a:xfrm>
              <a:off x="0" y="0"/>
              <a:ext cx="1151861" cy="714375"/>
            </a:xfrm>
            <a:custGeom>
              <a:avLst/>
              <a:gdLst/>
              <a:ahLst/>
              <a:cxnLst/>
              <a:rect l="l" t="t" r="r" b="b"/>
              <a:pathLst>
                <a:path w="1151861" h="714375">
                  <a:moveTo>
                    <a:pt x="0" y="0"/>
                  </a:moveTo>
                  <a:lnTo>
                    <a:pt x="1151861" y="0"/>
                  </a:lnTo>
                  <a:lnTo>
                    <a:pt x="1151861" y="714375"/>
                  </a:lnTo>
                  <a:lnTo>
                    <a:pt x="0" y="714375"/>
                  </a:lnTo>
                  <a:close/>
                </a:path>
              </a:pathLst>
            </a:custGeom>
            <a:blipFill>
              <a:blip r:embed="rId7"/>
              <a:stretch>
                <a:fillRect l="-26153" t="-20000" r="-1538"/>
              </a:stretch>
            </a:blipFill>
          </p:spPr>
          <p:txBody>
            <a:bodyPr/>
            <a:lstStyle/>
            <a:p>
              <a:endParaRPr lang="en-US"/>
            </a:p>
          </p:txBody>
        </p:sp>
      </p:grpSp>
      <p:grpSp>
        <p:nvGrpSpPr>
          <p:cNvPr id="14" name="Group 14"/>
          <p:cNvGrpSpPr/>
          <p:nvPr/>
        </p:nvGrpSpPr>
        <p:grpSpPr>
          <a:xfrm>
            <a:off x="2604977" y="1928812"/>
            <a:ext cx="1315779" cy="1714500"/>
            <a:chOff x="0" y="0"/>
            <a:chExt cx="1754372" cy="2286000"/>
          </a:xfrm>
        </p:grpSpPr>
        <p:sp>
          <p:nvSpPr>
            <p:cNvPr id="15" name="Freeform 15"/>
            <p:cNvSpPr/>
            <p:nvPr/>
          </p:nvSpPr>
          <p:spPr>
            <a:xfrm>
              <a:off x="0" y="0"/>
              <a:ext cx="1754372" cy="2286000"/>
            </a:xfrm>
            <a:custGeom>
              <a:avLst/>
              <a:gdLst/>
              <a:ahLst/>
              <a:cxnLst/>
              <a:rect l="l" t="t" r="r" b="b"/>
              <a:pathLst>
                <a:path w="1754372" h="2286000">
                  <a:moveTo>
                    <a:pt x="0" y="0"/>
                  </a:moveTo>
                  <a:lnTo>
                    <a:pt x="1754372" y="0"/>
                  </a:lnTo>
                  <a:lnTo>
                    <a:pt x="1754372" y="2286000"/>
                  </a:lnTo>
                  <a:lnTo>
                    <a:pt x="0" y="2286000"/>
                  </a:lnTo>
                  <a:close/>
                </a:path>
              </a:pathLst>
            </a:custGeom>
            <a:blipFill>
              <a:blip r:embed="rId8"/>
              <a:stretch>
                <a:fillRect/>
              </a:stretch>
            </a:blipFill>
          </p:spPr>
          <p:txBody>
            <a:bodyPr/>
            <a:lstStyle/>
            <a:p>
              <a:endParaRPr lang="en-US"/>
            </a:p>
          </p:txBody>
        </p:sp>
      </p:grpSp>
      <p:grpSp>
        <p:nvGrpSpPr>
          <p:cNvPr id="16" name="Group 16"/>
          <p:cNvGrpSpPr/>
          <p:nvPr/>
        </p:nvGrpSpPr>
        <p:grpSpPr>
          <a:xfrm>
            <a:off x="3801140" y="1928812"/>
            <a:ext cx="1648047" cy="1714500"/>
            <a:chOff x="0" y="0"/>
            <a:chExt cx="2197395" cy="2286000"/>
          </a:xfrm>
        </p:grpSpPr>
        <p:sp>
          <p:nvSpPr>
            <p:cNvPr id="17" name="Freeform 17"/>
            <p:cNvSpPr/>
            <p:nvPr/>
          </p:nvSpPr>
          <p:spPr>
            <a:xfrm>
              <a:off x="0" y="0"/>
              <a:ext cx="2197395" cy="2286000"/>
            </a:xfrm>
            <a:custGeom>
              <a:avLst/>
              <a:gdLst/>
              <a:ahLst/>
              <a:cxnLst/>
              <a:rect l="l" t="t" r="r" b="b"/>
              <a:pathLst>
                <a:path w="2197395" h="2286000">
                  <a:moveTo>
                    <a:pt x="0" y="0"/>
                  </a:moveTo>
                  <a:lnTo>
                    <a:pt x="2197395" y="0"/>
                  </a:lnTo>
                  <a:lnTo>
                    <a:pt x="2197395" y="2286000"/>
                  </a:lnTo>
                  <a:lnTo>
                    <a:pt x="0" y="2286000"/>
                  </a:lnTo>
                  <a:close/>
                </a:path>
              </a:pathLst>
            </a:custGeom>
            <a:blipFill>
              <a:blip r:embed="rId9"/>
              <a:stretch>
                <a:fillRect l="-6451"/>
              </a:stretch>
            </a:blipFill>
          </p:spPr>
          <p:txBody>
            <a:bodyPr/>
            <a:lstStyle/>
            <a:p>
              <a:endParaRPr lang="en-US"/>
            </a:p>
          </p:txBody>
        </p:sp>
      </p:grpSp>
      <p:grpSp>
        <p:nvGrpSpPr>
          <p:cNvPr id="18" name="Group 18"/>
          <p:cNvGrpSpPr/>
          <p:nvPr/>
        </p:nvGrpSpPr>
        <p:grpSpPr>
          <a:xfrm>
            <a:off x="4638453" y="1995785"/>
            <a:ext cx="1461977" cy="1647527"/>
            <a:chOff x="0" y="0"/>
            <a:chExt cx="1949302" cy="2196703"/>
          </a:xfrm>
        </p:grpSpPr>
        <p:sp>
          <p:nvSpPr>
            <p:cNvPr id="19" name="Freeform 19"/>
            <p:cNvSpPr/>
            <p:nvPr/>
          </p:nvSpPr>
          <p:spPr>
            <a:xfrm>
              <a:off x="0" y="0"/>
              <a:ext cx="1949302" cy="2196703"/>
            </a:xfrm>
            <a:custGeom>
              <a:avLst/>
              <a:gdLst/>
              <a:ahLst/>
              <a:cxnLst/>
              <a:rect l="l" t="t" r="r" b="b"/>
              <a:pathLst>
                <a:path w="1949302" h="2196703">
                  <a:moveTo>
                    <a:pt x="0" y="0"/>
                  </a:moveTo>
                  <a:lnTo>
                    <a:pt x="1949302" y="0"/>
                  </a:lnTo>
                  <a:lnTo>
                    <a:pt x="1949302" y="2196703"/>
                  </a:lnTo>
                  <a:lnTo>
                    <a:pt x="0" y="2196703"/>
                  </a:lnTo>
                  <a:close/>
                </a:path>
              </a:pathLst>
            </a:custGeom>
            <a:blipFill>
              <a:blip r:embed="rId10"/>
              <a:stretch>
                <a:fillRect l="-4545" t="-4065"/>
              </a:stretch>
            </a:blipFill>
          </p:spPr>
          <p:txBody>
            <a:bodyPr/>
            <a:lstStyle/>
            <a:p>
              <a:endParaRPr lang="en-US"/>
            </a:p>
          </p:txBody>
        </p:sp>
      </p:grpSp>
      <p:grpSp>
        <p:nvGrpSpPr>
          <p:cNvPr id="20" name="Group 20"/>
          <p:cNvGrpSpPr/>
          <p:nvPr/>
        </p:nvGrpSpPr>
        <p:grpSpPr>
          <a:xfrm>
            <a:off x="5781453" y="2035969"/>
            <a:ext cx="1103128" cy="1526977"/>
            <a:chOff x="0" y="0"/>
            <a:chExt cx="1470837" cy="2035969"/>
          </a:xfrm>
        </p:grpSpPr>
        <p:sp>
          <p:nvSpPr>
            <p:cNvPr id="21" name="Freeform 21"/>
            <p:cNvSpPr/>
            <p:nvPr/>
          </p:nvSpPr>
          <p:spPr>
            <a:xfrm>
              <a:off x="0" y="0"/>
              <a:ext cx="1470837" cy="2035969"/>
            </a:xfrm>
            <a:custGeom>
              <a:avLst/>
              <a:gdLst/>
              <a:ahLst/>
              <a:cxnLst/>
              <a:rect l="l" t="t" r="r" b="b"/>
              <a:pathLst>
                <a:path w="1470837" h="2035969">
                  <a:moveTo>
                    <a:pt x="0" y="0"/>
                  </a:moveTo>
                  <a:lnTo>
                    <a:pt x="1470837" y="0"/>
                  </a:lnTo>
                  <a:lnTo>
                    <a:pt x="1470837" y="2035969"/>
                  </a:lnTo>
                  <a:lnTo>
                    <a:pt x="0" y="2035969"/>
                  </a:lnTo>
                  <a:close/>
                </a:path>
              </a:pathLst>
            </a:custGeom>
            <a:blipFill>
              <a:blip r:embed="rId11"/>
              <a:stretch>
                <a:fillRect l="-12048" t="-7017" r="-8433" b="-5263"/>
              </a:stretch>
            </a:blipFill>
          </p:spPr>
          <p:txBody>
            <a:bodyPr/>
            <a:lstStyle/>
            <a:p>
              <a:endParaRPr lang="en-US"/>
            </a:p>
          </p:txBody>
        </p:sp>
      </p:grpSp>
      <p:grpSp>
        <p:nvGrpSpPr>
          <p:cNvPr id="22" name="Group 22"/>
          <p:cNvGrpSpPr/>
          <p:nvPr/>
        </p:nvGrpSpPr>
        <p:grpSpPr>
          <a:xfrm>
            <a:off x="6831419" y="1928812"/>
            <a:ext cx="2379035" cy="2357438"/>
            <a:chOff x="0" y="0"/>
            <a:chExt cx="3172047" cy="3143250"/>
          </a:xfrm>
        </p:grpSpPr>
        <p:sp>
          <p:nvSpPr>
            <p:cNvPr id="23" name="Freeform 23"/>
            <p:cNvSpPr/>
            <p:nvPr/>
          </p:nvSpPr>
          <p:spPr>
            <a:xfrm>
              <a:off x="0" y="0"/>
              <a:ext cx="3172046" cy="3143250"/>
            </a:xfrm>
            <a:custGeom>
              <a:avLst/>
              <a:gdLst/>
              <a:ahLst/>
              <a:cxnLst/>
              <a:rect l="l" t="t" r="r" b="b"/>
              <a:pathLst>
                <a:path w="3172046" h="3143250">
                  <a:moveTo>
                    <a:pt x="0" y="0"/>
                  </a:moveTo>
                  <a:lnTo>
                    <a:pt x="3172046" y="0"/>
                  </a:lnTo>
                  <a:lnTo>
                    <a:pt x="3172046" y="3143250"/>
                  </a:lnTo>
                  <a:lnTo>
                    <a:pt x="0" y="3143250"/>
                  </a:lnTo>
                  <a:close/>
                </a:path>
              </a:pathLst>
            </a:custGeom>
            <a:blipFill>
              <a:blip r:embed="rId12"/>
              <a:stretch>
                <a:fillRect l="-3910" r="-6703"/>
              </a:stretch>
            </a:blipFill>
          </p:spPr>
          <p:txBody>
            <a:bodyPr/>
            <a:lstStyle/>
            <a:p>
              <a:endParaRPr lang="en-US"/>
            </a:p>
          </p:txBody>
        </p:sp>
      </p:grpSp>
      <p:grpSp>
        <p:nvGrpSpPr>
          <p:cNvPr id="24" name="Group 24"/>
          <p:cNvGrpSpPr/>
          <p:nvPr/>
        </p:nvGrpSpPr>
        <p:grpSpPr>
          <a:xfrm>
            <a:off x="1515140" y="2571750"/>
            <a:ext cx="1236035" cy="977801"/>
            <a:chOff x="0" y="0"/>
            <a:chExt cx="1648047" cy="1303734"/>
          </a:xfrm>
        </p:grpSpPr>
        <p:sp>
          <p:nvSpPr>
            <p:cNvPr id="25" name="Freeform 25"/>
            <p:cNvSpPr/>
            <p:nvPr/>
          </p:nvSpPr>
          <p:spPr>
            <a:xfrm>
              <a:off x="0" y="0"/>
              <a:ext cx="1648046" cy="1303734"/>
            </a:xfrm>
            <a:custGeom>
              <a:avLst/>
              <a:gdLst/>
              <a:ahLst/>
              <a:cxnLst/>
              <a:rect l="l" t="t" r="r" b="b"/>
              <a:pathLst>
                <a:path w="1648046" h="1303734">
                  <a:moveTo>
                    <a:pt x="0" y="0"/>
                  </a:moveTo>
                  <a:lnTo>
                    <a:pt x="1648046" y="0"/>
                  </a:lnTo>
                  <a:lnTo>
                    <a:pt x="1648046" y="1303734"/>
                  </a:lnTo>
                  <a:lnTo>
                    <a:pt x="0" y="1303734"/>
                  </a:lnTo>
                  <a:close/>
                </a:path>
              </a:pathLst>
            </a:custGeom>
            <a:blipFill>
              <a:blip r:embed="rId13"/>
              <a:stretch>
                <a:fillRect l="-17204" r="-6451" b="-9589"/>
              </a:stretch>
            </a:blipFill>
          </p:spPr>
          <p:txBody>
            <a:bodyPr/>
            <a:lstStyle/>
            <a:p>
              <a:endParaRPr lang="en-US"/>
            </a:p>
          </p:txBody>
        </p:sp>
      </p:grpSp>
      <p:grpSp>
        <p:nvGrpSpPr>
          <p:cNvPr id="26" name="Group 26"/>
          <p:cNvGrpSpPr/>
          <p:nvPr/>
        </p:nvGrpSpPr>
        <p:grpSpPr>
          <a:xfrm>
            <a:off x="2312581" y="2571750"/>
            <a:ext cx="1608174" cy="991195"/>
            <a:chOff x="0" y="0"/>
            <a:chExt cx="2144233" cy="1321594"/>
          </a:xfrm>
        </p:grpSpPr>
        <p:sp>
          <p:nvSpPr>
            <p:cNvPr id="27" name="Freeform 27"/>
            <p:cNvSpPr/>
            <p:nvPr/>
          </p:nvSpPr>
          <p:spPr>
            <a:xfrm>
              <a:off x="0" y="0"/>
              <a:ext cx="2144232" cy="1321594"/>
            </a:xfrm>
            <a:custGeom>
              <a:avLst/>
              <a:gdLst/>
              <a:ahLst/>
              <a:cxnLst/>
              <a:rect l="l" t="t" r="r" b="b"/>
              <a:pathLst>
                <a:path w="2144232" h="1321594">
                  <a:moveTo>
                    <a:pt x="0" y="0"/>
                  </a:moveTo>
                  <a:lnTo>
                    <a:pt x="2144232" y="0"/>
                  </a:lnTo>
                  <a:lnTo>
                    <a:pt x="2144232" y="1321594"/>
                  </a:lnTo>
                  <a:lnTo>
                    <a:pt x="0" y="1321594"/>
                  </a:lnTo>
                  <a:close/>
                </a:path>
              </a:pathLst>
            </a:custGeom>
            <a:blipFill>
              <a:blip r:embed="rId14"/>
              <a:stretch>
                <a:fillRect l="-9090" b="-8108"/>
              </a:stretch>
            </a:blipFill>
          </p:spPr>
          <p:txBody>
            <a:bodyPr/>
            <a:lstStyle/>
            <a:p>
              <a:endParaRPr lang="en-US"/>
            </a:p>
          </p:txBody>
        </p:sp>
      </p:grpSp>
      <p:grpSp>
        <p:nvGrpSpPr>
          <p:cNvPr id="28" name="Group 28"/>
          <p:cNvGrpSpPr/>
          <p:nvPr/>
        </p:nvGrpSpPr>
        <p:grpSpPr>
          <a:xfrm>
            <a:off x="3947337" y="2786062"/>
            <a:ext cx="1501849" cy="763488"/>
            <a:chOff x="0" y="0"/>
            <a:chExt cx="2002465" cy="1017984"/>
          </a:xfrm>
        </p:grpSpPr>
        <p:sp>
          <p:nvSpPr>
            <p:cNvPr id="29" name="Freeform 29"/>
            <p:cNvSpPr/>
            <p:nvPr/>
          </p:nvSpPr>
          <p:spPr>
            <a:xfrm>
              <a:off x="0" y="0"/>
              <a:ext cx="2002465" cy="1017984"/>
            </a:xfrm>
            <a:custGeom>
              <a:avLst/>
              <a:gdLst/>
              <a:ahLst/>
              <a:cxnLst/>
              <a:rect l="l" t="t" r="r" b="b"/>
              <a:pathLst>
                <a:path w="2002465" h="1017984">
                  <a:moveTo>
                    <a:pt x="0" y="0"/>
                  </a:moveTo>
                  <a:lnTo>
                    <a:pt x="2002465" y="0"/>
                  </a:lnTo>
                  <a:lnTo>
                    <a:pt x="2002465" y="1017984"/>
                  </a:lnTo>
                  <a:lnTo>
                    <a:pt x="0" y="1017984"/>
                  </a:lnTo>
                  <a:close/>
                </a:path>
              </a:pathLst>
            </a:custGeom>
            <a:blipFill>
              <a:blip r:embed="rId15"/>
              <a:stretch>
                <a:fillRect l="-16814" b="-12280"/>
              </a:stretch>
            </a:blipFill>
          </p:spPr>
          <p:txBody>
            <a:bodyPr/>
            <a:lstStyle/>
            <a:p>
              <a:endParaRPr lang="en-US"/>
            </a:p>
          </p:txBody>
        </p:sp>
      </p:grpSp>
      <p:grpSp>
        <p:nvGrpSpPr>
          <p:cNvPr id="30" name="Group 30"/>
          <p:cNvGrpSpPr/>
          <p:nvPr/>
        </p:nvGrpSpPr>
        <p:grpSpPr>
          <a:xfrm>
            <a:off x="4704907" y="2799457"/>
            <a:ext cx="1395523" cy="843855"/>
            <a:chOff x="0" y="0"/>
            <a:chExt cx="1860698" cy="1125141"/>
          </a:xfrm>
        </p:grpSpPr>
        <p:sp>
          <p:nvSpPr>
            <p:cNvPr id="31" name="Freeform 31"/>
            <p:cNvSpPr/>
            <p:nvPr/>
          </p:nvSpPr>
          <p:spPr>
            <a:xfrm>
              <a:off x="0" y="0"/>
              <a:ext cx="1860698" cy="1125141"/>
            </a:xfrm>
            <a:custGeom>
              <a:avLst/>
              <a:gdLst/>
              <a:ahLst/>
              <a:cxnLst/>
              <a:rect l="l" t="t" r="r" b="b"/>
              <a:pathLst>
                <a:path w="1860698" h="1125141">
                  <a:moveTo>
                    <a:pt x="0" y="0"/>
                  </a:moveTo>
                  <a:lnTo>
                    <a:pt x="1860698" y="0"/>
                  </a:lnTo>
                  <a:lnTo>
                    <a:pt x="1860698" y="1125141"/>
                  </a:lnTo>
                  <a:lnTo>
                    <a:pt x="0" y="1125141"/>
                  </a:lnTo>
                  <a:close/>
                </a:path>
              </a:pathLst>
            </a:custGeom>
            <a:blipFill>
              <a:blip r:embed="rId16"/>
              <a:stretch>
                <a:fillRect l="-9523" t="-26984"/>
              </a:stretch>
            </a:blipFill>
          </p:spPr>
          <p:txBody>
            <a:bodyPr/>
            <a:lstStyle/>
            <a:p>
              <a:endParaRPr lang="en-US"/>
            </a:p>
          </p:txBody>
        </p:sp>
      </p:grpSp>
      <p:grpSp>
        <p:nvGrpSpPr>
          <p:cNvPr id="32" name="Group 32"/>
          <p:cNvGrpSpPr/>
          <p:nvPr/>
        </p:nvGrpSpPr>
        <p:grpSpPr>
          <a:xfrm>
            <a:off x="6033977" y="2759273"/>
            <a:ext cx="930349" cy="790277"/>
            <a:chOff x="0" y="0"/>
            <a:chExt cx="1240465" cy="1053703"/>
          </a:xfrm>
        </p:grpSpPr>
        <p:sp>
          <p:nvSpPr>
            <p:cNvPr id="33" name="Freeform 33"/>
            <p:cNvSpPr/>
            <p:nvPr/>
          </p:nvSpPr>
          <p:spPr>
            <a:xfrm>
              <a:off x="0" y="0"/>
              <a:ext cx="1240465" cy="1053703"/>
            </a:xfrm>
            <a:custGeom>
              <a:avLst/>
              <a:gdLst/>
              <a:ahLst/>
              <a:cxnLst/>
              <a:rect l="l" t="t" r="r" b="b"/>
              <a:pathLst>
                <a:path w="1240465" h="1053703">
                  <a:moveTo>
                    <a:pt x="0" y="0"/>
                  </a:moveTo>
                  <a:lnTo>
                    <a:pt x="1240465" y="0"/>
                  </a:lnTo>
                  <a:lnTo>
                    <a:pt x="1240465" y="1053703"/>
                  </a:lnTo>
                  <a:lnTo>
                    <a:pt x="0" y="1053703"/>
                  </a:lnTo>
                  <a:close/>
                </a:path>
              </a:pathLst>
            </a:custGeom>
            <a:blipFill>
              <a:blip r:embed="rId17"/>
              <a:stretch>
                <a:fillRect l="-41428" t="-23728" r="-1428" b="-11864"/>
              </a:stretch>
            </a:blipFill>
          </p:spPr>
          <p:txBody>
            <a:bodyPr/>
            <a:lstStyle/>
            <a:p>
              <a:endParaRPr lang="en-US"/>
            </a:p>
          </p:txBody>
        </p:sp>
      </p:grpSp>
      <p:grpSp>
        <p:nvGrpSpPr>
          <p:cNvPr id="34" name="Group 34"/>
          <p:cNvGrpSpPr/>
          <p:nvPr/>
        </p:nvGrpSpPr>
        <p:grpSpPr>
          <a:xfrm>
            <a:off x="6818128" y="2759273"/>
            <a:ext cx="2352453" cy="1526977"/>
            <a:chOff x="0" y="0"/>
            <a:chExt cx="3136605" cy="2035969"/>
          </a:xfrm>
        </p:grpSpPr>
        <p:sp>
          <p:nvSpPr>
            <p:cNvPr id="35" name="Freeform 35"/>
            <p:cNvSpPr/>
            <p:nvPr/>
          </p:nvSpPr>
          <p:spPr>
            <a:xfrm>
              <a:off x="0" y="0"/>
              <a:ext cx="3136605" cy="2035969"/>
            </a:xfrm>
            <a:custGeom>
              <a:avLst/>
              <a:gdLst/>
              <a:ahLst/>
              <a:cxnLst/>
              <a:rect l="l" t="t" r="r" b="b"/>
              <a:pathLst>
                <a:path w="3136605" h="2035969">
                  <a:moveTo>
                    <a:pt x="0" y="0"/>
                  </a:moveTo>
                  <a:lnTo>
                    <a:pt x="3136605" y="0"/>
                  </a:lnTo>
                  <a:lnTo>
                    <a:pt x="3136605" y="2035969"/>
                  </a:lnTo>
                  <a:lnTo>
                    <a:pt x="0" y="2035969"/>
                  </a:lnTo>
                  <a:close/>
                </a:path>
              </a:pathLst>
            </a:custGeom>
            <a:blipFill>
              <a:blip r:embed="rId18"/>
              <a:stretch>
                <a:fillRect l="-3389" t="-12280" r="-8474"/>
              </a:stretch>
            </a:blipFill>
          </p:spPr>
          <p:txBody>
            <a:bodyPr/>
            <a:lstStyle/>
            <a:p>
              <a:endParaRPr lang="en-US"/>
            </a:p>
          </p:txBody>
        </p:sp>
      </p:grpSp>
      <p:grpSp>
        <p:nvGrpSpPr>
          <p:cNvPr id="36" name="Group 36"/>
          <p:cNvGrpSpPr/>
          <p:nvPr/>
        </p:nvGrpSpPr>
        <p:grpSpPr>
          <a:xfrm>
            <a:off x="1515140" y="3429000"/>
            <a:ext cx="1236035" cy="1285875"/>
            <a:chOff x="0" y="0"/>
            <a:chExt cx="1648047" cy="1714500"/>
          </a:xfrm>
        </p:grpSpPr>
        <p:sp>
          <p:nvSpPr>
            <p:cNvPr id="37" name="Freeform 37"/>
            <p:cNvSpPr/>
            <p:nvPr/>
          </p:nvSpPr>
          <p:spPr>
            <a:xfrm>
              <a:off x="0" y="0"/>
              <a:ext cx="1648046" cy="1714500"/>
            </a:xfrm>
            <a:custGeom>
              <a:avLst/>
              <a:gdLst/>
              <a:ahLst/>
              <a:cxnLst/>
              <a:rect l="l" t="t" r="r" b="b"/>
              <a:pathLst>
                <a:path w="1648046" h="1714500">
                  <a:moveTo>
                    <a:pt x="0" y="0"/>
                  </a:moveTo>
                  <a:lnTo>
                    <a:pt x="1648046" y="0"/>
                  </a:lnTo>
                  <a:lnTo>
                    <a:pt x="1648046" y="1714500"/>
                  </a:lnTo>
                  <a:lnTo>
                    <a:pt x="0" y="1714500"/>
                  </a:lnTo>
                  <a:close/>
                </a:path>
              </a:pathLst>
            </a:custGeom>
            <a:blipFill>
              <a:blip r:embed="rId19"/>
              <a:stretch>
                <a:fillRect l="-17204" r="-6451"/>
              </a:stretch>
            </a:blipFill>
          </p:spPr>
          <p:txBody>
            <a:bodyPr/>
            <a:lstStyle/>
            <a:p>
              <a:endParaRPr lang="en-US"/>
            </a:p>
          </p:txBody>
        </p:sp>
      </p:grpSp>
      <p:grpSp>
        <p:nvGrpSpPr>
          <p:cNvPr id="38" name="Group 38"/>
          <p:cNvGrpSpPr/>
          <p:nvPr/>
        </p:nvGrpSpPr>
        <p:grpSpPr>
          <a:xfrm>
            <a:off x="2312581" y="3509367"/>
            <a:ext cx="1608174" cy="1205508"/>
            <a:chOff x="0" y="0"/>
            <a:chExt cx="2144233" cy="1607344"/>
          </a:xfrm>
        </p:grpSpPr>
        <p:sp>
          <p:nvSpPr>
            <p:cNvPr id="39" name="Freeform 39"/>
            <p:cNvSpPr/>
            <p:nvPr/>
          </p:nvSpPr>
          <p:spPr>
            <a:xfrm>
              <a:off x="0" y="0"/>
              <a:ext cx="2144232" cy="1607344"/>
            </a:xfrm>
            <a:custGeom>
              <a:avLst/>
              <a:gdLst/>
              <a:ahLst/>
              <a:cxnLst/>
              <a:rect l="l" t="t" r="r" b="b"/>
              <a:pathLst>
                <a:path w="2144232" h="1607344">
                  <a:moveTo>
                    <a:pt x="0" y="0"/>
                  </a:moveTo>
                  <a:lnTo>
                    <a:pt x="2144232" y="0"/>
                  </a:lnTo>
                  <a:lnTo>
                    <a:pt x="2144232" y="1607344"/>
                  </a:lnTo>
                  <a:lnTo>
                    <a:pt x="0" y="1607344"/>
                  </a:lnTo>
                  <a:close/>
                </a:path>
              </a:pathLst>
            </a:custGeom>
            <a:blipFill>
              <a:blip r:embed="rId20"/>
              <a:stretch>
                <a:fillRect l="-9090" t="-6666"/>
              </a:stretch>
            </a:blipFill>
          </p:spPr>
          <p:txBody>
            <a:bodyPr/>
            <a:lstStyle/>
            <a:p>
              <a:endParaRPr lang="en-US"/>
            </a:p>
          </p:txBody>
        </p:sp>
      </p:grpSp>
      <p:grpSp>
        <p:nvGrpSpPr>
          <p:cNvPr id="40" name="Group 40"/>
          <p:cNvGrpSpPr/>
          <p:nvPr/>
        </p:nvGrpSpPr>
        <p:grpSpPr>
          <a:xfrm>
            <a:off x="3761267" y="3643312"/>
            <a:ext cx="1581593" cy="1071562"/>
            <a:chOff x="0" y="0"/>
            <a:chExt cx="2108791" cy="1428750"/>
          </a:xfrm>
        </p:grpSpPr>
        <p:sp>
          <p:nvSpPr>
            <p:cNvPr id="41" name="Freeform 41"/>
            <p:cNvSpPr/>
            <p:nvPr/>
          </p:nvSpPr>
          <p:spPr>
            <a:xfrm>
              <a:off x="0" y="0"/>
              <a:ext cx="2108791" cy="1428750"/>
            </a:xfrm>
            <a:custGeom>
              <a:avLst/>
              <a:gdLst/>
              <a:ahLst/>
              <a:cxnLst/>
              <a:rect l="l" t="t" r="r" b="b"/>
              <a:pathLst>
                <a:path w="2108791" h="1428750">
                  <a:moveTo>
                    <a:pt x="0" y="0"/>
                  </a:moveTo>
                  <a:lnTo>
                    <a:pt x="2108791" y="0"/>
                  </a:lnTo>
                  <a:lnTo>
                    <a:pt x="2108791" y="1428750"/>
                  </a:lnTo>
                  <a:lnTo>
                    <a:pt x="0" y="1428750"/>
                  </a:lnTo>
                  <a:close/>
                </a:path>
              </a:pathLst>
            </a:custGeom>
            <a:blipFill>
              <a:blip r:embed="rId21"/>
              <a:stretch>
                <a:fillRect l="-4201" r="-6722"/>
              </a:stretch>
            </a:blipFill>
          </p:spPr>
          <p:txBody>
            <a:bodyPr/>
            <a:lstStyle/>
            <a:p>
              <a:endParaRPr lang="en-US"/>
            </a:p>
          </p:txBody>
        </p:sp>
      </p:grpSp>
      <p:grpSp>
        <p:nvGrpSpPr>
          <p:cNvPr id="42" name="Group 42"/>
          <p:cNvGrpSpPr/>
          <p:nvPr/>
        </p:nvGrpSpPr>
        <p:grpSpPr>
          <a:xfrm>
            <a:off x="4731488" y="3522762"/>
            <a:ext cx="1368942" cy="1192113"/>
            <a:chOff x="0" y="0"/>
            <a:chExt cx="1825256" cy="1589484"/>
          </a:xfrm>
        </p:grpSpPr>
        <p:sp>
          <p:nvSpPr>
            <p:cNvPr id="43" name="Freeform 43"/>
            <p:cNvSpPr/>
            <p:nvPr/>
          </p:nvSpPr>
          <p:spPr>
            <a:xfrm>
              <a:off x="0" y="0"/>
              <a:ext cx="1825256" cy="1589484"/>
            </a:xfrm>
            <a:custGeom>
              <a:avLst/>
              <a:gdLst/>
              <a:ahLst/>
              <a:cxnLst/>
              <a:rect l="l" t="t" r="r" b="b"/>
              <a:pathLst>
                <a:path w="1825256" h="1589484">
                  <a:moveTo>
                    <a:pt x="0" y="0"/>
                  </a:moveTo>
                  <a:lnTo>
                    <a:pt x="1825256" y="0"/>
                  </a:lnTo>
                  <a:lnTo>
                    <a:pt x="1825256" y="1589484"/>
                  </a:lnTo>
                  <a:lnTo>
                    <a:pt x="0" y="1589484"/>
                  </a:lnTo>
                  <a:close/>
                </a:path>
              </a:pathLst>
            </a:custGeom>
            <a:blipFill>
              <a:blip r:embed="rId22"/>
              <a:stretch>
                <a:fillRect l="-11650" t="-7865"/>
              </a:stretch>
            </a:blipFill>
          </p:spPr>
          <p:txBody>
            <a:bodyPr/>
            <a:lstStyle/>
            <a:p>
              <a:endParaRPr lang="en-US"/>
            </a:p>
          </p:txBody>
        </p:sp>
      </p:grpSp>
      <p:grpSp>
        <p:nvGrpSpPr>
          <p:cNvPr id="44" name="Group 44"/>
          <p:cNvGrpSpPr/>
          <p:nvPr/>
        </p:nvGrpSpPr>
        <p:grpSpPr>
          <a:xfrm>
            <a:off x="5648547" y="3536156"/>
            <a:ext cx="1315779" cy="763488"/>
            <a:chOff x="0" y="0"/>
            <a:chExt cx="1754372" cy="1017984"/>
          </a:xfrm>
        </p:grpSpPr>
        <p:sp>
          <p:nvSpPr>
            <p:cNvPr id="45" name="Freeform 45"/>
            <p:cNvSpPr/>
            <p:nvPr/>
          </p:nvSpPr>
          <p:spPr>
            <a:xfrm>
              <a:off x="0" y="0"/>
              <a:ext cx="1754372" cy="1017984"/>
            </a:xfrm>
            <a:custGeom>
              <a:avLst/>
              <a:gdLst/>
              <a:ahLst/>
              <a:cxnLst/>
              <a:rect l="l" t="t" r="r" b="b"/>
              <a:pathLst>
                <a:path w="1754372" h="1017984">
                  <a:moveTo>
                    <a:pt x="0" y="0"/>
                  </a:moveTo>
                  <a:lnTo>
                    <a:pt x="1754372" y="0"/>
                  </a:lnTo>
                  <a:lnTo>
                    <a:pt x="1754372" y="1017984"/>
                  </a:lnTo>
                  <a:lnTo>
                    <a:pt x="0" y="1017984"/>
                  </a:lnTo>
                  <a:close/>
                </a:path>
              </a:pathLst>
            </a:custGeom>
            <a:blipFill>
              <a:blip r:embed="rId23"/>
              <a:stretch>
                <a:fillRect t="-14035" r="-1010" b="-54385"/>
              </a:stretch>
            </a:blipFill>
          </p:spPr>
          <p:txBody>
            <a:bodyPr/>
            <a:lstStyle/>
            <a:p>
              <a:endParaRPr lang="en-US"/>
            </a:p>
          </p:txBody>
        </p:sp>
      </p:grpSp>
      <p:grpSp>
        <p:nvGrpSpPr>
          <p:cNvPr id="46" name="Group 46"/>
          <p:cNvGrpSpPr/>
          <p:nvPr/>
        </p:nvGrpSpPr>
        <p:grpSpPr>
          <a:xfrm>
            <a:off x="6844709" y="3509367"/>
            <a:ext cx="2312581" cy="776883"/>
            <a:chOff x="0" y="0"/>
            <a:chExt cx="3083442" cy="1035844"/>
          </a:xfrm>
        </p:grpSpPr>
        <p:sp>
          <p:nvSpPr>
            <p:cNvPr id="47" name="Freeform 47"/>
            <p:cNvSpPr/>
            <p:nvPr/>
          </p:nvSpPr>
          <p:spPr>
            <a:xfrm>
              <a:off x="0" y="0"/>
              <a:ext cx="3083442" cy="1035844"/>
            </a:xfrm>
            <a:custGeom>
              <a:avLst/>
              <a:gdLst/>
              <a:ahLst/>
              <a:cxnLst/>
              <a:rect l="l" t="t" r="r" b="b"/>
              <a:pathLst>
                <a:path w="3083442" h="1035844">
                  <a:moveTo>
                    <a:pt x="0" y="0"/>
                  </a:moveTo>
                  <a:lnTo>
                    <a:pt x="3083442" y="0"/>
                  </a:lnTo>
                  <a:lnTo>
                    <a:pt x="3083442" y="1035844"/>
                  </a:lnTo>
                  <a:lnTo>
                    <a:pt x="0" y="1035844"/>
                  </a:lnTo>
                  <a:close/>
                </a:path>
              </a:pathLst>
            </a:custGeom>
            <a:blipFill>
              <a:blip r:embed="rId24"/>
              <a:stretch>
                <a:fillRect l="-4597" t="-10344" r="-9195"/>
              </a:stretch>
            </a:blipFill>
          </p:spPr>
          <p:txBody>
            <a:bodyPr/>
            <a:lstStyle/>
            <a:p>
              <a:endParaRPr lang="en-US"/>
            </a:p>
          </p:txBody>
        </p:sp>
      </p:grpSp>
      <p:grpSp>
        <p:nvGrpSpPr>
          <p:cNvPr id="48" name="Group 48"/>
          <p:cNvGrpSpPr/>
          <p:nvPr/>
        </p:nvGrpSpPr>
        <p:grpSpPr>
          <a:xfrm>
            <a:off x="1515140" y="4500562"/>
            <a:ext cx="1315779" cy="1285875"/>
            <a:chOff x="0" y="0"/>
            <a:chExt cx="1754372" cy="1714500"/>
          </a:xfrm>
        </p:grpSpPr>
        <p:sp>
          <p:nvSpPr>
            <p:cNvPr id="49" name="Freeform 49"/>
            <p:cNvSpPr/>
            <p:nvPr/>
          </p:nvSpPr>
          <p:spPr>
            <a:xfrm>
              <a:off x="0" y="0"/>
              <a:ext cx="1754372" cy="1714500"/>
            </a:xfrm>
            <a:custGeom>
              <a:avLst/>
              <a:gdLst/>
              <a:ahLst/>
              <a:cxnLst/>
              <a:rect l="l" t="t" r="r" b="b"/>
              <a:pathLst>
                <a:path w="1754372" h="1714500">
                  <a:moveTo>
                    <a:pt x="0" y="0"/>
                  </a:moveTo>
                  <a:lnTo>
                    <a:pt x="1754372" y="0"/>
                  </a:lnTo>
                  <a:lnTo>
                    <a:pt x="1754372" y="1714500"/>
                  </a:lnTo>
                  <a:lnTo>
                    <a:pt x="0" y="1714500"/>
                  </a:lnTo>
                  <a:close/>
                </a:path>
              </a:pathLst>
            </a:custGeom>
            <a:blipFill>
              <a:blip r:embed="rId25"/>
              <a:stretch>
                <a:fillRect l="-16161"/>
              </a:stretch>
            </a:blipFill>
          </p:spPr>
          <p:txBody>
            <a:bodyPr/>
            <a:lstStyle/>
            <a:p>
              <a:endParaRPr lang="en-US"/>
            </a:p>
          </p:txBody>
        </p:sp>
      </p:grpSp>
      <p:grpSp>
        <p:nvGrpSpPr>
          <p:cNvPr id="50" name="Group 50"/>
          <p:cNvGrpSpPr/>
          <p:nvPr/>
        </p:nvGrpSpPr>
        <p:grpSpPr>
          <a:xfrm>
            <a:off x="2286000" y="4500562"/>
            <a:ext cx="1541721" cy="1285875"/>
            <a:chOff x="0" y="0"/>
            <a:chExt cx="2055628" cy="1714500"/>
          </a:xfrm>
        </p:grpSpPr>
        <p:sp>
          <p:nvSpPr>
            <p:cNvPr id="51" name="Freeform 51"/>
            <p:cNvSpPr/>
            <p:nvPr/>
          </p:nvSpPr>
          <p:spPr>
            <a:xfrm>
              <a:off x="0" y="0"/>
              <a:ext cx="2055628" cy="1714500"/>
            </a:xfrm>
            <a:custGeom>
              <a:avLst/>
              <a:gdLst/>
              <a:ahLst/>
              <a:cxnLst/>
              <a:rect l="l" t="t" r="r" b="b"/>
              <a:pathLst>
                <a:path w="2055628" h="1714500">
                  <a:moveTo>
                    <a:pt x="0" y="0"/>
                  </a:moveTo>
                  <a:lnTo>
                    <a:pt x="2055628" y="0"/>
                  </a:lnTo>
                  <a:lnTo>
                    <a:pt x="2055628" y="1714500"/>
                  </a:lnTo>
                  <a:lnTo>
                    <a:pt x="0" y="1714500"/>
                  </a:lnTo>
                  <a:close/>
                </a:path>
              </a:pathLst>
            </a:custGeom>
            <a:blipFill>
              <a:blip r:embed="rId26"/>
              <a:stretch>
                <a:fillRect l="-7758" r="-6034"/>
              </a:stretch>
            </a:blipFill>
          </p:spPr>
          <p:txBody>
            <a:bodyPr/>
            <a:lstStyle/>
            <a:p>
              <a:endParaRPr lang="en-US"/>
            </a:p>
          </p:txBody>
        </p:sp>
      </p:grpSp>
      <p:grpSp>
        <p:nvGrpSpPr>
          <p:cNvPr id="52" name="Group 52"/>
          <p:cNvGrpSpPr/>
          <p:nvPr/>
        </p:nvGrpSpPr>
        <p:grpSpPr>
          <a:xfrm>
            <a:off x="3801140" y="4714875"/>
            <a:ext cx="1648047" cy="1071562"/>
            <a:chOff x="0" y="0"/>
            <a:chExt cx="2197395" cy="1428750"/>
          </a:xfrm>
        </p:grpSpPr>
        <p:sp>
          <p:nvSpPr>
            <p:cNvPr id="53" name="Freeform 53"/>
            <p:cNvSpPr/>
            <p:nvPr/>
          </p:nvSpPr>
          <p:spPr>
            <a:xfrm>
              <a:off x="0" y="0"/>
              <a:ext cx="2197395" cy="1428750"/>
            </a:xfrm>
            <a:custGeom>
              <a:avLst/>
              <a:gdLst/>
              <a:ahLst/>
              <a:cxnLst/>
              <a:rect l="l" t="t" r="r" b="b"/>
              <a:pathLst>
                <a:path w="2197395" h="1428750">
                  <a:moveTo>
                    <a:pt x="0" y="0"/>
                  </a:moveTo>
                  <a:lnTo>
                    <a:pt x="2197395" y="0"/>
                  </a:lnTo>
                  <a:lnTo>
                    <a:pt x="2197395" y="1428750"/>
                  </a:lnTo>
                  <a:lnTo>
                    <a:pt x="0" y="1428750"/>
                  </a:lnTo>
                  <a:close/>
                </a:path>
              </a:pathLst>
            </a:custGeom>
            <a:blipFill>
              <a:blip r:embed="rId27"/>
              <a:stretch>
                <a:fillRect l="-6451"/>
              </a:stretch>
            </a:blipFill>
          </p:spPr>
          <p:txBody>
            <a:bodyPr/>
            <a:lstStyle/>
            <a:p>
              <a:endParaRPr lang="en-US"/>
            </a:p>
          </p:txBody>
        </p:sp>
      </p:grpSp>
      <p:grpSp>
        <p:nvGrpSpPr>
          <p:cNvPr id="54" name="Group 54"/>
          <p:cNvGrpSpPr/>
          <p:nvPr/>
        </p:nvGrpSpPr>
        <p:grpSpPr>
          <a:xfrm>
            <a:off x="4638453" y="4580930"/>
            <a:ext cx="1461977" cy="884039"/>
            <a:chOff x="0" y="0"/>
            <a:chExt cx="1949302" cy="1178719"/>
          </a:xfrm>
        </p:grpSpPr>
        <p:sp>
          <p:nvSpPr>
            <p:cNvPr id="55" name="Freeform 55"/>
            <p:cNvSpPr/>
            <p:nvPr/>
          </p:nvSpPr>
          <p:spPr>
            <a:xfrm>
              <a:off x="0" y="0"/>
              <a:ext cx="1949302" cy="1178719"/>
            </a:xfrm>
            <a:custGeom>
              <a:avLst/>
              <a:gdLst/>
              <a:ahLst/>
              <a:cxnLst/>
              <a:rect l="l" t="t" r="r" b="b"/>
              <a:pathLst>
                <a:path w="1949302" h="1178719">
                  <a:moveTo>
                    <a:pt x="0" y="0"/>
                  </a:moveTo>
                  <a:lnTo>
                    <a:pt x="1949302" y="0"/>
                  </a:lnTo>
                  <a:lnTo>
                    <a:pt x="1949302" y="1178719"/>
                  </a:lnTo>
                  <a:lnTo>
                    <a:pt x="0" y="1178719"/>
                  </a:lnTo>
                  <a:close/>
                </a:path>
              </a:pathLst>
            </a:custGeom>
            <a:blipFill>
              <a:blip r:embed="rId28"/>
              <a:stretch>
                <a:fillRect l="-4545" t="-9090" b="-36363"/>
              </a:stretch>
            </a:blipFill>
          </p:spPr>
          <p:txBody>
            <a:bodyPr/>
            <a:lstStyle/>
            <a:p>
              <a:endParaRPr lang="en-US"/>
            </a:p>
          </p:txBody>
        </p:sp>
      </p:grpSp>
      <p:grpSp>
        <p:nvGrpSpPr>
          <p:cNvPr id="56" name="Group 56"/>
          <p:cNvGrpSpPr/>
          <p:nvPr/>
        </p:nvGrpSpPr>
        <p:grpSpPr>
          <a:xfrm>
            <a:off x="5781453" y="4500562"/>
            <a:ext cx="1089837" cy="1071562"/>
            <a:chOff x="0" y="0"/>
            <a:chExt cx="1453116" cy="1428750"/>
          </a:xfrm>
        </p:grpSpPr>
        <p:sp>
          <p:nvSpPr>
            <p:cNvPr id="57" name="Freeform 57"/>
            <p:cNvSpPr/>
            <p:nvPr/>
          </p:nvSpPr>
          <p:spPr>
            <a:xfrm>
              <a:off x="0" y="0"/>
              <a:ext cx="1453116" cy="1428750"/>
            </a:xfrm>
            <a:custGeom>
              <a:avLst/>
              <a:gdLst/>
              <a:ahLst/>
              <a:cxnLst/>
              <a:rect l="l" t="t" r="r" b="b"/>
              <a:pathLst>
                <a:path w="1453116" h="1428750">
                  <a:moveTo>
                    <a:pt x="0" y="0"/>
                  </a:moveTo>
                  <a:lnTo>
                    <a:pt x="1453116" y="0"/>
                  </a:lnTo>
                  <a:lnTo>
                    <a:pt x="1453116" y="1428750"/>
                  </a:lnTo>
                  <a:lnTo>
                    <a:pt x="0" y="1428750"/>
                  </a:lnTo>
                  <a:close/>
                </a:path>
              </a:pathLst>
            </a:custGeom>
            <a:blipFill>
              <a:blip r:embed="rId29"/>
              <a:stretch>
                <a:fillRect l="-12195" r="-9756" b="-20000"/>
              </a:stretch>
            </a:blipFill>
          </p:spPr>
          <p:txBody>
            <a:bodyPr/>
            <a:lstStyle/>
            <a:p>
              <a:endParaRPr lang="en-US"/>
            </a:p>
          </p:txBody>
        </p:sp>
      </p:grpSp>
      <p:grpSp>
        <p:nvGrpSpPr>
          <p:cNvPr id="58" name="Group 58"/>
          <p:cNvGrpSpPr/>
          <p:nvPr/>
        </p:nvGrpSpPr>
        <p:grpSpPr>
          <a:xfrm>
            <a:off x="6831419" y="4500562"/>
            <a:ext cx="2339163" cy="1285875"/>
            <a:chOff x="0" y="0"/>
            <a:chExt cx="3118884" cy="1714500"/>
          </a:xfrm>
        </p:grpSpPr>
        <p:sp>
          <p:nvSpPr>
            <p:cNvPr id="59" name="Freeform 59"/>
            <p:cNvSpPr/>
            <p:nvPr/>
          </p:nvSpPr>
          <p:spPr>
            <a:xfrm>
              <a:off x="0" y="0"/>
              <a:ext cx="3118884" cy="1714500"/>
            </a:xfrm>
            <a:custGeom>
              <a:avLst/>
              <a:gdLst/>
              <a:ahLst/>
              <a:cxnLst/>
              <a:rect l="l" t="t" r="r" b="b"/>
              <a:pathLst>
                <a:path w="3118884" h="1714500">
                  <a:moveTo>
                    <a:pt x="0" y="0"/>
                  </a:moveTo>
                  <a:lnTo>
                    <a:pt x="3118884" y="0"/>
                  </a:lnTo>
                  <a:lnTo>
                    <a:pt x="3118884" y="1714500"/>
                  </a:lnTo>
                  <a:lnTo>
                    <a:pt x="0" y="1714500"/>
                  </a:lnTo>
                  <a:close/>
                </a:path>
              </a:pathLst>
            </a:custGeom>
            <a:blipFill>
              <a:blip r:embed="rId30"/>
              <a:stretch>
                <a:fillRect l="-3977" r="-8522"/>
              </a:stretch>
            </a:blipFill>
          </p:spPr>
          <p:txBody>
            <a:bodyPr/>
            <a:lstStyle/>
            <a:p>
              <a:endParaRPr lang="en-US"/>
            </a:p>
          </p:txBody>
        </p:sp>
      </p:grpSp>
      <p:grpSp>
        <p:nvGrpSpPr>
          <p:cNvPr id="60" name="Group 60"/>
          <p:cNvGrpSpPr/>
          <p:nvPr/>
        </p:nvGrpSpPr>
        <p:grpSpPr>
          <a:xfrm>
            <a:off x="1501849" y="5572125"/>
            <a:ext cx="1329070" cy="1285875"/>
            <a:chOff x="0" y="0"/>
            <a:chExt cx="1772093" cy="1714500"/>
          </a:xfrm>
        </p:grpSpPr>
        <p:sp>
          <p:nvSpPr>
            <p:cNvPr id="61" name="Freeform 61"/>
            <p:cNvSpPr/>
            <p:nvPr/>
          </p:nvSpPr>
          <p:spPr>
            <a:xfrm>
              <a:off x="0" y="0"/>
              <a:ext cx="1772093" cy="1714500"/>
            </a:xfrm>
            <a:custGeom>
              <a:avLst/>
              <a:gdLst/>
              <a:ahLst/>
              <a:cxnLst/>
              <a:rect l="l" t="t" r="r" b="b"/>
              <a:pathLst>
                <a:path w="1772093" h="1714500">
                  <a:moveTo>
                    <a:pt x="0" y="0"/>
                  </a:moveTo>
                  <a:lnTo>
                    <a:pt x="1772093" y="0"/>
                  </a:lnTo>
                  <a:lnTo>
                    <a:pt x="1772093" y="1714500"/>
                  </a:lnTo>
                  <a:lnTo>
                    <a:pt x="0" y="1714500"/>
                  </a:lnTo>
                  <a:close/>
                </a:path>
              </a:pathLst>
            </a:custGeom>
            <a:blipFill>
              <a:blip r:embed="rId31"/>
              <a:stretch>
                <a:fillRect l="-15000"/>
              </a:stretch>
            </a:blipFill>
          </p:spPr>
          <p:txBody>
            <a:bodyPr/>
            <a:lstStyle/>
            <a:p>
              <a:endParaRPr lang="en-US"/>
            </a:p>
          </p:txBody>
        </p:sp>
      </p:grpSp>
      <p:grpSp>
        <p:nvGrpSpPr>
          <p:cNvPr id="62" name="Group 62"/>
          <p:cNvGrpSpPr/>
          <p:nvPr/>
        </p:nvGrpSpPr>
        <p:grpSpPr>
          <a:xfrm>
            <a:off x="2604977" y="5786438"/>
            <a:ext cx="1236035" cy="1071562"/>
            <a:chOff x="0" y="0"/>
            <a:chExt cx="1648047" cy="1428750"/>
          </a:xfrm>
        </p:grpSpPr>
        <p:sp>
          <p:nvSpPr>
            <p:cNvPr id="63" name="Freeform 63"/>
            <p:cNvSpPr/>
            <p:nvPr/>
          </p:nvSpPr>
          <p:spPr>
            <a:xfrm>
              <a:off x="0" y="0"/>
              <a:ext cx="1648046" cy="1428750"/>
            </a:xfrm>
            <a:custGeom>
              <a:avLst/>
              <a:gdLst/>
              <a:ahLst/>
              <a:cxnLst/>
              <a:rect l="l" t="t" r="r" b="b"/>
              <a:pathLst>
                <a:path w="1648046" h="1428750">
                  <a:moveTo>
                    <a:pt x="0" y="0"/>
                  </a:moveTo>
                  <a:lnTo>
                    <a:pt x="1648046" y="0"/>
                  </a:lnTo>
                  <a:lnTo>
                    <a:pt x="1648046" y="1428750"/>
                  </a:lnTo>
                  <a:lnTo>
                    <a:pt x="0" y="1428750"/>
                  </a:lnTo>
                  <a:close/>
                </a:path>
              </a:pathLst>
            </a:custGeom>
            <a:blipFill>
              <a:blip r:embed="rId32"/>
              <a:stretch>
                <a:fillRect r="-6451"/>
              </a:stretch>
            </a:blipFill>
          </p:spPr>
          <p:txBody>
            <a:bodyPr/>
            <a:lstStyle/>
            <a:p>
              <a:endParaRPr lang="en-US"/>
            </a:p>
          </p:txBody>
        </p:sp>
      </p:grpSp>
      <p:grpSp>
        <p:nvGrpSpPr>
          <p:cNvPr id="64" name="Group 64"/>
          <p:cNvGrpSpPr/>
          <p:nvPr/>
        </p:nvGrpSpPr>
        <p:grpSpPr>
          <a:xfrm>
            <a:off x="3787849" y="6000750"/>
            <a:ext cx="1555012" cy="857250"/>
            <a:chOff x="0" y="0"/>
            <a:chExt cx="2073349" cy="1143000"/>
          </a:xfrm>
        </p:grpSpPr>
        <p:sp>
          <p:nvSpPr>
            <p:cNvPr id="65" name="Freeform 65"/>
            <p:cNvSpPr/>
            <p:nvPr/>
          </p:nvSpPr>
          <p:spPr>
            <a:xfrm>
              <a:off x="0" y="0"/>
              <a:ext cx="2073349" cy="1143000"/>
            </a:xfrm>
            <a:custGeom>
              <a:avLst/>
              <a:gdLst/>
              <a:ahLst/>
              <a:cxnLst/>
              <a:rect l="l" t="t" r="r" b="b"/>
              <a:pathLst>
                <a:path w="2073349" h="1143000">
                  <a:moveTo>
                    <a:pt x="0" y="0"/>
                  </a:moveTo>
                  <a:lnTo>
                    <a:pt x="2073349" y="0"/>
                  </a:lnTo>
                  <a:lnTo>
                    <a:pt x="2073349" y="1143000"/>
                  </a:lnTo>
                  <a:lnTo>
                    <a:pt x="0" y="1143000"/>
                  </a:lnTo>
                  <a:close/>
                </a:path>
              </a:pathLst>
            </a:custGeom>
            <a:blipFill>
              <a:blip r:embed="rId33"/>
              <a:stretch>
                <a:fillRect l="-5982" r="-6837"/>
              </a:stretch>
            </a:blipFill>
          </p:spPr>
          <p:txBody>
            <a:bodyPr/>
            <a:lstStyle/>
            <a:p>
              <a:endParaRPr lang="en-US"/>
            </a:p>
          </p:txBody>
        </p:sp>
      </p:grpSp>
      <p:grpSp>
        <p:nvGrpSpPr>
          <p:cNvPr id="66" name="Group 66"/>
          <p:cNvGrpSpPr/>
          <p:nvPr/>
        </p:nvGrpSpPr>
        <p:grpSpPr>
          <a:xfrm>
            <a:off x="4638453" y="5572125"/>
            <a:ext cx="1461977" cy="1285875"/>
            <a:chOff x="0" y="0"/>
            <a:chExt cx="1949302" cy="1714500"/>
          </a:xfrm>
        </p:grpSpPr>
        <p:sp>
          <p:nvSpPr>
            <p:cNvPr id="67" name="Freeform 67"/>
            <p:cNvSpPr/>
            <p:nvPr/>
          </p:nvSpPr>
          <p:spPr>
            <a:xfrm>
              <a:off x="0" y="0"/>
              <a:ext cx="1949302" cy="1714500"/>
            </a:xfrm>
            <a:custGeom>
              <a:avLst/>
              <a:gdLst/>
              <a:ahLst/>
              <a:cxnLst/>
              <a:rect l="l" t="t" r="r" b="b"/>
              <a:pathLst>
                <a:path w="1949302" h="1714500">
                  <a:moveTo>
                    <a:pt x="0" y="0"/>
                  </a:moveTo>
                  <a:lnTo>
                    <a:pt x="1949302" y="0"/>
                  </a:lnTo>
                  <a:lnTo>
                    <a:pt x="1949302" y="1714500"/>
                  </a:lnTo>
                  <a:lnTo>
                    <a:pt x="0" y="1714500"/>
                  </a:lnTo>
                  <a:close/>
                </a:path>
              </a:pathLst>
            </a:custGeom>
            <a:blipFill>
              <a:blip r:embed="rId34"/>
              <a:stretch>
                <a:fillRect l="-4545"/>
              </a:stretch>
            </a:blipFill>
          </p:spPr>
          <p:txBody>
            <a:bodyPr/>
            <a:lstStyle/>
            <a:p>
              <a:endParaRPr lang="en-US"/>
            </a:p>
          </p:txBody>
        </p:sp>
      </p:grpSp>
      <p:grpSp>
        <p:nvGrpSpPr>
          <p:cNvPr id="68" name="Group 68"/>
          <p:cNvGrpSpPr/>
          <p:nvPr/>
        </p:nvGrpSpPr>
        <p:grpSpPr>
          <a:xfrm>
            <a:off x="5808035" y="5572125"/>
            <a:ext cx="1156291" cy="1285875"/>
            <a:chOff x="0" y="0"/>
            <a:chExt cx="1541721" cy="1714500"/>
          </a:xfrm>
        </p:grpSpPr>
        <p:sp>
          <p:nvSpPr>
            <p:cNvPr id="69" name="Freeform 69"/>
            <p:cNvSpPr/>
            <p:nvPr/>
          </p:nvSpPr>
          <p:spPr>
            <a:xfrm>
              <a:off x="0" y="0"/>
              <a:ext cx="1541721" cy="1714500"/>
            </a:xfrm>
            <a:custGeom>
              <a:avLst/>
              <a:gdLst/>
              <a:ahLst/>
              <a:cxnLst/>
              <a:rect l="l" t="t" r="r" b="b"/>
              <a:pathLst>
                <a:path w="1541721" h="1714500">
                  <a:moveTo>
                    <a:pt x="0" y="0"/>
                  </a:moveTo>
                  <a:lnTo>
                    <a:pt x="1541721" y="0"/>
                  </a:lnTo>
                  <a:lnTo>
                    <a:pt x="1541721" y="1714500"/>
                  </a:lnTo>
                  <a:lnTo>
                    <a:pt x="0" y="1714500"/>
                  </a:lnTo>
                  <a:close/>
                </a:path>
              </a:pathLst>
            </a:custGeom>
            <a:blipFill>
              <a:blip r:embed="rId35"/>
              <a:stretch>
                <a:fillRect l="-13793" r="-1149"/>
              </a:stretch>
            </a:blipFill>
          </p:spPr>
          <p:txBody>
            <a:bodyPr/>
            <a:lstStyle/>
            <a:p>
              <a:endParaRPr lang="en-US"/>
            </a:p>
          </p:txBody>
        </p:sp>
      </p:grpSp>
      <p:grpSp>
        <p:nvGrpSpPr>
          <p:cNvPr id="70" name="Group 70"/>
          <p:cNvGrpSpPr/>
          <p:nvPr/>
        </p:nvGrpSpPr>
        <p:grpSpPr>
          <a:xfrm>
            <a:off x="6844709" y="5572125"/>
            <a:ext cx="2312581" cy="1285875"/>
            <a:chOff x="0" y="0"/>
            <a:chExt cx="3083442" cy="1714500"/>
          </a:xfrm>
        </p:grpSpPr>
        <p:sp>
          <p:nvSpPr>
            <p:cNvPr id="71" name="Freeform 71"/>
            <p:cNvSpPr/>
            <p:nvPr/>
          </p:nvSpPr>
          <p:spPr>
            <a:xfrm>
              <a:off x="0" y="0"/>
              <a:ext cx="3083442" cy="1714500"/>
            </a:xfrm>
            <a:custGeom>
              <a:avLst/>
              <a:gdLst/>
              <a:ahLst/>
              <a:cxnLst/>
              <a:rect l="l" t="t" r="r" b="b"/>
              <a:pathLst>
                <a:path w="3083442" h="1714500">
                  <a:moveTo>
                    <a:pt x="0" y="0"/>
                  </a:moveTo>
                  <a:lnTo>
                    <a:pt x="3083442" y="0"/>
                  </a:lnTo>
                  <a:lnTo>
                    <a:pt x="3083442" y="1714500"/>
                  </a:lnTo>
                  <a:lnTo>
                    <a:pt x="0" y="1714500"/>
                  </a:lnTo>
                  <a:close/>
                </a:path>
              </a:pathLst>
            </a:custGeom>
            <a:blipFill>
              <a:blip r:embed="rId36"/>
              <a:stretch>
                <a:fillRect l="-4597" r="-9195"/>
              </a:stretch>
            </a:blipFill>
          </p:spPr>
          <p:txBody>
            <a:bodyPr/>
            <a:lstStyle/>
            <a:p>
              <a:endParaRPr lang="en-US"/>
            </a:p>
          </p:txBody>
        </p:sp>
      </p:grpSp>
      <p:grpSp>
        <p:nvGrpSpPr>
          <p:cNvPr id="72" name="Group 72"/>
          <p:cNvGrpSpPr/>
          <p:nvPr/>
        </p:nvGrpSpPr>
        <p:grpSpPr>
          <a:xfrm>
            <a:off x="1515140" y="6643688"/>
            <a:ext cx="1222744" cy="1071562"/>
            <a:chOff x="0" y="0"/>
            <a:chExt cx="1630326" cy="1428750"/>
          </a:xfrm>
        </p:grpSpPr>
        <p:sp>
          <p:nvSpPr>
            <p:cNvPr id="73" name="Freeform 73"/>
            <p:cNvSpPr/>
            <p:nvPr/>
          </p:nvSpPr>
          <p:spPr>
            <a:xfrm>
              <a:off x="0" y="0"/>
              <a:ext cx="1630326" cy="1428750"/>
            </a:xfrm>
            <a:custGeom>
              <a:avLst/>
              <a:gdLst/>
              <a:ahLst/>
              <a:cxnLst/>
              <a:rect l="l" t="t" r="r" b="b"/>
              <a:pathLst>
                <a:path w="1630326" h="1428750">
                  <a:moveTo>
                    <a:pt x="0" y="0"/>
                  </a:moveTo>
                  <a:lnTo>
                    <a:pt x="1630326" y="0"/>
                  </a:lnTo>
                  <a:lnTo>
                    <a:pt x="1630326" y="1428750"/>
                  </a:lnTo>
                  <a:lnTo>
                    <a:pt x="0" y="1428750"/>
                  </a:lnTo>
                  <a:close/>
                </a:path>
              </a:pathLst>
            </a:custGeom>
            <a:blipFill>
              <a:blip r:embed="rId37"/>
              <a:stretch>
                <a:fillRect l="-17391" r="-7608"/>
              </a:stretch>
            </a:blipFill>
          </p:spPr>
          <p:txBody>
            <a:bodyPr/>
            <a:lstStyle/>
            <a:p>
              <a:endParaRPr lang="en-US"/>
            </a:p>
          </p:txBody>
        </p:sp>
      </p:grpSp>
      <p:grpSp>
        <p:nvGrpSpPr>
          <p:cNvPr id="74" name="Group 74"/>
          <p:cNvGrpSpPr/>
          <p:nvPr/>
        </p:nvGrpSpPr>
        <p:grpSpPr>
          <a:xfrm>
            <a:off x="2272709" y="6643688"/>
            <a:ext cx="1555012" cy="1071562"/>
            <a:chOff x="0" y="0"/>
            <a:chExt cx="2073349" cy="1428750"/>
          </a:xfrm>
        </p:grpSpPr>
        <p:sp>
          <p:nvSpPr>
            <p:cNvPr id="75" name="Freeform 75"/>
            <p:cNvSpPr/>
            <p:nvPr/>
          </p:nvSpPr>
          <p:spPr>
            <a:xfrm>
              <a:off x="0" y="0"/>
              <a:ext cx="2073349" cy="1428750"/>
            </a:xfrm>
            <a:custGeom>
              <a:avLst/>
              <a:gdLst/>
              <a:ahLst/>
              <a:cxnLst/>
              <a:rect l="l" t="t" r="r" b="b"/>
              <a:pathLst>
                <a:path w="2073349" h="1428750">
                  <a:moveTo>
                    <a:pt x="0" y="0"/>
                  </a:moveTo>
                  <a:lnTo>
                    <a:pt x="2073349" y="0"/>
                  </a:lnTo>
                  <a:lnTo>
                    <a:pt x="2073349" y="1428750"/>
                  </a:lnTo>
                  <a:lnTo>
                    <a:pt x="0" y="1428750"/>
                  </a:lnTo>
                  <a:close/>
                </a:path>
              </a:pathLst>
            </a:custGeom>
            <a:blipFill>
              <a:blip r:embed="rId38"/>
              <a:stretch>
                <a:fillRect l="-6837" r="-5982"/>
              </a:stretch>
            </a:blipFill>
          </p:spPr>
          <p:txBody>
            <a:bodyPr/>
            <a:lstStyle/>
            <a:p>
              <a:endParaRPr lang="en-US"/>
            </a:p>
          </p:txBody>
        </p:sp>
      </p:grpSp>
      <p:grpSp>
        <p:nvGrpSpPr>
          <p:cNvPr id="76" name="Group 76"/>
          <p:cNvGrpSpPr/>
          <p:nvPr/>
        </p:nvGrpSpPr>
        <p:grpSpPr>
          <a:xfrm>
            <a:off x="3734686" y="6858000"/>
            <a:ext cx="1714500" cy="857250"/>
            <a:chOff x="0" y="0"/>
            <a:chExt cx="2286000" cy="1143000"/>
          </a:xfrm>
        </p:grpSpPr>
        <p:sp>
          <p:nvSpPr>
            <p:cNvPr id="77" name="Freeform 77"/>
            <p:cNvSpPr/>
            <p:nvPr/>
          </p:nvSpPr>
          <p:spPr>
            <a:xfrm>
              <a:off x="0" y="0"/>
              <a:ext cx="2286000" cy="1143000"/>
            </a:xfrm>
            <a:custGeom>
              <a:avLst/>
              <a:gdLst/>
              <a:ahLst/>
              <a:cxnLst/>
              <a:rect l="l" t="t" r="r" b="b"/>
              <a:pathLst>
                <a:path w="2286000" h="1143000">
                  <a:moveTo>
                    <a:pt x="0" y="0"/>
                  </a:moveTo>
                  <a:lnTo>
                    <a:pt x="2286000" y="0"/>
                  </a:lnTo>
                  <a:lnTo>
                    <a:pt x="2286000" y="1143000"/>
                  </a:lnTo>
                  <a:lnTo>
                    <a:pt x="0" y="1143000"/>
                  </a:lnTo>
                  <a:close/>
                </a:path>
              </a:pathLst>
            </a:custGeom>
            <a:blipFill>
              <a:blip r:embed="rId39"/>
              <a:stretch>
                <a:fillRect l="-2325"/>
              </a:stretch>
            </a:blipFill>
          </p:spPr>
          <p:txBody>
            <a:bodyPr/>
            <a:lstStyle/>
            <a:p>
              <a:endParaRPr lang="en-US"/>
            </a:p>
          </p:txBody>
        </p:sp>
      </p:grpSp>
      <p:grpSp>
        <p:nvGrpSpPr>
          <p:cNvPr id="78" name="Group 78"/>
          <p:cNvGrpSpPr/>
          <p:nvPr/>
        </p:nvGrpSpPr>
        <p:grpSpPr>
          <a:xfrm>
            <a:off x="4611872" y="6643688"/>
            <a:ext cx="1488558" cy="1071562"/>
            <a:chOff x="0" y="0"/>
            <a:chExt cx="1984744" cy="1428750"/>
          </a:xfrm>
        </p:grpSpPr>
        <p:sp>
          <p:nvSpPr>
            <p:cNvPr id="79" name="Freeform 79"/>
            <p:cNvSpPr/>
            <p:nvPr/>
          </p:nvSpPr>
          <p:spPr>
            <a:xfrm>
              <a:off x="0" y="0"/>
              <a:ext cx="1984744" cy="1428750"/>
            </a:xfrm>
            <a:custGeom>
              <a:avLst/>
              <a:gdLst/>
              <a:ahLst/>
              <a:cxnLst/>
              <a:rect l="l" t="t" r="r" b="b"/>
              <a:pathLst>
                <a:path w="1984744" h="1428750">
                  <a:moveTo>
                    <a:pt x="0" y="0"/>
                  </a:moveTo>
                  <a:lnTo>
                    <a:pt x="1984744" y="0"/>
                  </a:lnTo>
                  <a:lnTo>
                    <a:pt x="1984744" y="1428750"/>
                  </a:lnTo>
                  <a:lnTo>
                    <a:pt x="0" y="1428750"/>
                  </a:lnTo>
                  <a:close/>
                </a:path>
              </a:pathLst>
            </a:custGeom>
            <a:blipFill>
              <a:blip r:embed="rId40"/>
              <a:stretch>
                <a:fillRect l="-2678"/>
              </a:stretch>
            </a:blipFill>
          </p:spPr>
          <p:txBody>
            <a:bodyPr/>
            <a:lstStyle/>
            <a:p>
              <a:endParaRPr lang="en-US"/>
            </a:p>
          </p:txBody>
        </p:sp>
      </p:grpSp>
      <p:sp>
        <p:nvSpPr>
          <p:cNvPr id="80" name="TextBox 80"/>
          <p:cNvSpPr txBox="1"/>
          <p:nvPr/>
        </p:nvSpPr>
        <p:spPr>
          <a:xfrm>
            <a:off x="768096" y="666256"/>
            <a:ext cx="13990320" cy="742950"/>
          </a:xfrm>
          <a:prstGeom prst="rect">
            <a:avLst/>
          </a:prstGeom>
        </p:spPr>
        <p:txBody>
          <a:bodyPr lIns="0" tIns="0" rIns="0" bIns="0" rtlCol="0" anchor="t">
            <a:spAutoFit/>
          </a:bodyPr>
          <a:lstStyle/>
          <a:p>
            <a:pPr algn="l">
              <a:lnSpc>
                <a:spcPts val="5788"/>
              </a:lnSpc>
            </a:pPr>
            <a:r>
              <a:rPr lang="en-US" sz="4823">
                <a:solidFill>
                  <a:srgbClr val="1E3246"/>
                </a:solidFill>
                <a:latin typeface="Roboto"/>
                <a:ea typeface="Roboto"/>
                <a:cs typeface="Roboto"/>
                <a:sym typeface="Roboto"/>
              </a:rPr>
              <a:t>The Booking Calendar: Generating Diagonal Effects</a:t>
            </a:r>
          </a:p>
        </p:txBody>
      </p:sp>
      <p:sp>
        <p:nvSpPr>
          <p:cNvPr id="81" name="TextBox 81"/>
          <p:cNvSpPr txBox="1"/>
          <p:nvPr/>
        </p:nvSpPr>
        <p:spPr>
          <a:xfrm rot="-5400000">
            <a:off x="-55249" y="5237983"/>
            <a:ext cx="1938528" cy="500520"/>
          </a:xfrm>
          <a:prstGeom prst="rect">
            <a:avLst/>
          </a:prstGeom>
        </p:spPr>
        <p:txBody>
          <a:bodyPr lIns="0" tIns="0" rIns="0" bIns="0" rtlCol="0" anchor="t">
            <a:spAutoFit/>
          </a:bodyPr>
          <a:lstStyle/>
          <a:p>
            <a:pPr algn="ctr">
              <a:lnSpc>
                <a:spcPts val="3912"/>
              </a:lnSpc>
            </a:pPr>
            <a:r>
              <a:rPr lang="en-US" sz="2794">
                <a:solidFill>
                  <a:srgbClr val="1E3246"/>
                </a:solidFill>
                <a:latin typeface="Roboto"/>
                <a:ea typeface="Roboto"/>
                <a:cs typeface="Roboto"/>
                <a:sym typeface="Roboto"/>
              </a:rPr>
              <a:t>Arrival Date</a:t>
            </a:r>
          </a:p>
        </p:txBody>
      </p:sp>
      <p:sp>
        <p:nvSpPr>
          <p:cNvPr id="82" name="TextBox 82"/>
          <p:cNvSpPr txBox="1"/>
          <p:nvPr/>
        </p:nvSpPr>
        <p:spPr>
          <a:xfrm>
            <a:off x="9776343" y="2366674"/>
            <a:ext cx="8383641" cy="421005"/>
          </a:xfrm>
          <a:prstGeom prst="rect">
            <a:avLst/>
          </a:prstGeom>
        </p:spPr>
        <p:txBody>
          <a:bodyPr lIns="0" tIns="0" rIns="0" bIns="0" rtlCol="0" anchor="t">
            <a:spAutoFit/>
          </a:bodyPr>
          <a:lstStyle/>
          <a:p>
            <a:pPr algn="l">
              <a:lnSpc>
                <a:spcPts val="3569"/>
              </a:lnSpc>
            </a:pPr>
            <a:r>
              <a:rPr lang="en-US" sz="2549" b="1">
                <a:solidFill>
                  <a:srgbClr val="1E3246"/>
                </a:solidFill>
                <a:latin typeface="Fira Code Bold"/>
                <a:ea typeface="Fira Code Bold"/>
                <a:cs typeface="Fira Code Bold"/>
                <a:sym typeface="Fira Code Bold"/>
              </a:rPr>
              <a:t>g(k) = BOOK_DOW[weekday(d-k)] * promo(d-k)</a:t>
            </a:r>
          </a:p>
        </p:txBody>
      </p:sp>
      <p:sp>
        <p:nvSpPr>
          <p:cNvPr id="83" name="TextBox 83"/>
          <p:cNvSpPr txBox="1"/>
          <p:nvPr/>
        </p:nvSpPr>
        <p:spPr>
          <a:xfrm>
            <a:off x="10040112" y="3412608"/>
            <a:ext cx="7351776" cy="4700034"/>
          </a:xfrm>
          <a:prstGeom prst="rect">
            <a:avLst/>
          </a:prstGeom>
        </p:spPr>
        <p:txBody>
          <a:bodyPr lIns="0" tIns="0" rIns="0" bIns="0" rtlCol="0" anchor="t">
            <a:spAutoFit/>
          </a:bodyPr>
          <a:lstStyle/>
          <a:p>
            <a:pPr algn="l">
              <a:lnSpc>
                <a:spcPts val="3443"/>
              </a:lnSpc>
            </a:pPr>
            <a:r>
              <a:rPr lang="en-US" sz="2459" b="1">
                <a:solidFill>
                  <a:srgbClr val="1E3246"/>
                </a:solidFill>
                <a:latin typeface="Fira Code Bold"/>
                <a:ea typeface="Fira Code Bold"/>
                <a:cs typeface="Fira Code Bold"/>
                <a:sym typeface="Fira Code Bold"/>
              </a:rPr>
              <a:t>▪︎ Mechanism: </a:t>
            </a:r>
            <a:r>
              <a:rPr lang="en-US" sz="2459">
                <a:solidFill>
                  <a:srgbClr val="1E3246"/>
                </a:solidFill>
                <a:latin typeface="Fira Code"/>
                <a:ea typeface="Fira Code"/>
                <a:cs typeface="Fira Code"/>
                <a:sym typeface="Fira Code"/>
              </a:rPr>
              <a:t>Because </a:t>
            </a:r>
            <a:r>
              <a:rPr lang="en-US" sz="2459">
                <a:solidFill>
                  <a:srgbClr val="D8A45A"/>
                </a:solidFill>
                <a:latin typeface="Fira Code"/>
                <a:ea typeface="Fira Code"/>
                <a:cs typeface="Fira Code"/>
                <a:sym typeface="Fira Code"/>
              </a:rPr>
              <a:t>booking_date = arrival_date - k</a:t>
            </a:r>
            <a:r>
              <a:rPr lang="en-US" sz="2459">
                <a:solidFill>
                  <a:srgbClr val="1E3246"/>
                </a:solidFill>
                <a:latin typeface="Fira Code"/>
                <a:ea typeface="Fira Code"/>
                <a:cs typeface="Fira Code"/>
                <a:sym typeface="Fira Code"/>
              </a:rPr>
              <a:t>, booking-day behaviors (e.g., weekday booking peaks of </a:t>
            </a:r>
            <a:r>
              <a:rPr lang="en-US" sz="2459">
                <a:solidFill>
                  <a:srgbClr val="D8A45A"/>
                </a:solidFill>
                <a:latin typeface="Fira Code"/>
                <a:ea typeface="Fira Code"/>
                <a:cs typeface="Fira Code"/>
                <a:sym typeface="Fira Code"/>
              </a:rPr>
              <a:t>2.2x</a:t>
            </a:r>
            <a:r>
              <a:rPr lang="en-US" sz="2459">
                <a:solidFill>
                  <a:srgbClr val="1E3246"/>
                </a:solidFill>
                <a:latin typeface="Fira Code"/>
                <a:ea typeface="Fira Code"/>
                <a:cs typeface="Fira Code"/>
                <a:sym typeface="Fira Code"/>
              </a:rPr>
              <a:t>, portfolio-wide flash sales) project diagonally across the matrix.</a:t>
            </a:r>
          </a:p>
          <a:p>
            <a:pPr algn="l">
              <a:lnSpc>
                <a:spcPts val="3443"/>
              </a:lnSpc>
            </a:pPr>
            <a:endParaRPr lang="en-US" sz="2459">
              <a:solidFill>
                <a:srgbClr val="1E3246"/>
              </a:solidFill>
              <a:latin typeface="Fira Code"/>
              <a:ea typeface="Fira Code"/>
              <a:cs typeface="Fira Code"/>
              <a:sym typeface="Fira Code"/>
            </a:endParaRPr>
          </a:p>
          <a:p>
            <a:pPr algn="l">
              <a:lnSpc>
                <a:spcPts val="3443"/>
              </a:lnSpc>
            </a:pPr>
            <a:r>
              <a:rPr lang="en-US" sz="2459" b="1">
                <a:solidFill>
                  <a:srgbClr val="1E3246"/>
                </a:solidFill>
                <a:latin typeface="Fira Code Bold"/>
                <a:ea typeface="Fira Code Bold"/>
                <a:cs typeface="Fira Code Bold"/>
                <a:sym typeface="Fira Code Bold"/>
              </a:rPr>
              <a:t>▪︎ Diagnostic Purpose: </a:t>
            </a:r>
            <a:r>
              <a:rPr lang="en-US" sz="2459">
                <a:solidFill>
                  <a:srgbClr val="1E3246"/>
                </a:solidFill>
                <a:latin typeface="Fira Code"/>
                <a:ea typeface="Fira Code"/>
                <a:cs typeface="Fira Code"/>
                <a:sym typeface="Fira Code"/>
              </a:rPr>
              <a:t>This structure is invisible to ML features built per-cell independently. It forces models to recognize temporal phase shifts along the DTA axis.</a:t>
            </a:r>
          </a:p>
        </p:txBody>
      </p:sp>
      <p:sp>
        <p:nvSpPr>
          <p:cNvPr id="84" name="Freeform 84"/>
          <p:cNvSpPr/>
          <p:nvPr/>
        </p:nvSpPr>
        <p:spPr>
          <a:xfrm>
            <a:off x="0" y="1428332"/>
            <a:ext cx="9747768" cy="8792805"/>
          </a:xfrm>
          <a:custGeom>
            <a:avLst/>
            <a:gdLst/>
            <a:ahLst/>
            <a:cxnLst/>
            <a:rect l="l" t="t" r="r" b="b"/>
            <a:pathLst>
              <a:path w="9747768" h="8792805">
                <a:moveTo>
                  <a:pt x="0" y="0"/>
                </a:moveTo>
                <a:lnTo>
                  <a:pt x="9747768" y="0"/>
                </a:lnTo>
                <a:lnTo>
                  <a:pt x="9747768" y="8792805"/>
                </a:lnTo>
                <a:lnTo>
                  <a:pt x="0" y="8792805"/>
                </a:lnTo>
                <a:lnTo>
                  <a:pt x="0" y="0"/>
                </a:lnTo>
                <a:close/>
              </a:path>
            </a:pathLst>
          </a:custGeom>
          <a:blipFill>
            <a:blip r:embed="rId41"/>
            <a:stretch>
              <a:fillRect t="-17160" r="-90066" b="-444"/>
            </a:stretch>
          </a:blipFill>
        </p:spPr>
        <p:txBody>
          <a:bodyPr/>
          <a:lstStyle/>
          <a:p>
            <a:endParaRPr lang="en-US"/>
          </a:p>
        </p:txBody>
      </p:sp>
      <p:sp>
        <p:nvSpPr>
          <p:cNvPr id="85" name="TextBox 85"/>
          <p:cNvSpPr txBox="1"/>
          <p:nvPr/>
        </p:nvSpPr>
        <p:spPr>
          <a:xfrm>
            <a:off x="17026128" y="9973155"/>
            <a:ext cx="1133856" cy="190832"/>
          </a:xfrm>
          <a:prstGeom prst="rect">
            <a:avLst/>
          </a:prstGeom>
        </p:spPr>
        <p:txBody>
          <a:bodyPr lIns="0" tIns="0" rIns="0" bIns="0" rtlCol="0" anchor="t">
            <a:spAutoFit/>
          </a:bodyPr>
          <a:lstStyle/>
          <a:p>
            <a:pPr algn="r">
              <a:lnSpc>
                <a:spcPts val="1556"/>
              </a:lnSpc>
            </a:pPr>
            <a:r>
              <a:rPr lang="en-US" sz="1111">
                <a:solidFill>
                  <a:srgbClr val="1E3246"/>
                </a:solidFill>
                <a:latin typeface="Roboto"/>
                <a:ea typeface="Roboto"/>
                <a:cs typeface="Roboto"/>
                <a:sym typeface="Roboto"/>
              </a:rPr>
              <a:t>Gemini Notebook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txBody>
            <a:bodyPr/>
            <a:lstStyle/>
            <a:p>
              <a:endParaRPr lang="en-US"/>
            </a:p>
          </p:txBody>
        </p:sp>
      </p:grpSp>
      <p:sp>
        <p:nvSpPr>
          <p:cNvPr id="4" name="TextBox 4"/>
          <p:cNvSpPr txBox="1"/>
          <p:nvPr/>
        </p:nvSpPr>
        <p:spPr>
          <a:xfrm>
            <a:off x="1133856" y="703362"/>
            <a:ext cx="15837408" cy="657225"/>
          </a:xfrm>
          <a:prstGeom prst="rect">
            <a:avLst/>
          </a:prstGeom>
        </p:spPr>
        <p:txBody>
          <a:bodyPr lIns="0" tIns="0" rIns="0" bIns="0" rtlCol="0" anchor="t">
            <a:spAutoFit/>
          </a:bodyPr>
          <a:lstStyle/>
          <a:p>
            <a:pPr algn="ctr">
              <a:lnSpc>
                <a:spcPts val="5296"/>
              </a:lnSpc>
            </a:pPr>
            <a:r>
              <a:rPr lang="en-US" sz="4414" b="1">
                <a:solidFill>
                  <a:srgbClr val="213544"/>
                </a:solidFill>
                <a:latin typeface="IBM Plex Mono Medium"/>
                <a:ea typeface="IBM Plex Mono Medium"/>
                <a:cs typeface="IBM Plex Mono Medium"/>
                <a:sym typeface="IBM Plex Mono Medium"/>
              </a:rPr>
              <a:t>The Pace Shock (zeta): The Forecastability Dial</a:t>
            </a:r>
          </a:p>
        </p:txBody>
      </p:sp>
      <p:grpSp>
        <p:nvGrpSpPr>
          <p:cNvPr id="5" name="Group 5"/>
          <p:cNvGrpSpPr/>
          <p:nvPr/>
        </p:nvGrpSpPr>
        <p:grpSpPr>
          <a:xfrm>
            <a:off x="730988" y="1821656"/>
            <a:ext cx="279105" cy="7822406"/>
            <a:chOff x="0" y="0"/>
            <a:chExt cx="372140" cy="10429875"/>
          </a:xfrm>
        </p:grpSpPr>
        <p:sp>
          <p:nvSpPr>
            <p:cNvPr id="6" name="Freeform 6"/>
            <p:cNvSpPr/>
            <p:nvPr/>
          </p:nvSpPr>
          <p:spPr>
            <a:xfrm>
              <a:off x="0" y="0"/>
              <a:ext cx="372140" cy="10429875"/>
            </a:xfrm>
            <a:custGeom>
              <a:avLst/>
              <a:gdLst/>
              <a:ahLst/>
              <a:cxnLst/>
              <a:rect l="l" t="t" r="r" b="b"/>
              <a:pathLst>
                <a:path w="372140" h="10429875">
                  <a:moveTo>
                    <a:pt x="0" y="0"/>
                  </a:moveTo>
                  <a:lnTo>
                    <a:pt x="372140" y="0"/>
                  </a:lnTo>
                  <a:lnTo>
                    <a:pt x="372140" y="10429875"/>
                  </a:lnTo>
                  <a:lnTo>
                    <a:pt x="0" y="10429875"/>
                  </a:lnTo>
                  <a:close/>
                </a:path>
              </a:pathLst>
            </a:custGeom>
            <a:blipFill>
              <a:blip r:embed="rId3"/>
              <a:stretch>
                <a:fillRect l="-28571" t="-1369" r="-28571"/>
              </a:stretch>
            </a:blipFill>
          </p:spPr>
          <p:txBody>
            <a:bodyPr/>
            <a:lstStyle/>
            <a:p>
              <a:endParaRPr lang="en-US"/>
            </a:p>
          </p:txBody>
        </p:sp>
      </p:grpSp>
      <p:grpSp>
        <p:nvGrpSpPr>
          <p:cNvPr id="7" name="Group 7"/>
          <p:cNvGrpSpPr/>
          <p:nvPr/>
        </p:nvGrpSpPr>
        <p:grpSpPr>
          <a:xfrm>
            <a:off x="9821826" y="1821656"/>
            <a:ext cx="292395" cy="7822406"/>
            <a:chOff x="0" y="0"/>
            <a:chExt cx="389860" cy="10429875"/>
          </a:xfrm>
        </p:grpSpPr>
        <p:sp>
          <p:nvSpPr>
            <p:cNvPr id="8" name="Freeform 8"/>
            <p:cNvSpPr/>
            <p:nvPr/>
          </p:nvSpPr>
          <p:spPr>
            <a:xfrm>
              <a:off x="0" y="0"/>
              <a:ext cx="389860" cy="10429875"/>
            </a:xfrm>
            <a:custGeom>
              <a:avLst/>
              <a:gdLst/>
              <a:ahLst/>
              <a:cxnLst/>
              <a:rect l="l" t="t" r="r" b="b"/>
              <a:pathLst>
                <a:path w="389860" h="10429875">
                  <a:moveTo>
                    <a:pt x="0" y="0"/>
                  </a:moveTo>
                  <a:lnTo>
                    <a:pt x="389860" y="0"/>
                  </a:lnTo>
                  <a:lnTo>
                    <a:pt x="389860" y="10429875"/>
                  </a:lnTo>
                  <a:lnTo>
                    <a:pt x="0" y="10429875"/>
                  </a:lnTo>
                  <a:close/>
                </a:path>
              </a:pathLst>
            </a:custGeom>
            <a:blipFill>
              <a:blip r:embed="rId4"/>
              <a:stretch>
                <a:fillRect l="-9090" t="-1369" r="-40909"/>
              </a:stretch>
            </a:blipFill>
          </p:spPr>
          <p:txBody>
            <a:bodyPr/>
            <a:lstStyle/>
            <a:p>
              <a:endParaRPr lang="en-US"/>
            </a:p>
          </p:txBody>
        </p:sp>
      </p:grpSp>
      <p:grpSp>
        <p:nvGrpSpPr>
          <p:cNvPr id="9" name="Group 9"/>
          <p:cNvGrpSpPr/>
          <p:nvPr/>
        </p:nvGrpSpPr>
        <p:grpSpPr>
          <a:xfrm>
            <a:off x="10645849" y="1821656"/>
            <a:ext cx="239233" cy="3536156"/>
            <a:chOff x="0" y="0"/>
            <a:chExt cx="318977" cy="4714875"/>
          </a:xfrm>
        </p:grpSpPr>
        <p:sp>
          <p:nvSpPr>
            <p:cNvPr id="10" name="Freeform 10"/>
            <p:cNvSpPr/>
            <p:nvPr/>
          </p:nvSpPr>
          <p:spPr>
            <a:xfrm>
              <a:off x="0" y="0"/>
              <a:ext cx="318977" cy="4714875"/>
            </a:xfrm>
            <a:custGeom>
              <a:avLst/>
              <a:gdLst/>
              <a:ahLst/>
              <a:cxnLst/>
              <a:rect l="l" t="t" r="r" b="b"/>
              <a:pathLst>
                <a:path w="318977" h="4714875">
                  <a:moveTo>
                    <a:pt x="0" y="0"/>
                  </a:moveTo>
                  <a:lnTo>
                    <a:pt x="318977" y="0"/>
                  </a:lnTo>
                  <a:lnTo>
                    <a:pt x="318977" y="4714875"/>
                  </a:lnTo>
                  <a:lnTo>
                    <a:pt x="0" y="4714875"/>
                  </a:lnTo>
                  <a:close/>
                </a:path>
              </a:pathLst>
            </a:custGeom>
            <a:blipFill>
              <a:blip r:embed="rId5"/>
              <a:stretch>
                <a:fillRect l="-83333" t="-3030" r="-5555"/>
              </a:stretch>
            </a:blipFill>
          </p:spPr>
          <p:txBody>
            <a:bodyPr/>
            <a:lstStyle/>
            <a:p>
              <a:endParaRPr lang="en-US"/>
            </a:p>
          </p:txBody>
        </p:sp>
      </p:grpSp>
      <p:grpSp>
        <p:nvGrpSpPr>
          <p:cNvPr id="11" name="Group 11"/>
          <p:cNvGrpSpPr/>
          <p:nvPr/>
        </p:nvGrpSpPr>
        <p:grpSpPr>
          <a:xfrm>
            <a:off x="10645849" y="5585520"/>
            <a:ext cx="239233" cy="1768078"/>
            <a:chOff x="0" y="0"/>
            <a:chExt cx="318977" cy="2357438"/>
          </a:xfrm>
        </p:grpSpPr>
        <p:sp>
          <p:nvSpPr>
            <p:cNvPr id="12" name="Freeform 12"/>
            <p:cNvSpPr/>
            <p:nvPr/>
          </p:nvSpPr>
          <p:spPr>
            <a:xfrm>
              <a:off x="0" y="0"/>
              <a:ext cx="318977" cy="2357438"/>
            </a:xfrm>
            <a:custGeom>
              <a:avLst/>
              <a:gdLst/>
              <a:ahLst/>
              <a:cxnLst/>
              <a:rect l="l" t="t" r="r" b="b"/>
              <a:pathLst>
                <a:path w="318977" h="2357438">
                  <a:moveTo>
                    <a:pt x="0" y="0"/>
                  </a:moveTo>
                  <a:lnTo>
                    <a:pt x="318977" y="0"/>
                  </a:lnTo>
                  <a:lnTo>
                    <a:pt x="318977" y="2357438"/>
                  </a:lnTo>
                  <a:lnTo>
                    <a:pt x="0" y="2357438"/>
                  </a:lnTo>
                  <a:close/>
                </a:path>
              </a:pathLst>
            </a:custGeom>
            <a:blipFill>
              <a:blip r:embed="rId6"/>
              <a:stretch>
                <a:fillRect l="-83333" t="-757" r="-5555" b="-8333"/>
              </a:stretch>
            </a:blipFill>
          </p:spPr>
          <p:txBody>
            <a:bodyPr/>
            <a:lstStyle/>
            <a:p>
              <a:endParaRPr lang="en-US"/>
            </a:p>
          </p:txBody>
        </p:sp>
      </p:grpSp>
      <p:grpSp>
        <p:nvGrpSpPr>
          <p:cNvPr id="13" name="Group 13"/>
          <p:cNvGrpSpPr/>
          <p:nvPr/>
        </p:nvGrpSpPr>
        <p:grpSpPr>
          <a:xfrm>
            <a:off x="10645849" y="7621488"/>
            <a:ext cx="239233" cy="2022574"/>
            <a:chOff x="0" y="0"/>
            <a:chExt cx="318977" cy="2696766"/>
          </a:xfrm>
        </p:grpSpPr>
        <p:sp>
          <p:nvSpPr>
            <p:cNvPr id="14" name="Freeform 14"/>
            <p:cNvSpPr/>
            <p:nvPr/>
          </p:nvSpPr>
          <p:spPr>
            <a:xfrm>
              <a:off x="0" y="0"/>
              <a:ext cx="318977" cy="2696766"/>
            </a:xfrm>
            <a:custGeom>
              <a:avLst/>
              <a:gdLst/>
              <a:ahLst/>
              <a:cxnLst/>
              <a:rect l="l" t="t" r="r" b="b"/>
              <a:pathLst>
                <a:path w="318977" h="2696766">
                  <a:moveTo>
                    <a:pt x="0" y="0"/>
                  </a:moveTo>
                  <a:lnTo>
                    <a:pt x="318977" y="0"/>
                  </a:lnTo>
                  <a:lnTo>
                    <a:pt x="318977" y="2696766"/>
                  </a:lnTo>
                  <a:lnTo>
                    <a:pt x="0" y="2696766"/>
                  </a:lnTo>
                  <a:close/>
                </a:path>
              </a:pathLst>
            </a:custGeom>
            <a:blipFill>
              <a:blip r:embed="rId7"/>
              <a:stretch>
                <a:fillRect l="-83333" t="-5960" r="-5555"/>
              </a:stretch>
            </a:blipFill>
          </p:spPr>
          <p:txBody>
            <a:bodyPr/>
            <a:lstStyle/>
            <a:p>
              <a:endParaRPr lang="en-US"/>
            </a:p>
          </p:txBody>
        </p:sp>
      </p:grpSp>
      <p:grpSp>
        <p:nvGrpSpPr>
          <p:cNvPr id="15" name="Group 15"/>
          <p:cNvGrpSpPr/>
          <p:nvPr/>
        </p:nvGrpSpPr>
        <p:grpSpPr>
          <a:xfrm>
            <a:off x="17277907" y="1821656"/>
            <a:ext cx="265814" cy="3536156"/>
            <a:chOff x="0" y="0"/>
            <a:chExt cx="354419" cy="4714875"/>
          </a:xfrm>
        </p:grpSpPr>
        <p:sp>
          <p:nvSpPr>
            <p:cNvPr id="16" name="Freeform 16"/>
            <p:cNvSpPr/>
            <p:nvPr/>
          </p:nvSpPr>
          <p:spPr>
            <a:xfrm>
              <a:off x="0" y="0"/>
              <a:ext cx="354419" cy="4714875"/>
            </a:xfrm>
            <a:custGeom>
              <a:avLst/>
              <a:gdLst/>
              <a:ahLst/>
              <a:cxnLst/>
              <a:rect l="l" t="t" r="r" b="b"/>
              <a:pathLst>
                <a:path w="354419" h="4714875">
                  <a:moveTo>
                    <a:pt x="0" y="0"/>
                  </a:moveTo>
                  <a:lnTo>
                    <a:pt x="354419" y="0"/>
                  </a:lnTo>
                  <a:lnTo>
                    <a:pt x="354419" y="4714875"/>
                  </a:lnTo>
                  <a:lnTo>
                    <a:pt x="0" y="4714875"/>
                  </a:lnTo>
                  <a:close/>
                </a:path>
              </a:pathLst>
            </a:custGeom>
            <a:blipFill>
              <a:blip r:embed="rId8"/>
              <a:stretch>
                <a:fillRect l="-30000" t="-3030" r="-35000"/>
              </a:stretch>
            </a:blipFill>
          </p:spPr>
          <p:txBody>
            <a:bodyPr/>
            <a:lstStyle/>
            <a:p>
              <a:endParaRPr lang="en-US"/>
            </a:p>
          </p:txBody>
        </p:sp>
      </p:grpSp>
      <p:grpSp>
        <p:nvGrpSpPr>
          <p:cNvPr id="17" name="Group 17"/>
          <p:cNvGrpSpPr/>
          <p:nvPr/>
        </p:nvGrpSpPr>
        <p:grpSpPr>
          <a:xfrm>
            <a:off x="17277907" y="5585520"/>
            <a:ext cx="265814" cy="1768078"/>
            <a:chOff x="0" y="0"/>
            <a:chExt cx="354419" cy="2357438"/>
          </a:xfrm>
        </p:grpSpPr>
        <p:sp>
          <p:nvSpPr>
            <p:cNvPr id="18" name="Freeform 18"/>
            <p:cNvSpPr/>
            <p:nvPr/>
          </p:nvSpPr>
          <p:spPr>
            <a:xfrm>
              <a:off x="0" y="0"/>
              <a:ext cx="354419" cy="2357438"/>
            </a:xfrm>
            <a:custGeom>
              <a:avLst/>
              <a:gdLst/>
              <a:ahLst/>
              <a:cxnLst/>
              <a:rect l="l" t="t" r="r" b="b"/>
              <a:pathLst>
                <a:path w="354419" h="2357438">
                  <a:moveTo>
                    <a:pt x="0" y="0"/>
                  </a:moveTo>
                  <a:lnTo>
                    <a:pt x="354419" y="0"/>
                  </a:lnTo>
                  <a:lnTo>
                    <a:pt x="354419" y="2357438"/>
                  </a:lnTo>
                  <a:lnTo>
                    <a:pt x="0" y="2357438"/>
                  </a:lnTo>
                  <a:close/>
                </a:path>
              </a:pathLst>
            </a:custGeom>
            <a:blipFill>
              <a:blip r:embed="rId9"/>
              <a:stretch>
                <a:fillRect l="-30000" t="-757" r="-35000" b="-8333"/>
              </a:stretch>
            </a:blipFill>
          </p:spPr>
          <p:txBody>
            <a:bodyPr/>
            <a:lstStyle/>
            <a:p>
              <a:endParaRPr lang="en-US"/>
            </a:p>
          </p:txBody>
        </p:sp>
      </p:grpSp>
      <p:grpSp>
        <p:nvGrpSpPr>
          <p:cNvPr id="19" name="Group 19"/>
          <p:cNvGrpSpPr/>
          <p:nvPr/>
        </p:nvGrpSpPr>
        <p:grpSpPr>
          <a:xfrm>
            <a:off x="17277907" y="7621488"/>
            <a:ext cx="279105" cy="2022574"/>
            <a:chOff x="0" y="0"/>
            <a:chExt cx="372140" cy="2696766"/>
          </a:xfrm>
        </p:grpSpPr>
        <p:sp>
          <p:nvSpPr>
            <p:cNvPr id="20" name="Freeform 20"/>
            <p:cNvSpPr/>
            <p:nvPr/>
          </p:nvSpPr>
          <p:spPr>
            <a:xfrm>
              <a:off x="0" y="0"/>
              <a:ext cx="372140" cy="2696766"/>
            </a:xfrm>
            <a:custGeom>
              <a:avLst/>
              <a:gdLst/>
              <a:ahLst/>
              <a:cxnLst/>
              <a:rect l="l" t="t" r="r" b="b"/>
              <a:pathLst>
                <a:path w="372140" h="2696766">
                  <a:moveTo>
                    <a:pt x="0" y="0"/>
                  </a:moveTo>
                  <a:lnTo>
                    <a:pt x="372140" y="0"/>
                  </a:lnTo>
                  <a:lnTo>
                    <a:pt x="372140" y="2696766"/>
                  </a:lnTo>
                  <a:lnTo>
                    <a:pt x="0" y="2696766"/>
                  </a:lnTo>
                  <a:close/>
                </a:path>
              </a:pathLst>
            </a:custGeom>
            <a:blipFill>
              <a:blip r:embed="rId10"/>
              <a:stretch>
                <a:fillRect l="-28571" t="-5960" r="-28571"/>
              </a:stretch>
            </a:blipFill>
          </p:spPr>
          <p:txBody>
            <a:bodyPr/>
            <a:lstStyle/>
            <a:p>
              <a:endParaRPr lang="en-US"/>
            </a:p>
          </p:txBody>
        </p:sp>
      </p:grpSp>
      <p:grpSp>
        <p:nvGrpSpPr>
          <p:cNvPr id="21" name="Group 21"/>
          <p:cNvGrpSpPr/>
          <p:nvPr/>
        </p:nvGrpSpPr>
        <p:grpSpPr>
          <a:xfrm>
            <a:off x="1089837" y="1714500"/>
            <a:ext cx="8838314" cy="7822406"/>
            <a:chOff x="0" y="0"/>
            <a:chExt cx="11784419" cy="10429875"/>
          </a:xfrm>
        </p:grpSpPr>
        <p:sp>
          <p:nvSpPr>
            <p:cNvPr id="22" name="Freeform 22"/>
            <p:cNvSpPr/>
            <p:nvPr/>
          </p:nvSpPr>
          <p:spPr>
            <a:xfrm>
              <a:off x="0" y="0"/>
              <a:ext cx="11784419" cy="10429875"/>
            </a:xfrm>
            <a:custGeom>
              <a:avLst/>
              <a:gdLst/>
              <a:ahLst/>
              <a:cxnLst/>
              <a:rect l="l" t="t" r="r" b="b"/>
              <a:pathLst>
                <a:path w="11784419" h="10429875">
                  <a:moveTo>
                    <a:pt x="0" y="0"/>
                  </a:moveTo>
                  <a:lnTo>
                    <a:pt x="11784419" y="0"/>
                  </a:lnTo>
                  <a:lnTo>
                    <a:pt x="11784419" y="10429875"/>
                  </a:lnTo>
                  <a:lnTo>
                    <a:pt x="0" y="10429875"/>
                  </a:lnTo>
                  <a:close/>
                </a:path>
              </a:pathLst>
            </a:custGeom>
            <a:blipFill>
              <a:blip r:embed="rId11"/>
              <a:stretch>
                <a:fillRect l="-150" r="-1052" b="-1369"/>
              </a:stretch>
            </a:blipFill>
          </p:spPr>
          <p:txBody>
            <a:bodyPr/>
            <a:lstStyle/>
            <a:p>
              <a:endParaRPr lang="en-US"/>
            </a:p>
          </p:txBody>
        </p:sp>
      </p:grpSp>
      <p:grpSp>
        <p:nvGrpSpPr>
          <p:cNvPr id="23" name="Group 23"/>
          <p:cNvGrpSpPr/>
          <p:nvPr/>
        </p:nvGrpSpPr>
        <p:grpSpPr>
          <a:xfrm>
            <a:off x="2153093" y="2009180"/>
            <a:ext cx="252523" cy="6255246"/>
            <a:chOff x="0" y="0"/>
            <a:chExt cx="336698" cy="8340328"/>
          </a:xfrm>
        </p:grpSpPr>
        <p:sp>
          <p:nvSpPr>
            <p:cNvPr id="24" name="Freeform 24"/>
            <p:cNvSpPr/>
            <p:nvPr/>
          </p:nvSpPr>
          <p:spPr>
            <a:xfrm>
              <a:off x="0" y="0"/>
              <a:ext cx="336698" cy="8340328"/>
            </a:xfrm>
            <a:custGeom>
              <a:avLst/>
              <a:gdLst/>
              <a:ahLst/>
              <a:cxnLst/>
              <a:rect l="l" t="t" r="r" b="b"/>
              <a:pathLst>
                <a:path w="336698" h="8340328">
                  <a:moveTo>
                    <a:pt x="0" y="0"/>
                  </a:moveTo>
                  <a:lnTo>
                    <a:pt x="336698" y="0"/>
                  </a:lnTo>
                  <a:lnTo>
                    <a:pt x="336698" y="8340328"/>
                  </a:lnTo>
                  <a:lnTo>
                    <a:pt x="0" y="8340328"/>
                  </a:lnTo>
                  <a:close/>
                </a:path>
              </a:pathLst>
            </a:custGeom>
            <a:blipFill>
              <a:blip r:embed="rId12"/>
              <a:stretch>
                <a:fillRect l="-78947" t="-1284" b="-1498"/>
              </a:stretch>
            </a:blipFill>
          </p:spPr>
          <p:txBody>
            <a:bodyPr/>
            <a:lstStyle/>
            <a:p>
              <a:endParaRPr lang="en-US"/>
            </a:p>
          </p:txBody>
        </p:sp>
      </p:grpSp>
      <p:grpSp>
        <p:nvGrpSpPr>
          <p:cNvPr id="25" name="Group 25"/>
          <p:cNvGrpSpPr/>
          <p:nvPr/>
        </p:nvGrpSpPr>
        <p:grpSpPr>
          <a:xfrm>
            <a:off x="2246128" y="8358188"/>
            <a:ext cx="7442791" cy="214312"/>
            <a:chOff x="0" y="0"/>
            <a:chExt cx="9923721" cy="285750"/>
          </a:xfrm>
        </p:grpSpPr>
        <p:sp>
          <p:nvSpPr>
            <p:cNvPr id="26" name="Freeform 26"/>
            <p:cNvSpPr/>
            <p:nvPr/>
          </p:nvSpPr>
          <p:spPr>
            <a:xfrm>
              <a:off x="0" y="0"/>
              <a:ext cx="9923721" cy="285750"/>
            </a:xfrm>
            <a:custGeom>
              <a:avLst/>
              <a:gdLst/>
              <a:ahLst/>
              <a:cxnLst/>
              <a:rect l="l" t="t" r="r" b="b"/>
              <a:pathLst>
                <a:path w="9923721" h="285750">
                  <a:moveTo>
                    <a:pt x="0" y="0"/>
                  </a:moveTo>
                  <a:lnTo>
                    <a:pt x="9923721" y="0"/>
                  </a:lnTo>
                  <a:lnTo>
                    <a:pt x="9923721" y="285750"/>
                  </a:lnTo>
                  <a:lnTo>
                    <a:pt x="0" y="285750"/>
                  </a:lnTo>
                  <a:close/>
                </a:path>
              </a:pathLst>
            </a:custGeom>
            <a:blipFill>
              <a:blip r:embed="rId13"/>
              <a:stretch>
                <a:fillRect l="-1071" r="-1607"/>
              </a:stretch>
            </a:blipFill>
          </p:spPr>
          <p:txBody>
            <a:bodyPr/>
            <a:lstStyle/>
            <a:p>
              <a:endParaRPr lang="en-US"/>
            </a:p>
          </p:txBody>
        </p:sp>
      </p:grpSp>
      <p:grpSp>
        <p:nvGrpSpPr>
          <p:cNvPr id="27" name="Group 27"/>
          <p:cNvGrpSpPr/>
          <p:nvPr/>
        </p:nvGrpSpPr>
        <p:grpSpPr>
          <a:xfrm>
            <a:off x="2392326" y="3562945"/>
            <a:ext cx="4678326" cy="241102"/>
            <a:chOff x="0" y="0"/>
            <a:chExt cx="6237767" cy="321469"/>
          </a:xfrm>
        </p:grpSpPr>
        <p:sp>
          <p:nvSpPr>
            <p:cNvPr id="28" name="Freeform 28"/>
            <p:cNvSpPr/>
            <p:nvPr/>
          </p:nvSpPr>
          <p:spPr>
            <a:xfrm>
              <a:off x="0" y="0"/>
              <a:ext cx="6237767" cy="321469"/>
            </a:xfrm>
            <a:custGeom>
              <a:avLst/>
              <a:gdLst/>
              <a:ahLst/>
              <a:cxnLst/>
              <a:rect l="l" t="t" r="r" b="b"/>
              <a:pathLst>
                <a:path w="6237767" h="321469">
                  <a:moveTo>
                    <a:pt x="0" y="0"/>
                  </a:moveTo>
                  <a:lnTo>
                    <a:pt x="6237767" y="0"/>
                  </a:lnTo>
                  <a:lnTo>
                    <a:pt x="6237767" y="321469"/>
                  </a:lnTo>
                  <a:lnTo>
                    <a:pt x="0" y="321469"/>
                  </a:lnTo>
                  <a:close/>
                </a:path>
              </a:pathLst>
            </a:custGeom>
            <a:blipFill>
              <a:blip r:embed="rId14"/>
              <a:stretch>
                <a:fillRect t="-55555" r="-2556" b="-22222"/>
              </a:stretch>
            </a:blipFill>
          </p:spPr>
          <p:txBody>
            <a:bodyPr/>
            <a:lstStyle/>
            <a:p>
              <a:endParaRPr lang="en-US"/>
            </a:p>
          </p:txBody>
        </p:sp>
      </p:grpSp>
      <p:grpSp>
        <p:nvGrpSpPr>
          <p:cNvPr id="29" name="Group 29"/>
          <p:cNvGrpSpPr/>
          <p:nvPr/>
        </p:nvGrpSpPr>
        <p:grpSpPr>
          <a:xfrm>
            <a:off x="2139802" y="3643312"/>
            <a:ext cx="292395" cy="66973"/>
            <a:chOff x="0" y="0"/>
            <a:chExt cx="389860" cy="89297"/>
          </a:xfrm>
        </p:grpSpPr>
        <p:sp>
          <p:nvSpPr>
            <p:cNvPr id="30" name="Freeform 30"/>
            <p:cNvSpPr/>
            <p:nvPr/>
          </p:nvSpPr>
          <p:spPr>
            <a:xfrm>
              <a:off x="0" y="0"/>
              <a:ext cx="389860" cy="89297"/>
            </a:xfrm>
            <a:custGeom>
              <a:avLst/>
              <a:gdLst/>
              <a:ahLst/>
              <a:cxnLst/>
              <a:rect l="l" t="t" r="r" b="b"/>
              <a:pathLst>
                <a:path w="389860" h="89297">
                  <a:moveTo>
                    <a:pt x="0" y="0"/>
                  </a:moveTo>
                  <a:lnTo>
                    <a:pt x="389860" y="0"/>
                  </a:lnTo>
                  <a:lnTo>
                    <a:pt x="389860" y="89297"/>
                  </a:lnTo>
                  <a:lnTo>
                    <a:pt x="0" y="89297"/>
                  </a:lnTo>
                  <a:close/>
                </a:path>
              </a:pathLst>
            </a:custGeom>
            <a:blipFill>
              <a:blip r:embed="rId15"/>
              <a:stretch>
                <a:fillRect l="-63636" r="-63636" b="-220000"/>
              </a:stretch>
            </a:blipFill>
          </p:spPr>
          <p:txBody>
            <a:bodyPr/>
            <a:lstStyle/>
            <a:p>
              <a:endParaRPr lang="en-US"/>
            </a:p>
          </p:txBody>
        </p:sp>
      </p:grpSp>
      <p:grpSp>
        <p:nvGrpSpPr>
          <p:cNvPr id="31" name="Group 31"/>
          <p:cNvGrpSpPr/>
          <p:nvPr/>
        </p:nvGrpSpPr>
        <p:grpSpPr>
          <a:xfrm>
            <a:off x="6738384" y="3549551"/>
            <a:ext cx="345558" cy="5076527"/>
            <a:chOff x="0" y="0"/>
            <a:chExt cx="460744" cy="6768703"/>
          </a:xfrm>
        </p:grpSpPr>
        <p:sp>
          <p:nvSpPr>
            <p:cNvPr id="32" name="Freeform 32"/>
            <p:cNvSpPr/>
            <p:nvPr/>
          </p:nvSpPr>
          <p:spPr>
            <a:xfrm>
              <a:off x="0" y="0"/>
              <a:ext cx="460744" cy="6768703"/>
            </a:xfrm>
            <a:custGeom>
              <a:avLst/>
              <a:gdLst/>
              <a:ahLst/>
              <a:cxnLst/>
              <a:rect l="l" t="t" r="r" b="b"/>
              <a:pathLst>
                <a:path w="460744" h="6768703">
                  <a:moveTo>
                    <a:pt x="0" y="0"/>
                  </a:moveTo>
                  <a:lnTo>
                    <a:pt x="460744" y="0"/>
                  </a:lnTo>
                  <a:lnTo>
                    <a:pt x="460744" y="6768703"/>
                  </a:lnTo>
                  <a:lnTo>
                    <a:pt x="0" y="6768703"/>
                  </a:lnTo>
                  <a:close/>
                </a:path>
              </a:pathLst>
            </a:custGeom>
            <a:blipFill>
              <a:blip r:embed="rId16"/>
              <a:stretch>
                <a:fillRect t="-2374" r="-30769" b="-3166"/>
              </a:stretch>
            </a:blipFill>
          </p:spPr>
          <p:txBody>
            <a:bodyPr/>
            <a:lstStyle/>
            <a:p>
              <a:endParaRPr lang="en-US"/>
            </a:p>
          </p:txBody>
        </p:sp>
      </p:grpSp>
      <p:sp>
        <p:nvSpPr>
          <p:cNvPr id="33" name="TextBox 33"/>
          <p:cNvSpPr txBox="1"/>
          <p:nvPr/>
        </p:nvSpPr>
        <p:spPr>
          <a:xfrm>
            <a:off x="1408176" y="3526673"/>
            <a:ext cx="566928" cy="276225"/>
          </a:xfrm>
          <a:prstGeom prst="rect">
            <a:avLst/>
          </a:prstGeom>
        </p:spPr>
        <p:txBody>
          <a:bodyPr lIns="0" tIns="0" rIns="0" bIns="0" rtlCol="0" anchor="t">
            <a:spAutoFit/>
          </a:bodyPr>
          <a:lstStyle/>
          <a:p>
            <a:pPr algn="ctr">
              <a:lnSpc>
                <a:spcPts val="2213"/>
              </a:lnSpc>
            </a:pPr>
            <a:r>
              <a:rPr lang="en-US" sz="1844" b="1">
                <a:solidFill>
                  <a:srgbClr val="213544"/>
                </a:solidFill>
                <a:latin typeface="IBM Plex Mono Medium"/>
                <a:ea typeface="IBM Plex Mono Medium"/>
                <a:cs typeface="IBM Plex Mono Medium"/>
                <a:sym typeface="IBM Plex Mono Medium"/>
              </a:rPr>
              <a:t>0.80</a:t>
            </a:r>
          </a:p>
        </p:txBody>
      </p:sp>
      <p:sp>
        <p:nvSpPr>
          <p:cNvPr id="34" name="TextBox 34"/>
          <p:cNvSpPr txBox="1"/>
          <p:nvPr/>
        </p:nvSpPr>
        <p:spPr>
          <a:xfrm>
            <a:off x="2615184" y="3862291"/>
            <a:ext cx="1938528" cy="926763"/>
          </a:xfrm>
          <a:prstGeom prst="rect">
            <a:avLst/>
          </a:prstGeom>
        </p:spPr>
        <p:txBody>
          <a:bodyPr lIns="0" tIns="0" rIns="0" bIns="0" rtlCol="0" anchor="t">
            <a:spAutoFit/>
          </a:bodyPr>
          <a:lstStyle/>
          <a:p>
            <a:pPr algn="l">
              <a:lnSpc>
                <a:spcPts val="2498"/>
              </a:lnSpc>
            </a:pPr>
            <a:r>
              <a:rPr lang="en-US" sz="1851" b="1">
                <a:solidFill>
                  <a:srgbClr val="213544"/>
                </a:solidFill>
                <a:latin typeface="IBM Plex Mono Medium"/>
                <a:ea typeface="IBM Plex Mono Medium"/>
                <a:cs typeface="IBM Plex Mono Medium"/>
                <a:sym typeface="IBM Plex Mono Medium"/>
              </a:rPr>
              <a:t>How far it deviates from lambda</a:t>
            </a:r>
          </a:p>
        </p:txBody>
      </p:sp>
      <p:sp>
        <p:nvSpPr>
          <p:cNvPr id="35" name="TextBox 35"/>
          <p:cNvSpPr txBox="1"/>
          <p:nvPr/>
        </p:nvSpPr>
        <p:spPr>
          <a:xfrm>
            <a:off x="7187184" y="7422916"/>
            <a:ext cx="2596896" cy="561975"/>
          </a:xfrm>
          <a:prstGeom prst="rect">
            <a:avLst/>
          </a:prstGeom>
        </p:spPr>
        <p:txBody>
          <a:bodyPr lIns="0" tIns="0" rIns="0" bIns="0" rtlCol="0" anchor="t">
            <a:spAutoFit/>
          </a:bodyPr>
          <a:lstStyle/>
          <a:p>
            <a:pPr algn="l">
              <a:lnSpc>
                <a:spcPts val="2256"/>
              </a:lnSpc>
            </a:pPr>
            <a:r>
              <a:rPr lang="en-US" sz="1880" b="1">
                <a:solidFill>
                  <a:srgbClr val="213544"/>
                </a:solidFill>
                <a:latin typeface="IBM Plex Mono Medium"/>
                <a:ea typeface="IBM Plex Mono Medium"/>
                <a:cs typeface="IBM Plex Mono Medium"/>
                <a:sym typeface="IBM Plex Mono Medium"/>
              </a:rPr>
              <a:t>How long deviation is visible early</a:t>
            </a:r>
          </a:p>
        </p:txBody>
      </p:sp>
      <p:grpSp>
        <p:nvGrpSpPr>
          <p:cNvPr id="36" name="Group 36"/>
          <p:cNvGrpSpPr/>
          <p:nvPr/>
        </p:nvGrpSpPr>
        <p:grpSpPr>
          <a:xfrm>
            <a:off x="3694814" y="8572500"/>
            <a:ext cx="4146698" cy="1071562"/>
            <a:chOff x="0" y="0"/>
            <a:chExt cx="5528930" cy="1428750"/>
          </a:xfrm>
        </p:grpSpPr>
        <p:sp>
          <p:nvSpPr>
            <p:cNvPr id="37" name="Freeform 37"/>
            <p:cNvSpPr/>
            <p:nvPr/>
          </p:nvSpPr>
          <p:spPr>
            <a:xfrm>
              <a:off x="0" y="0"/>
              <a:ext cx="5528930" cy="1428750"/>
            </a:xfrm>
            <a:custGeom>
              <a:avLst/>
              <a:gdLst/>
              <a:ahLst/>
              <a:cxnLst/>
              <a:rect l="l" t="t" r="r" b="b"/>
              <a:pathLst>
                <a:path w="5528930" h="1428750">
                  <a:moveTo>
                    <a:pt x="0" y="0"/>
                  </a:moveTo>
                  <a:lnTo>
                    <a:pt x="5528930" y="0"/>
                  </a:lnTo>
                  <a:lnTo>
                    <a:pt x="5528930" y="1428750"/>
                  </a:lnTo>
                  <a:lnTo>
                    <a:pt x="0" y="1428750"/>
                  </a:lnTo>
                  <a:close/>
                </a:path>
              </a:pathLst>
            </a:custGeom>
            <a:blipFill>
              <a:blip r:embed="rId17"/>
              <a:stretch>
                <a:fillRect/>
              </a:stretch>
            </a:blipFill>
          </p:spPr>
          <p:txBody>
            <a:bodyPr/>
            <a:lstStyle/>
            <a:p>
              <a:endParaRPr lang="en-US"/>
            </a:p>
          </p:txBody>
        </p:sp>
      </p:grpSp>
      <p:grpSp>
        <p:nvGrpSpPr>
          <p:cNvPr id="38" name="Group 38"/>
          <p:cNvGrpSpPr/>
          <p:nvPr/>
        </p:nvGrpSpPr>
        <p:grpSpPr>
          <a:xfrm>
            <a:off x="10911663" y="1714500"/>
            <a:ext cx="6419407" cy="723305"/>
            <a:chOff x="0" y="0"/>
            <a:chExt cx="8559209" cy="964406"/>
          </a:xfrm>
        </p:grpSpPr>
        <p:sp>
          <p:nvSpPr>
            <p:cNvPr id="39" name="Freeform 39"/>
            <p:cNvSpPr/>
            <p:nvPr/>
          </p:nvSpPr>
          <p:spPr>
            <a:xfrm>
              <a:off x="0" y="0"/>
              <a:ext cx="8559209" cy="964406"/>
            </a:xfrm>
            <a:custGeom>
              <a:avLst/>
              <a:gdLst/>
              <a:ahLst/>
              <a:cxnLst/>
              <a:rect l="l" t="t" r="r" b="b"/>
              <a:pathLst>
                <a:path w="8559209" h="964406">
                  <a:moveTo>
                    <a:pt x="0" y="0"/>
                  </a:moveTo>
                  <a:lnTo>
                    <a:pt x="8559209" y="0"/>
                  </a:lnTo>
                  <a:lnTo>
                    <a:pt x="8559209" y="964406"/>
                  </a:lnTo>
                  <a:lnTo>
                    <a:pt x="0" y="964406"/>
                  </a:lnTo>
                  <a:close/>
                </a:path>
              </a:pathLst>
            </a:custGeom>
            <a:blipFill>
              <a:blip r:embed="rId18"/>
              <a:stretch>
                <a:fillRect l="-414" r="-1449" b="-18518"/>
              </a:stretch>
            </a:blipFill>
          </p:spPr>
          <p:txBody>
            <a:bodyPr/>
            <a:lstStyle/>
            <a:p>
              <a:endParaRPr lang="en-US"/>
            </a:p>
          </p:txBody>
        </p:sp>
      </p:grpSp>
      <p:sp>
        <p:nvSpPr>
          <p:cNvPr id="40" name="TextBox 40"/>
          <p:cNvSpPr txBox="1"/>
          <p:nvPr/>
        </p:nvSpPr>
        <p:spPr>
          <a:xfrm>
            <a:off x="12582144" y="1987695"/>
            <a:ext cx="3054096" cy="333375"/>
          </a:xfrm>
          <a:prstGeom prst="rect">
            <a:avLst/>
          </a:prstGeom>
        </p:spPr>
        <p:txBody>
          <a:bodyPr lIns="0" tIns="0" rIns="0" bIns="0" rtlCol="0" anchor="t">
            <a:spAutoFit/>
          </a:bodyPr>
          <a:lstStyle/>
          <a:p>
            <a:pPr algn="ctr">
              <a:lnSpc>
                <a:spcPts val="2652"/>
              </a:lnSpc>
            </a:pPr>
            <a:r>
              <a:rPr lang="en-US" sz="2210" b="1">
                <a:solidFill>
                  <a:srgbClr val="213544"/>
                </a:solidFill>
                <a:latin typeface="IBM Plex Mono Medium"/>
                <a:ea typeface="IBM Plex Mono Medium"/>
                <a:cs typeface="IBM Plex Mono Medium"/>
                <a:sym typeface="IBM Plex Mono Medium"/>
              </a:rPr>
              <a:t>No Renormalization</a:t>
            </a:r>
          </a:p>
        </p:txBody>
      </p:sp>
      <p:grpSp>
        <p:nvGrpSpPr>
          <p:cNvPr id="41" name="Group 41"/>
          <p:cNvGrpSpPr/>
          <p:nvPr/>
        </p:nvGrpSpPr>
        <p:grpSpPr>
          <a:xfrm>
            <a:off x="10885081" y="2357438"/>
            <a:ext cx="6419407" cy="2812852"/>
            <a:chOff x="0" y="0"/>
            <a:chExt cx="8559209" cy="3750469"/>
          </a:xfrm>
        </p:grpSpPr>
        <p:sp>
          <p:nvSpPr>
            <p:cNvPr id="42" name="Freeform 42"/>
            <p:cNvSpPr/>
            <p:nvPr/>
          </p:nvSpPr>
          <p:spPr>
            <a:xfrm>
              <a:off x="0" y="0"/>
              <a:ext cx="8559209" cy="3750469"/>
            </a:xfrm>
            <a:custGeom>
              <a:avLst/>
              <a:gdLst/>
              <a:ahLst/>
              <a:cxnLst/>
              <a:rect l="l" t="t" r="r" b="b"/>
              <a:pathLst>
                <a:path w="8559209" h="3750469">
                  <a:moveTo>
                    <a:pt x="0" y="0"/>
                  </a:moveTo>
                  <a:lnTo>
                    <a:pt x="8559209" y="0"/>
                  </a:lnTo>
                  <a:lnTo>
                    <a:pt x="8559209" y="3750469"/>
                  </a:lnTo>
                  <a:lnTo>
                    <a:pt x="0" y="3750469"/>
                  </a:lnTo>
                  <a:close/>
                </a:path>
              </a:pathLst>
            </a:custGeom>
            <a:blipFill>
              <a:blip r:embed="rId19"/>
              <a:stretch>
                <a:fillRect r="-1863" b="-6666"/>
              </a:stretch>
            </a:blipFill>
          </p:spPr>
          <p:txBody>
            <a:bodyPr/>
            <a:lstStyle/>
            <a:p>
              <a:endParaRPr lang="en-US"/>
            </a:p>
          </p:txBody>
        </p:sp>
      </p:grpSp>
      <p:grpSp>
        <p:nvGrpSpPr>
          <p:cNvPr id="43" name="Group 43"/>
          <p:cNvGrpSpPr/>
          <p:nvPr/>
        </p:nvGrpSpPr>
        <p:grpSpPr>
          <a:xfrm>
            <a:off x="10911663" y="5210473"/>
            <a:ext cx="6432698" cy="2143125"/>
            <a:chOff x="0" y="0"/>
            <a:chExt cx="8576930" cy="2857500"/>
          </a:xfrm>
        </p:grpSpPr>
        <p:sp>
          <p:nvSpPr>
            <p:cNvPr id="44" name="Freeform 44"/>
            <p:cNvSpPr/>
            <p:nvPr/>
          </p:nvSpPr>
          <p:spPr>
            <a:xfrm>
              <a:off x="0" y="0"/>
              <a:ext cx="8576930" cy="2857500"/>
            </a:xfrm>
            <a:custGeom>
              <a:avLst/>
              <a:gdLst/>
              <a:ahLst/>
              <a:cxnLst/>
              <a:rect l="l" t="t" r="r" b="b"/>
              <a:pathLst>
                <a:path w="8576930" h="2857500">
                  <a:moveTo>
                    <a:pt x="0" y="0"/>
                  </a:moveTo>
                  <a:lnTo>
                    <a:pt x="8576930" y="0"/>
                  </a:lnTo>
                  <a:lnTo>
                    <a:pt x="8576930" y="2857500"/>
                  </a:lnTo>
                  <a:lnTo>
                    <a:pt x="0" y="2857500"/>
                  </a:lnTo>
                  <a:close/>
                </a:path>
              </a:pathLst>
            </a:custGeom>
            <a:blipFill>
              <a:blip r:embed="rId20"/>
              <a:stretch>
                <a:fillRect l="-413" t="-3125" r="-1239" b="-6875"/>
              </a:stretch>
            </a:blipFill>
          </p:spPr>
          <p:txBody>
            <a:bodyPr/>
            <a:lstStyle/>
            <a:p>
              <a:endParaRPr lang="en-US"/>
            </a:p>
          </p:txBody>
        </p:sp>
      </p:grpSp>
      <p:grpSp>
        <p:nvGrpSpPr>
          <p:cNvPr id="45" name="Group 45"/>
          <p:cNvGrpSpPr/>
          <p:nvPr/>
        </p:nvGrpSpPr>
        <p:grpSpPr>
          <a:xfrm>
            <a:off x="11004698" y="5732859"/>
            <a:ext cx="318977" cy="294680"/>
            <a:chOff x="0" y="0"/>
            <a:chExt cx="425302" cy="392906"/>
          </a:xfrm>
        </p:grpSpPr>
        <p:sp>
          <p:nvSpPr>
            <p:cNvPr id="46" name="Freeform 46"/>
            <p:cNvSpPr/>
            <p:nvPr/>
          </p:nvSpPr>
          <p:spPr>
            <a:xfrm>
              <a:off x="0" y="0"/>
              <a:ext cx="425302" cy="392906"/>
            </a:xfrm>
            <a:custGeom>
              <a:avLst/>
              <a:gdLst/>
              <a:ahLst/>
              <a:cxnLst/>
              <a:rect l="l" t="t" r="r" b="b"/>
              <a:pathLst>
                <a:path w="425302" h="392906">
                  <a:moveTo>
                    <a:pt x="0" y="0"/>
                  </a:moveTo>
                  <a:lnTo>
                    <a:pt x="425302" y="0"/>
                  </a:lnTo>
                  <a:lnTo>
                    <a:pt x="425302" y="392906"/>
                  </a:lnTo>
                  <a:lnTo>
                    <a:pt x="0" y="392906"/>
                  </a:lnTo>
                  <a:close/>
                </a:path>
              </a:pathLst>
            </a:custGeom>
            <a:blipFill>
              <a:blip r:embed="rId21"/>
              <a:stretch>
                <a:fillRect l="-37499" t="-54545" b="-63636"/>
              </a:stretch>
            </a:blipFill>
          </p:spPr>
          <p:txBody>
            <a:bodyPr/>
            <a:lstStyle/>
            <a:p>
              <a:endParaRPr lang="en-US"/>
            </a:p>
          </p:txBody>
        </p:sp>
      </p:grpSp>
      <p:grpSp>
        <p:nvGrpSpPr>
          <p:cNvPr id="47" name="Group 47"/>
          <p:cNvGrpSpPr/>
          <p:nvPr/>
        </p:nvGrpSpPr>
        <p:grpSpPr>
          <a:xfrm>
            <a:off x="15457081" y="5706070"/>
            <a:ext cx="1741081" cy="1433215"/>
            <a:chOff x="0" y="0"/>
            <a:chExt cx="2321442" cy="1910953"/>
          </a:xfrm>
        </p:grpSpPr>
        <p:sp>
          <p:nvSpPr>
            <p:cNvPr id="48" name="Freeform 48"/>
            <p:cNvSpPr/>
            <p:nvPr/>
          </p:nvSpPr>
          <p:spPr>
            <a:xfrm>
              <a:off x="0" y="0"/>
              <a:ext cx="2321442" cy="1910953"/>
            </a:xfrm>
            <a:custGeom>
              <a:avLst/>
              <a:gdLst/>
              <a:ahLst/>
              <a:cxnLst/>
              <a:rect l="l" t="t" r="r" b="b"/>
              <a:pathLst>
                <a:path w="2321442" h="1910953">
                  <a:moveTo>
                    <a:pt x="0" y="0"/>
                  </a:moveTo>
                  <a:lnTo>
                    <a:pt x="2321442" y="0"/>
                  </a:lnTo>
                  <a:lnTo>
                    <a:pt x="2321442" y="1910953"/>
                  </a:lnTo>
                  <a:lnTo>
                    <a:pt x="0" y="1910953"/>
                  </a:lnTo>
                  <a:close/>
                </a:path>
              </a:pathLst>
            </a:custGeom>
            <a:blipFill>
              <a:blip r:embed="rId22"/>
              <a:stretch>
                <a:fillRect t="-9345" r="-763" b="-10280"/>
              </a:stretch>
            </a:blipFill>
          </p:spPr>
          <p:txBody>
            <a:bodyPr/>
            <a:lstStyle/>
            <a:p>
              <a:endParaRPr lang="en-US"/>
            </a:p>
          </p:txBody>
        </p:sp>
      </p:grpSp>
      <p:grpSp>
        <p:nvGrpSpPr>
          <p:cNvPr id="49" name="Group 49"/>
          <p:cNvGrpSpPr/>
          <p:nvPr/>
        </p:nvGrpSpPr>
        <p:grpSpPr>
          <a:xfrm>
            <a:off x="10911663" y="7313414"/>
            <a:ext cx="6432698" cy="2330648"/>
            <a:chOff x="0" y="0"/>
            <a:chExt cx="8576930" cy="3107531"/>
          </a:xfrm>
        </p:grpSpPr>
        <p:sp>
          <p:nvSpPr>
            <p:cNvPr id="50" name="Freeform 50"/>
            <p:cNvSpPr/>
            <p:nvPr/>
          </p:nvSpPr>
          <p:spPr>
            <a:xfrm>
              <a:off x="0" y="0"/>
              <a:ext cx="8576930" cy="3107531"/>
            </a:xfrm>
            <a:custGeom>
              <a:avLst/>
              <a:gdLst/>
              <a:ahLst/>
              <a:cxnLst/>
              <a:rect l="l" t="t" r="r" b="b"/>
              <a:pathLst>
                <a:path w="8576930" h="3107531">
                  <a:moveTo>
                    <a:pt x="0" y="0"/>
                  </a:moveTo>
                  <a:lnTo>
                    <a:pt x="8576930" y="0"/>
                  </a:lnTo>
                  <a:lnTo>
                    <a:pt x="8576930" y="3107531"/>
                  </a:lnTo>
                  <a:lnTo>
                    <a:pt x="0" y="3107531"/>
                  </a:lnTo>
                  <a:close/>
                </a:path>
              </a:pathLst>
            </a:custGeom>
            <a:blipFill>
              <a:blip r:embed="rId23"/>
              <a:stretch>
                <a:fillRect l="-413" t="-1149" r="-1239"/>
              </a:stretch>
            </a:blipFill>
          </p:spPr>
          <p:txBody>
            <a:bodyPr/>
            <a:lstStyle/>
            <a:p>
              <a:endParaRPr lang="en-US"/>
            </a:p>
          </p:txBody>
        </p:sp>
      </p:grpSp>
      <p:grpSp>
        <p:nvGrpSpPr>
          <p:cNvPr id="51" name="Group 51"/>
          <p:cNvGrpSpPr/>
          <p:nvPr/>
        </p:nvGrpSpPr>
        <p:grpSpPr>
          <a:xfrm>
            <a:off x="11004698" y="7742039"/>
            <a:ext cx="318977" cy="321469"/>
            <a:chOff x="0" y="0"/>
            <a:chExt cx="425302" cy="428625"/>
          </a:xfrm>
        </p:grpSpPr>
        <p:sp>
          <p:nvSpPr>
            <p:cNvPr id="52" name="Freeform 52"/>
            <p:cNvSpPr/>
            <p:nvPr/>
          </p:nvSpPr>
          <p:spPr>
            <a:xfrm>
              <a:off x="0" y="0"/>
              <a:ext cx="425302" cy="428625"/>
            </a:xfrm>
            <a:custGeom>
              <a:avLst/>
              <a:gdLst/>
              <a:ahLst/>
              <a:cxnLst/>
              <a:rect l="l" t="t" r="r" b="b"/>
              <a:pathLst>
                <a:path w="425302" h="428625">
                  <a:moveTo>
                    <a:pt x="0" y="0"/>
                  </a:moveTo>
                  <a:lnTo>
                    <a:pt x="425302" y="0"/>
                  </a:lnTo>
                  <a:lnTo>
                    <a:pt x="425302" y="428625"/>
                  </a:lnTo>
                  <a:lnTo>
                    <a:pt x="0" y="428625"/>
                  </a:lnTo>
                  <a:close/>
                </a:path>
              </a:pathLst>
            </a:custGeom>
            <a:blipFill>
              <a:blip r:embed="rId24"/>
              <a:stretch>
                <a:fillRect l="-37499" t="-8333" b="-25000"/>
              </a:stretch>
            </a:blipFill>
          </p:spPr>
          <p:txBody>
            <a:bodyPr/>
            <a:lstStyle/>
            <a:p>
              <a:endParaRPr lang="en-US"/>
            </a:p>
          </p:txBody>
        </p:sp>
      </p:grpSp>
      <p:grpSp>
        <p:nvGrpSpPr>
          <p:cNvPr id="53" name="Group 53"/>
          <p:cNvGrpSpPr/>
          <p:nvPr/>
        </p:nvGrpSpPr>
        <p:grpSpPr>
          <a:xfrm>
            <a:off x="15457081" y="7835801"/>
            <a:ext cx="1741081" cy="1419820"/>
            <a:chOff x="0" y="0"/>
            <a:chExt cx="2321442" cy="1893094"/>
          </a:xfrm>
        </p:grpSpPr>
        <p:sp>
          <p:nvSpPr>
            <p:cNvPr id="54" name="Freeform 54"/>
            <p:cNvSpPr/>
            <p:nvPr/>
          </p:nvSpPr>
          <p:spPr>
            <a:xfrm>
              <a:off x="0" y="0"/>
              <a:ext cx="2321442" cy="1893094"/>
            </a:xfrm>
            <a:custGeom>
              <a:avLst/>
              <a:gdLst/>
              <a:ahLst/>
              <a:cxnLst/>
              <a:rect l="l" t="t" r="r" b="b"/>
              <a:pathLst>
                <a:path w="2321442" h="1893094">
                  <a:moveTo>
                    <a:pt x="0" y="0"/>
                  </a:moveTo>
                  <a:lnTo>
                    <a:pt x="2321442" y="0"/>
                  </a:lnTo>
                  <a:lnTo>
                    <a:pt x="2321442" y="1893094"/>
                  </a:lnTo>
                  <a:lnTo>
                    <a:pt x="0" y="1893094"/>
                  </a:lnTo>
                  <a:close/>
                </a:path>
              </a:pathLst>
            </a:custGeom>
            <a:blipFill>
              <a:blip r:embed="rId25"/>
              <a:stretch>
                <a:fillRect t="-8490" r="-763" b="-12264"/>
              </a:stretch>
            </a:blipFill>
          </p:spPr>
          <p:txBody>
            <a:bodyPr/>
            <a:lstStyle/>
            <a:p>
              <a:endParaRPr lang="en-US"/>
            </a:p>
          </p:txBody>
        </p:sp>
      </p:grpSp>
      <p:sp>
        <p:nvSpPr>
          <p:cNvPr id="55" name="TextBox 55"/>
          <p:cNvSpPr txBox="1"/>
          <p:nvPr/>
        </p:nvSpPr>
        <p:spPr>
          <a:xfrm rot="-5400000">
            <a:off x="-1314268" y="4993434"/>
            <a:ext cx="4681728" cy="333375"/>
          </a:xfrm>
          <a:prstGeom prst="rect">
            <a:avLst/>
          </a:prstGeom>
        </p:spPr>
        <p:txBody>
          <a:bodyPr lIns="0" tIns="0" rIns="0" bIns="0" rtlCol="0" anchor="t">
            <a:spAutoFit/>
          </a:bodyPr>
          <a:lstStyle/>
          <a:p>
            <a:pPr algn="ctr">
              <a:lnSpc>
                <a:spcPts val="2574"/>
              </a:lnSpc>
            </a:pPr>
            <a:r>
              <a:rPr lang="en-US" sz="2145" b="1">
                <a:solidFill>
                  <a:srgbClr val="213544"/>
                </a:solidFill>
                <a:latin typeface="IBM Plex Mono Medium"/>
                <a:ea typeface="IBM Plex Mono Medium"/>
                <a:cs typeface="IBM Plex Mono Medium"/>
                <a:sym typeface="IBM Plex Mono Medium"/>
              </a:rPr>
              <a:t>DeviationMagnitude (sigma_z)</a:t>
            </a:r>
          </a:p>
        </p:txBody>
      </p:sp>
      <p:sp>
        <p:nvSpPr>
          <p:cNvPr id="56" name="TextBox 56"/>
          <p:cNvSpPr txBox="1"/>
          <p:nvPr/>
        </p:nvSpPr>
        <p:spPr>
          <a:xfrm>
            <a:off x="4901184" y="3513278"/>
            <a:ext cx="2414016" cy="314325"/>
          </a:xfrm>
          <a:prstGeom prst="rect">
            <a:avLst/>
          </a:prstGeom>
        </p:spPr>
        <p:txBody>
          <a:bodyPr lIns="0" tIns="0" rIns="0" bIns="0" rtlCol="0" anchor="t">
            <a:spAutoFit/>
          </a:bodyPr>
          <a:lstStyle/>
          <a:p>
            <a:pPr algn="ctr">
              <a:lnSpc>
                <a:spcPts val="2488"/>
              </a:lnSpc>
            </a:pPr>
            <a:r>
              <a:rPr lang="en-US" sz="2073" b="1">
                <a:solidFill>
                  <a:srgbClr val="213544"/>
                </a:solidFill>
                <a:latin typeface="IBM Plex Mono Medium"/>
                <a:ea typeface="IBM Plex Mono Medium"/>
                <a:cs typeface="IBM Plex Mono Medium"/>
                <a:sym typeface="IBM Plex Mono Medium"/>
              </a:rPr>
              <a:t>V3 chosen state</a:t>
            </a:r>
          </a:p>
        </p:txBody>
      </p:sp>
      <p:sp>
        <p:nvSpPr>
          <p:cNvPr id="57" name="TextBox 57"/>
          <p:cNvSpPr txBox="1"/>
          <p:nvPr/>
        </p:nvSpPr>
        <p:spPr>
          <a:xfrm>
            <a:off x="6309360" y="8718500"/>
            <a:ext cx="1280160" cy="314325"/>
          </a:xfrm>
          <a:prstGeom prst="rect">
            <a:avLst/>
          </a:prstGeom>
        </p:spPr>
        <p:txBody>
          <a:bodyPr lIns="0" tIns="0" rIns="0" bIns="0" rtlCol="0" anchor="t">
            <a:spAutoFit/>
          </a:bodyPr>
          <a:lstStyle/>
          <a:p>
            <a:pPr algn="ctr">
              <a:lnSpc>
                <a:spcPts val="2488"/>
              </a:lnSpc>
            </a:pPr>
            <a:r>
              <a:rPr lang="en-US" sz="2073" b="1">
                <a:solidFill>
                  <a:srgbClr val="213544"/>
                </a:solidFill>
                <a:latin typeface="IBM Plex Mono Medium"/>
                <a:ea typeface="IBM Plex Mono Medium"/>
                <a:cs typeface="IBM Plex Mono Medium"/>
                <a:sym typeface="IBM Plex Mono Medium"/>
              </a:rPr>
              <a:t>240 days</a:t>
            </a:r>
          </a:p>
        </p:txBody>
      </p:sp>
      <p:sp>
        <p:nvSpPr>
          <p:cNvPr id="58" name="TextBox 58"/>
          <p:cNvSpPr txBox="1"/>
          <p:nvPr/>
        </p:nvSpPr>
        <p:spPr>
          <a:xfrm>
            <a:off x="3877056" y="9226915"/>
            <a:ext cx="3639312" cy="333375"/>
          </a:xfrm>
          <a:prstGeom prst="rect">
            <a:avLst/>
          </a:prstGeom>
        </p:spPr>
        <p:txBody>
          <a:bodyPr lIns="0" tIns="0" rIns="0" bIns="0" rtlCol="0" anchor="t">
            <a:spAutoFit/>
          </a:bodyPr>
          <a:lstStyle/>
          <a:p>
            <a:pPr algn="ctr">
              <a:lnSpc>
                <a:spcPts val="2574"/>
              </a:lnSpc>
            </a:pPr>
            <a:r>
              <a:rPr lang="en-US" sz="2145" b="1">
                <a:solidFill>
                  <a:srgbClr val="213544"/>
                </a:solidFill>
                <a:latin typeface="IBM Plex Mono Medium"/>
                <a:ea typeface="IBM Plex Mono Medium"/>
                <a:cs typeface="IBM Plex Mono Medium"/>
                <a:sym typeface="IBM Plex Mono Medium"/>
              </a:rPr>
              <a:t>Correlation Length (1)</a:t>
            </a:r>
          </a:p>
        </p:txBody>
      </p:sp>
      <p:sp>
        <p:nvSpPr>
          <p:cNvPr id="59" name="TextBox 59"/>
          <p:cNvSpPr txBox="1"/>
          <p:nvPr/>
        </p:nvSpPr>
        <p:spPr>
          <a:xfrm>
            <a:off x="11435688" y="5732163"/>
            <a:ext cx="2670048" cy="342900"/>
          </a:xfrm>
          <a:prstGeom prst="rect">
            <a:avLst/>
          </a:prstGeom>
        </p:spPr>
        <p:txBody>
          <a:bodyPr lIns="0" tIns="0" rIns="0" bIns="0" rtlCol="0" anchor="t">
            <a:spAutoFit/>
          </a:bodyPr>
          <a:lstStyle/>
          <a:p>
            <a:pPr algn="l">
              <a:lnSpc>
                <a:spcPts val="2707"/>
              </a:lnSpc>
            </a:pPr>
            <a:r>
              <a:rPr lang="en-US" sz="2256" b="1">
                <a:solidFill>
                  <a:srgbClr val="213544"/>
                </a:solidFill>
                <a:latin typeface="IBM Plex Mono Medium"/>
                <a:ea typeface="IBM Plex Mono Medium"/>
                <a:cs typeface="IBM Plex Mono Medium"/>
                <a:sym typeface="IBM Plex Mono Medium"/>
              </a:rPr>
              <a:t>Wrong approach:</a:t>
            </a:r>
          </a:p>
        </p:txBody>
      </p:sp>
      <p:sp>
        <p:nvSpPr>
          <p:cNvPr id="60" name="TextBox 60"/>
          <p:cNvSpPr txBox="1"/>
          <p:nvPr/>
        </p:nvSpPr>
        <p:spPr>
          <a:xfrm>
            <a:off x="11380824" y="6126669"/>
            <a:ext cx="4389120" cy="1065249"/>
          </a:xfrm>
          <a:prstGeom prst="rect">
            <a:avLst/>
          </a:prstGeom>
        </p:spPr>
        <p:txBody>
          <a:bodyPr lIns="0" tIns="0" rIns="0" bIns="0" rtlCol="0" anchor="t">
            <a:spAutoFit/>
          </a:bodyPr>
          <a:lstStyle/>
          <a:p>
            <a:pPr algn="l">
              <a:lnSpc>
                <a:spcPts val="2108"/>
              </a:lnSpc>
            </a:pPr>
            <a:r>
              <a:rPr lang="en-US" sz="1622" b="1">
                <a:solidFill>
                  <a:srgbClr val="213544"/>
                </a:solidFill>
                <a:latin typeface="IBM Plex Mono Medium"/>
                <a:ea typeface="IBM Plex Mono Medium"/>
                <a:cs typeface="IBM Plex Mono Medium"/>
                <a:sym typeface="IBM Plex Mono Medium"/>
              </a:rPr>
              <a:t>Forcing the end of the curve to drop to conserve mass. This makes early pace compensatory and destroys forecastability.</a:t>
            </a:r>
          </a:p>
        </p:txBody>
      </p:sp>
      <p:sp>
        <p:nvSpPr>
          <p:cNvPr id="61" name="TextBox 61"/>
          <p:cNvSpPr txBox="1"/>
          <p:nvPr/>
        </p:nvSpPr>
        <p:spPr>
          <a:xfrm>
            <a:off x="11747878" y="7717554"/>
            <a:ext cx="2249424" cy="342900"/>
          </a:xfrm>
          <a:prstGeom prst="rect">
            <a:avLst/>
          </a:prstGeom>
        </p:spPr>
        <p:txBody>
          <a:bodyPr lIns="0" tIns="0" rIns="0" bIns="0" rtlCol="0" anchor="t">
            <a:spAutoFit/>
          </a:bodyPr>
          <a:lstStyle/>
          <a:p>
            <a:pPr algn="l">
              <a:lnSpc>
                <a:spcPts val="2707"/>
              </a:lnSpc>
            </a:pPr>
            <a:r>
              <a:rPr lang="en-US" sz="2256" b="1">
                <a:solidFill>
                  <a:srgbClr val="213544"/>
                </a:solidFill>
                <a:latin typeface="IBM Plex Mono Medium"/>
                <a:ea typeface="IBM Plex Mono Medium"/>
                <a:cs typeface="IBM Plex Mono Medium"/>
                <a:sym typeface="IBM Plex Mono Medium"/>
              </a:rPr>
              <a:t>W3 approach:</a:t>
            </a:r>
          </a:p>
        </p:txBody>
      </p:sp>
      <p:sp>
        <p:nvSpPr>
          <p:cNvPr id="62" name="TextBox 62"/>
          <p:cNvSpPr txBox="1"/>
          <p:nvPr/>
        </p:nvSpPr>
        <p:spPr>
          <a:xfrm>
            <a:off x="11126086" y="8132420"/>
            <a:ext cx="4389120" cy="1331949"/>
          </a:xfrm>
          <a:prstGeom prst="rect">
            <a:avLst/>
          </a:prstGeom>
        </p:spPr>
        <p:txBody>
          <a:bodyPr lIns="0" tIns="0" rIns="0" bIns="0" rtlCol="0" anchor="t">
            <a:spAutoFit/>
          </a:bodyPr>
          <a:lstStyle/>
          <a:p>
            <a:pPr algn="l">
              <a:lnSpc>
                <a:spcPts val="2108"/>
              </a:lnSpc>
            </a:pPr>
            <a:r>
              <a:rPr lang="en-US" sz="1622" b="1">
                <a:solidFill>
                  <a:srgbClr val="213544"/>
                </a:solidFill>
                <a:latin typeface="IBM Plex Mono Medium"/>
                <a:ea typeface="IBM Plex Mono Medium"/>
                <a:cs typeface="IBM Plex Mono Medium"/>
                <a:sym typeface="IBM Plex Mono Medium"/>
              </a:rPr>
              <a:t>Total moves with the field. Running hot early predicts finishing high. E[zeta] = 1 is maintained via a mathematical correction, not mass conservation.</a:t>
            </a:r>
          </a:p>
        </p:txBody>
      </p:sp>
      <p:sp>
        <p:nvSpPr>
          <p:cNvPr id="63" name="TextBox 63"/>
          <p:cNvSpPr txBox="1"/>
          <p:nvPr/>
        </p:nvSpPr>
        <p:spPr>
          <a:xfrm>
            <a:off x="17044416" y="10014287"/>
            <a:ext cx="1133856" cy="142875"/>
          </a:xfrm>
          <a:prstGeom prst="rect">
            <a:avLst/>
          </a:prstGeom>
        </p:spPr>
        <p:txBody>
          <a:bodyPr lIns="0" tIns="0" rIns="0" bIns="0" rtlCol="0" anchor="t">
            <a:spAutoFit/>
          </a:bodyPr>
          <a:lstStyle/>
          <a:p>
            <a:pPr algn="r">
              <a:lnSpc>
                <a:spcPts val="1145"/>
              </a:lnSpc>
            </a:pPr>
            <a:r>
              <a:rPr lang="en-US" sz="954" b="1">
                <a:solidFill>
                  <a:srgbClr val="213544"/>
                </a:solidFill>
                <a:latin typeface="IBM Plex Mono Medium"/>
                <a:ea typeface="IBM Plex Mono Medium"/>
                <a:cs typeface="IBM Plex Mono Medium"/>
                <a:sym typeface="IBM Plex Mono Medium"/>
              </a:rPr>
              <a:t>Gemini Notebook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blipFill>
              <a:blip r:embed="rId2"/>
              <a:stretch>
                <a:fillRect/>
              </a:stretch>
            </a:blipFill>
          </p:spPr>
          <p:txBody>
            <a:bodyPr/>
            <a:lstStyle/>
            <a:p>
              <a:endParaRPr lang="en-US"/>
            </a:p>
          </p:txBody>
        </p:sp>
      </p:grpSp>
      <p:sp>
        <p:nvSpPr>
          <p:cNvPr id="4" name="TextBox 4"/>
          <p:cNvSpPr txBox="1"/>
          <p:nvPr/>
        </p:nvSpPr>
        <p:spPr>
          <a:xfrm>
            <a:off x="914400" y="681686"/>
            <a:ext cx="16459200" cy="742950"/>
          </a:xfrm>
          <a:prstGeom prst="rect">
            <a:avLst/>
          </a:prstGeom>
        </p:spPr>
        <p:txBody>
          <a:bodyPr lIns="0" tIns="0" rIns="0" bIns="0" rtlCol="0" anchor="t">
            <a:spAutoFit/>
          </a:bodyPr>
          <a:lstStyle/>
          <a:p>
            <a:pPr algn="ctr">
              <a:lnSpc>
                <a:spcPts val="5831"/>
              </a:lnSpc>
            </a:pPr>
            <a:r>
              <a:rPr lang="en-US" sz="4859" b="1">
                <a:solidFill>
                  <a:srgbClr val="263238"/>
                </a:solidFill>
                <a:latin typeface="Klein Bold"/>
                <a:ea typeface="Klein Bold"/>
                <a:cs typeface="Klein Bold"/>
                <a:sym typeface="Klein Bold"/>
              </a:rPr>
              <a:t>From Intensity to Curve: Increment &amp; Irducible Noise</a:t>
            </a:r>
          </a:p>
        </p:txBody>
      </p:sp>
      <p:grpSp>
        <p:nvGrpSpPr>
          <p:cNvPr id="5" name="Group 5"/>
          <p:cNvGrpSpPr/>
          <p:nvPr/>
        </p:nvGrpSpPr>
        <p:grpSpPr>
          <a:xfrm>
            <a:off x="1461977" y="2370832"/>
            <a:ext cx="4080244" cy="2812852"/>
            <a:chOff x="0" y="0"/>
            <a:chExt cx="5440326" cy="3750469"/>
          </a:xfrm>
        </p:grpSpPr>
        <p:sp>
          <p:nvSpPr>
            <p:cNvPr id="6" name="Freeform 6"/>
            <p:cNvSpPr/>
            <p:nvPr/>
          </p:nvSpPr>
          <p:spPr>
            <a:xfrm>
              <a:off x="0" y="0"/>
              <a:ext cx="5440326" cy="3750469"/>
            </a:xfrm>
            <a:custGeom>
              <a:avLst/>
              <a:gdLst/>
              <a:ahLst/>
              <a:cxnLst/>
              <a:rect l="l" t="t" r="r" b="b"/>
              <a:pathLst>
                <a:path w="5440326" h="3750469">
                  <a:moveTo>
                    <a:pt x="0" y="0"/>
                  </a:moveTo>
                  <a:lnTo>
                    <a:pt x="5440326" y="0"/>
                  </a:lnTo>
                  <a:lnTo>
                    <a:pt x="5440326" y="3750469"/>
                  </a:lnTo>
                  <a:lnTo>
                    <a:pt x="0" y="3750469"/>
                  </a:lnTo>
                  <a:close/>
                </a:path>
              </a:pathLst>
            </a:custGeom>
            <a:blipFill>
              <a:blip r:embed="rId3"/>
              <a:stretch>
                <a:fillRect l="-3908" t="-476" r="-2931" b="-6190"/>
              </a:stretch>
            </a:blipFill>
          </p:spPr>
          <p:txBody>
            <a:bodyPr/>
            <a:lstStyle/>
            <a:p>
              <a:endParaRPr lang="en-US"/>
            </a:p>
          </p:txBody>
        </p:sp>
      </p:grpSp>
      <p:grpSp>
        <p:nvGrpSpPr>
          <p:cNvPr id="7" name="Group 7"/>
          <p:cNvGrpSpPr/>
          <p:nvPr/>
        </p:nvGrpSpPr>
        <p:grpSpPr>
          <a:xfrm>
            <a:off x="5887779" y="3429000"/>
            <a:ext cx="1927151" cy="884039"/>
            <a:chOff x="0" y="0"/>
            <a:chExt cx="2569535" cy="1178719"/>
          </a:xfrm>
        </p:grpSpPr>
        <p:sp>
          <p:nvSpPr>
            <p:cNvPr id="8" name="Freeform 8"/>
            <p:cNvSpPr/>
            <p:nvPr/>
          </p:nvSpPr>
          <p:spPr>
            <a:xfrm>
              <a:off x="0" y="0"/>
              <a:ext cx="2569535" cy="1178719"/>
            </a:xfrm>
            <a:custGeom>
              <a:avLst/>
              <a:gdLst/>
              <a:ahLst/>
              <a:cxnLst/>
              <a:rect l="l" t="t" r="r" b="b"/>
              <a:pathLst>
                <a:path w="2569535" h="1178719">
                  <a:moveTo>
                    <a:pt x="0" y="0"/>
                  </a:moveTo>
                  <a:lnTo>
                    <a:pt x="2569535" y="0"/>
                  </a:lnTo>
                  <a:lnTo>
                    <a:pt x="2569535" y="1178719"/>
                  </a:lnTo>
                  <a:lnTo>
                    <a:pt x="0" y="1178719"/>
                  </a:lnTo>
                  <a:close/>
                </a:path>
              </a:pathLst>
            </a:custGeom>
            <a:blipFill>
              <a:blip r:embed="rId4"/>
              <a:stretch>
                <a:fillRect l="-689" r="-1379" b="-21212"/>
              </a:stretch>
            </a:blipFill>
          </p:spPr>
          <p:txBody>
            <a:bodyPr/>
            <a:lstStyle/>
            <a:p>
              <a:endParaRPr lang="en-US"/>
            </a:p>
          </p:txBody>
        </p:sp>
      </p:grpSp>
      <p:grpSp>
        <p:nvGrpSpPr>
          <p:cNvPr id="9" name="Group 9"/>
          <p:cNvGrpSpPr/>
          <p:nvPr/>
        </p:nvGrpSpPr>
        <p:grpSpPr>
          <a:xfrm>
            <a:off x="7947837" y="3067348"/>
            <a:ext cx="2379035" cy="1687711"/>
            <a:chOff x="0" y="0"/>
            <a:chExt cx="3172047" cy="2250281"/>
          </a:xfrm>
        </p:grpSpPr>
        <p:sp>
          <p:nvSpPr>
            <p:cNvPr id="10" name="Freeform 10"/>
            <p:cNvSpPr/>
            <p:nvPr/>
          </p:nvSpPr>
          <p:spPr>
            <a:xfrm>
              <a:off x="0" y="0"/>
              <a:ext cx="3172046" cy="2250281"/>
            </a:xfrm>
            <a:custGeom>
              <a:avLst/>
              <a:gdLst/>
              <a:ahLst/>
              <a:cxnLst/>
              <a:rect l="l" t="t" r="r" b="b"/>
              <a:pathLst>
                <a:path w="3172046" h="2250281">
                  <a:moveTo>
                    <a:pt x="0" y="0"/>
                  </a:moveTo>
                  <a:lnTo>
                    <a:pt x="3172046" y="0"/>
                  </a:lnTo>
                  <a:lnTo>
                    <a:pt x="3172046" y="2250281"/>
                  </a:lnTo>
                  <a:lnTo>
                    <a:pt x="0" y="2250281"/>
                  </a:lnTo>
                  <a:close/>
                </a:path>
              </a:pathLst>
            </a:custGeom>
            <a:blipFill>
              <a:blip r:embed="rId5"/>
              <a:stretch>
                <a:fillRect l="-5027" t="-3968" r="-5586" b="-10317"/>
              </a:stretch>
            </a:blipFill>
          </p:spPr>
          <p:txBody>
            <a:bodyPr/>
            <a:lstStyle/>
            <a:p>
              <a:endParaRPr lang="en-US"/>
            </a:p>
          </p:txBody>
        </p:sp>
      </p:grpSp>
      <p:sp>
        <p:nvSpPr>
          <p:cNvPr id="11" name="TextBox 11"/>
          <p:cNvSpPr txBox="1"/>
          <p:nvPr/>
        </p:nvSpPr>
        <p:spPr>
          <a:xfrm>
            <a:off x="7790688" y="4943987"/>
            <a:ext cx="2706624" cy="885825"/>
          </a:xfrm>
          <a:prstGeom prst="rect">
            <a:avLst/>
          </a:prstGeom>
        </p:spPr>
        <p:txBody>
          <a:bodyPr lIns="0" tIns="0" rIns="0" bIns="0" rtlCol="0" anchor="t">
            <a:spAutoFit/>
          </a:bodyPr>
          <a:lstStyle/>
          <a:p>
            <a:pPr algn="ctr">
              <a:lnSpc>
                <a:spcPts val="3477"/>
              </a:lnSpc>
            </a:pPr>
            <a:r>
              <a:rPr lang="en-US" sz="2897" b="1">
                <a:solidFill>
                  <a:srgbClr val="000000"/>
                </a:solidFill>
                <a:latin typeface="Klein Bold"/>
                <a:ea typeface="Klein Bold"/>
                <a:cs typeface="Klein Bold"/>
                <a:sym typeface="Klein Bold"/>
              </a:rPr>
              <a:t>Negative Binomial Draw</a:t>
            </a:r>
          </a:p>
        </p:txBody>
      </p:sp>
      <p:grpSp>
        <p:nvGrpSpPr>
          <p:cNvPr id="12" name="Group 12"/>
          <p:cNvGrpSpPr/>
          <p:nvPr/>
        </p:nvGrpSpPr>
        <p:grpSpPr>
          <a:xfrm>
            <a:off x="10473070" y="3429000"/>
            <a:ext cx="1927151" cy="884039"/>
            <a:chOff x="0" y="0"/>
            <a:chExt cx="2569535" cy="1178719"/>
          </a:xfrm>
        </p:grpSpPr>
        <p:sp>
          <p:nvSpPr>
            <p:cNvPr id="13" name="Freeform 13"/>
            <p:cNvSpPr/>
            <p:nvPr/>
          </p:nvSpPr>
          <p:spPr>
            <a:xfrm>
              <a:off x="0" y="0"/>
              <a:ext cx="2569535" cy="1178719"/>
            </a:xfrm>
            <a:custGeom>
              <a:avLst/>
              <a:gdLst/>
              <a:ahLst/>
              <a:cxnLst/>
              <a:rect l="l" t="t" r="r" b="b"/>
              <a:pathLst>
                <a:path w="2569535" h="1178719">
                  <a:moveTo>
                    <a:pt x="0" y="0"/>
                  </a:moveTo>
                  <a:lnTo>
                    <a:pt x="2569535" y="0"/>
                  </a:lnTo>
                  <a:lnTo>
                    <a:pt x="2569535" y="1178719"/>
                  </a:lnTo>
                  <a:lnTo>
                    <a:pt x="0" y="1178719"/>
                  </a:lnTo>
                  <a:close/>
                </a:path>
              </a:pathLst>
            </a:custGeom>
            <a:blipFill>
              <a:blip r:embed="rId6"/>
              <a:stretch>
                <a:fillRect l="-1379" r="-689" b="-21212"/>
              </a:stretch>
            </a:blipFill>
          </p:spPr>
          <p:txBody>
            <a:bodyPr/>
            <a:lstStyle/>
            <a:p>
              <a:endParaRPr lang="en-US"/>
            </a:p>
          </p:txBody>
        </p:sp>
      </p:grpSp>
      <p:grpSp>
        <p:nvGrpSpPr>
          <p:cNvPr id="14" name="Group 14"/>
          <p:cNvGrpSpPr/>
          <p:nvPr/>
        </p:nvGrpSpPr>
        <p:grpSpPr>
          <a:xfrm>
            <a:off x="12745779" y="2384227"/>
            <a:ext cx="4066953" cy="2799457"/>
            <a:chOff x="0" y="0"/>
            <a:chExt cx="5422605" cy="3732609"/>
          </a:xfrm>
        </p:grpSpPr>
        <p:sp>
          <p:nvSpPr>
            <p:cNvPr id="15" name="Freeform 15"/>
            <p:cNvSpPr/>
            <p:nvPr/>
          </p:nvSpPr>
          <p:spPr>
            <a:xfrm>
              <a:off x="0" y="0"/>
              <a:ext cx="5422605" cy="3732609"/>
            </a:xfrm>
            <a:custGeom>
              <a:avLst/>
              <a:gdLst/>
              <a:ahLst/>
              <a:cxnLst/>
              <a:rect l="l" t="t" r="r" b="b"/>
              <a:pathLst>
                <a:path w="5422605" h="3732609">
                  <a:moveTo>
                    <a:pt x="0" y="0"/>
                  </a:moveTo>
                  <a:lnTo>
                    <a:pt x="5422605" y="0"/>
                  </a:lnTo>
                  <a:lnTo>
                    <a:pt x="5422605" y="3732609"/>
                  </a:lnTo>
                  <a:lnTo>
                    <a:pt x="0" y="3732609"/>
                  </a:lnTo>
                  <a:close/>
                </a:path>
              </a:pathLst>
            </a:custGeom>
            <a:blipFill>
              <a:blip r:embed="rId7"/>
              <a:stretch>
                <a:fillRect l="-2941" t="-956" r="-4248" b="-6220"/>
              </a:stretch>
            </a:blipFill>
          </p:spPr>
          <p:txBody>
            <a:bodyPr/>
            <a:lstStyle/>
            <a:p>
              <a:endParaRPr lang="en-US"/>
            </a:p>
          </p:txBody>
        </p:sp>
      </p:grpSp>
      <p:grpSp>
        <p:nvGrpSpPr>
          <p:cNvPr id="16" name="Group 16"/>
          <p:cNvGrpSpPr/>
          <p:nvPr/>
        </p:nvGrpSpPr>
        <p:grpSpPr>
          <a:xfrm>
            <a:off x="2830919" y="6536531"/>
            <a:ext cx="12586291" cy="3429000"/>
            <a:chOff x="0" y="0"/>
            <a:chExt cx="16781721" cy="4572000"/>
          </a:xfrm>
        </p:grpSpPr>
        <p:sp>
          <p:nvSpPr>
            <p:cNvPr id="17" name="Freeform 17"/>
            <p:cNvSpPr/>
            <p:nvPr/>
          </p:nvSpPr>
          <p:spPr>
            <a:xfrm>
              <a:off x="0" y="0"/>
              <a:ext cx="16781721" cy="4572000"/>
            </a:xfrm>
            <a:custGeom>
              <a:avLst/>
              <a:gdLst/>
              <a:ahLst/>
              <a:cxnLst/>
              <a:rect l="l" t="t" r="r" b="b"/>
              <a:pathLst>
                <a:path w="16781721" h="4572000">
                  <a:moveTo>
                    <a:pt x="0" y="0"/>
                  </a:moveTo>
                  <a:lnTo>
                    <a:pt x="16781721" y="0"/>
                  </a:lnTo>
                  <a:lnTo>
                    <a:pt x="16781721" y="4572000"/>
                  </a:lnTo>
                  <a:lnTo>
                    <a:pt x="0" y="4572000"/>
                  </a:lnTo>
                  <a:close/>
                </a:path>
              </a:pathLst>
            </a:custGeom>
            <a:blipFill>
              <a:blip r:embed="rId8"/>
              <a:stretch>
                <a:fillRect l="-105" t="-3125" r="-422" b="-3125"/>
              </a:stretch>
            </a:blipFill>
          </p:spPr>
          <p:txBody>
            <a:bodyPr/>
            <a:lstStyle/>
            <a:p>
              <a:endParaRPr lang="en-US"/>
            </a:p>
          </p:txBody>
        </p:sp>
      </p:grpSp>
      <p:sp>
        <p:nvSpPr>
          <p:cNvPr id="18" name="TextBox 18"/>
          <p:cNvSpPr txBox="1"/>
          <p:nvPr/>
        </p:nvSpPr>
        <p:spPr>
          <a:xfrm>
            <a:off x="5431536" y="6868942"/>
            <a:ext cx="7424928" cy="571500"/>
          </a:xfrm>
          <a:prstGeom prst="rect">
            <a:avLst/>
          </a:prstGeom>
        </p:spPr>
        <p:txBody>
          <a:bodyPr lIns="0" tIns="0" rIns="0" bIns="0" rtlCol="0" anchor="t">
            <a:spAutoFit/>
          </a:bodyPr>
          <a:lstStyle/>
          <a:p>
            <a:pPr algn="ctr">
              <a:lnSpc>
                <a:spcPts val="4477"/>
              </a:lnSpc>
            </a:pPr>
            <a:r>
              <a:rPr lang="en-US" sz="3731" b="1">
                <a:solidFill>
                  <a:srgbClr val="000000"/>
                </a:solidFill>
                <a:latin typeface="Klein Bold"/>
                <a:ea typeface="Klein Bold"/>
                <a:cs typeface="Klein Bold"/>
                <a:sym typeface="Klein Bold"/>
              </a:rPr>
              <a:t>The phi = 4.0 dispersion Engine</a:t>
            </a:r>
          </a:p>
        </p:txBody>
      </p:sp>
      <p:sp>
        <p:nvSpPr>
          <p:cNvPr id="19" name="TextBox 19"/>
          <p:cNvSpPr txBox="1"/>
          <p:nvPr/>
        </p:nvSpPr>
        <p:spPr>
          <a:xfrm>
            <a:off x="7022592" y="7496931"/>
            <a:ext cx="4242816" cy="600075"/>
          </a:xfrm>
          <a:prstGeom prst="rect">
            <a:avLst/>
          </a:prstGeom>
        </p:spPr>
        <p:txBody>
          <a:bodyPr lIns="0" tIns="0" rIns="0" bIns="0" rtlCol="0" anchor="t">
            <a:spAutoFit/>
          </a:bodyPr>
          <a:lstStyle/>
          <a:p>
            <a:pPr algn="ctr">
              <a:lnSpc>
                <a:spcPts val="4713"/>
              </a:lnSpc>
            </a:pPr>
            <a:r>
              <a:rPr lang="en-US" sz="3927">
                <a:solidFill>
                  <a:srgbClr val="000000"/>
                </a:solidFill>
                <a:latin typeface="Fira Code"/>
                <a:ea typeface="Fira Code"/>
                <a:cs typeface="Fira Code"/>
                <a:sym typeface="Fira Code"/>
              </a:rPr>
              <a:t>var/mean = phi</a:t>
            </a:r>
          </a:p>
        </p:txBody>
      </p:sp>
      <p:sp>
        <p:nvSpPr>
          <p:cNvPr id="20" name="TextBox 20"/>
          <p:cNvSpPr txBox="1"/>
          <p:nvPr/>
        </p:nvSpPr>
        <p:spPr>
          <a:xfrm>
            <a:off x="3310128" y="8313526"/>
            <a:ext cx="11740896" cy="1197492"/>
          </a:xfrm>
          <a:prstGeom prst="rect">
            <a:avLst/>
          </a:prstGeom>
        </p:spPr>
        <p:txBody>
          <a:bodyPr lIns="0" tIns="0" rIns="0" bIns="0" rtlCol="0" anchor="t">
            <a:spAutoFit/>
          </a:bodyPr>
          <a:lstStyle/>
          <a:p>
            <a:pPr algn="ctr">
              <a:lnSpc>
                <a:spcPts val="3197"/>
              </a:lnSpc>
            </a:pPr>
            <a:r>
              <a:rPr lang="en-US" sz="2459" b="1">
                <a:solidFill>
                  <a:srgbClr val="000000"/>
                </a:solidFill>
                <a:latin typeface="Klein Bold"/>
                <a:ea typeface="Klein Bold"/>
                <a:cs typeface="Klein Bold"/>
                <a:sym typeface="Klein Bold"/>
              </a:rPr>
              <a:t>Why?</a:t>
            </a:r>
            <a:r>
              <a:rPr lang="en-US" sz="2459">
                <a:solidFill>
                  <a:srgbClr val="000000"/>
                </a:solidFill>
                <a:latin typeface="Klein"/>
                <a:ea typeface="Klein"/>
                <a:cs typeface="Klein"/>
                <a:sym typeface="Klein"/>
              </a:rPr>
              <a:t> It acts as a surrogate for </a:t>
            </a:r>
            <a:r>
              <a:rPr lang="en-US" sz="2459" b="1">
                <a:solidFill>
                  <a:srgbClr val="000000"/>
                </a:solidFill>
                <a:latin typeface="Klein Bold"/>
                <a:ea typeface="Klein Bold"/>
                <a:cs typeface="Klein Bold"/>
                <a:sym typeface="Klein Bold"/>
              </a:rPr>
              <a:t>unsimulated batch arrivals </a:t>
            </a:r>
            <a:r>
              <a:rPr lang="en-US" sz="2459">
                <a:solidFill>
                  <a:srgbClr val="000000"/>
                </a:solidFill>
                <a:latin typeface="Klein"/>
                <a:ea typeface="Klein"/>
                <a:cs typeface="Klein"/>
                <a:sym typeface="Klein"/>
              </a:rPr>
              <a:t>(group blocks).</a:t>
            </a:r>
          </a:p>
          <a:p>
            <a:pPr algn="ctr">
              <a:lnSpc>
                <a:spcPts val="3197"/>
              </a:lnSpc>
            </a:pPr>
            <a:r>
              <a:rPr lang="en-US" sz="2459">
                <a:solidFill>
                  <a:srgbClr val="000000"/>
                </a:solidFill>
                <a:latin typeface="Klein"/>
                <a:ea typeface="Klein"/>
                <a:cs typeface="Klein"/>
                <a:sym typeface="Klein"/>
              </a:rPr>
              <a:t>It separates unforecastable batch noise (NegBin) from </a:t>
            </a:r>
            <a:r>
              <a:rPr lang="en-US" sz="2459" b="1">
                <a:solidFill>
                  <a:srgbClr val="000000"/>
                </a:solidFill>
                <a:latin typeface="Klein Bold"/>
                <a:ea typeface="Klein Bold"/>
                <a:cs typeface="Klein Bold"/>
                <a:sym typeface="Klein Bold"/>
              </a:rPr>
              <a:t>forecastable demand level (AR(1) shocks)</a:t>
            </a:r>
            <a:r>
              <a:rPr lang="en-US" sz="2459">
                <a:solidFill>
                  <a:srgbClr val="000000"/>
                </a:solidFill>
                <a:latin typeface="Klein"/>
                <a:ea typeface="Klein"/>
                <a:cs typeface="Klein"/>
                <a:sym typeface="Klein"/>
              </a:rPr>
              <a:t>, raising the error floor equally for all models.</a:t>
            </a:r>
          </a:p>
        </p:txBody>
      </p:sp>
      <p:grpSp>
        <p:nvGrpSpPr>
          <p:cNvPr id="21" name="Group 21"/>
          <p:cNvGrpSpPr/>
          <p:nvPr/>
        </p:nvGrpSpPr>
        <p:grpSpPr>
          <a:xfrm>
            <a:off x="16865895" y="10032504"/>
            <a:ext cx="332267" cy="107156"/>
            <a:chOff x="0" y="0"/>
            <a:chExt cx="443023" cy="142875"/>
          </a:xfrm>
        </p:grpSpPr>
        <p:sp>
          <p:nvSpPr>
            <p:cNvPr id="22" name="Freeform 22"/>
            <p:cNvSpPr/>
            <p:nvPr/>
          </p:nvSpPr>
          <p:spPr>
            <a:xfrm>
              <a:off x="0" y="0"/>
              <a:ext cx="443023" cy="142875"/>
            </a:xfrm>
            <a:custGeom>
              <a:avLst/>
              <a:gdLst/>
              <a:ahLst/>
              <a:cxnLst/>
              <a:rect l="l" t="t" r="r" b="b"/>
              <a:pathLst>
                <a:path w="443023" h="142875">
                  <a:moveTo>
                    <a:pt x="0" y="0"/>
                  </a:moveTo>
                  <a:lnTo>
                    <a:pt x="443023" y="0"/>
                  </a:lnTo>
                  <a:lnTo>
                    <a:pt x="443023" y="142875"/>
                  </a:lnTo>
                  <a:lnTo>
                    <a:pt x="0" y="142875"/>
                  </a:lnTo>
                  <a:close/>
                </a:path>
              </a:pathLst>
            </a:custGeom>
            <a:blipFill>
              <a:blip r:embed="rId9"/>
              <a:stretch>
                <a:fillRect l="-32000" t="-162500" r="-4000" b="-137500"/>
              </a:stretch>
            </a:blipFill>
          </p:spPr>
          <p:txBody>
            <a:bodyPr/>
            <a:lstStyle/>
            <a:p>
              <a:endParaRPr lang="en-US"/>
            </a:p>
          </p:txBody>
        </p:sp>
      </p:grpSp>
      <p:sp>
        <p:nvSpPr>
          <p:cNvPr id="23" name="TextBox 23"/>
          <p:cNvSpPr txBox="1"/>
          <p:nvPr/>
        </p:nvSpPr>
        <p:spPr>
          <a:xfrm>
            <a:off x="3163824" y="5268629"/>
            <a:ext cx="731520" cy="457200"/>
          </a:xfrm>
          <a:prstGeom prst="rect">
            <a:avLst/>
          </a:prstGeom>
        </p:spPr>
        <p:txBody>
          <a:bodyPr lIns="0" tIns="0" rIns="0" bIns="0" rtlCol="0" anchor="t">
            <a:spAutoFit/>
          </a:bodyPr>
          <a:lstStyle/>
          <a:p>
            <a:pPr algn="ctr">
              <a:lnSpc>
                <a:spcPts val="3508"/>
              </a:lnSpc>
            </a:pPr>
            <a:r>
              <a:rPr lang="en-US" sz="2923" b="1">
                <a:solidFill>
                  <a:srgbClr val="000000"/>
                </a:solidFill>
                <a:latin typeface="Klein Bold"/>
                <a:ea typeface="Klein Bold"/>
                <a:cs typeface="Klein Bold"/>
                <a:sym typeface="Klein Bold"/>
              </a:rPr>
              <a:t>v(k)</a:t>
            </a:r>
          </a:p>
        </p:txBody>
      </p:sp>
      <p:sp>
        <p:nvSpPr>
          <p:cNvPr id="24" name="TextBox 24"/>
          <p:cNvSpPr txBox="1"/>
          <p:nvPr/>
        </p:nvSpPr>
        <p:spPr>
          <a:xfrm>
            <a:off x="1298448" y="5777663"/>
            <a:ext cx="4572000" cy="352425"/>
          </a:xfrm>
          <a:prstGeom prst="rect">
            <a:avLst/>
          </a:prstGeom>
        </p:spPr>
        <p:txBody>
          <a:bodyPr lIns="0" tIns="0" rIns="0" bIns="0" rtlCol="0" anchor="t">
            <a:spAutoFit/>
          </a:bodyPr>
          <a:lstStyle/>
          <a:p>
            <a:pPr algn="ctr">
              <a:lnSpc>
                <a:spcPts val="2762"/>
              </a:lnSpc>
            </a:pPr>
            <a:r>
              <a:rPr lang="en-US" sz="2302">
                <a:solidFill>
                  <a:srgbClr val="000000"/>
                </a:solidFill>
                <a:latin typeface="Klein"/>
                <a:ea typeface="Klein"/>
                <a:cs typeface="Klein"/>
                <a:sym typeface="Klein"/>
              </a:rPr>
              <a:t>(Continuous Booking Intensity)</a:t>
            </a:r>
          </a:p>
        </p:txBody>
      </p:sp>
      <p:sp>
        <p:nvSpPr>
          <p:cNvPr id="25" name="TextBox 25"/>
          <p:cNvSpPr txBox="1"/>
          <p:nvPr/>
        </p:nvSpPr>
        <p:spPr>
          <a:xfrm>
            <a:off x="14026896" y="5268629"/>
            <a:ext cx="1517904" cy="457200"/>
          </a:xfrm>
          <a:prstGeom prst="rect">
            <a:avLst/>
          </a:prstGeom>
        </p:spPr>
        <p:txBody>
          <a:bodyPr lIns="0" tIns="0" rIns="0" bIns="0" rtlCol="0" anchor="t">
            <a:spAutoFit/>
          </a:bodyPr>
          <a:lstStyle/>
          <a:p>
            <a:pPr algn="ctr">
              <a:lnSpc>
                <a:spcPts val="3508"/>
              </a:lnSpc>
            </a:pPr>
            <a:r>
              <a:rPr lang="en-US" sz="2923" b="1">
                <a:solidFill>
                  <a:srgbClr val="000000"/>
                </a:solidFill>
                <a:latin typeface="Klein Bold"/>
                <a:ea typeface="Klein Bold"/>
                <a:cs typeface="Klein Bold"/>
                <a:sym typeface="Klein Bold"/>
              </a:rPr>
              <a:t>gross(k)</a:t>
            </a:r>
          </a:p>
        </p:txBody>
      </p:sp>
      <p:sp>
        <p:nvSpPr>
          <p:cNvPr id="26" name="TextBox 26"/>
          <p:cNvSpPr txBox="1"/>
          <p:nvPr/>
        </p:nvSpPr>
        <p:spPr>
          <a:xfrm>
            <a:off x="13295376" y="5761440"/>
            <a:ext cx="2926080" cy="371475"/>
          </a:xfrm>
          <a:prstGeom prst="rect">
            <a:avLst/>
          </a:prstGeom>
        </p:spPr>
        <p:txBody>
          <a:bodyPr lIns="0" tIns="0" rIns="0" bIns="0" rtlCol="0" anchor="t">
            <a:spAutoFit/>
          </a:bodyPr>
          <a:lstStyle/>
          <a:p>
            <a:pPr algn="ctr">
              <a:lnSpc>
                <a:spcPts val="2825"/>
              </a:lnSpc>
            </a:pPr>
            <a:r>
              <a:rPr lang="en-US" sz="2354">
                <a:solidFill>
                  <a:srgbClr val="000000"/>
                </a:solidFill>
                <a:latin typeface="Klein"/>
                <a:ea typeface="Klein"/>
                <a:cs typeface="Klein"/>
                <a:sym typeface="Klein"/>
              </a:rPr>
              <a:t>(Discrete Bookings)</a:t>
            </a:r>
          </a:p>
        </p:txBody>
      </p:sp>
      <p:sp>
        <p:nvSpPr>
          <p:cNvPr id="27" name="TextBox 27"/>
          <p:cNvSpPr txBox="1"/>
          <p:nvPr/>
        </p:nvSpPr>
        <p:spPr>
          <a:xfrm>
            <a:off x="17007840" y="10007590"/>
            <a:ext cx="1207008" cy="152400"/>
          </a:xfrm>
          <a:prstGeom prst="rect">
            <a:avLst/>
          </a:prstGeom>
        </p:spPr>
        <p:txBody>
          <a:bodyPr lIns="0" tIns="0" rIns="0" bIns="0" rtlCol="0" anchor="t">
            <a:spAutoFit/>
          </a:bodyPr>
          <a:lstStyle/>
          <a:p>
            <a:pPr algn="r">
              <a:lnSpc>
                <a:spcPts val="1240"/>
              </a:lnSpc>
            </a:pPr>
            <a:r>
              <a:rPr lang="en-US" sz="1033" b="1">
                <a:solidFill>
                  <a:srgbClr val="000000"/>
                </a:solidFill>
                <a:latin typeface="Klein Bold"/>
                <a:ea typeface="Klein Bold"/>
                <a:cs typeface="Klein Bold"/>
                <a:sym typeface="Klein Bold"/>
              </a:rPr>
              <a:t>Gemini Notebook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1c8c91a-c872-4000-818b-3383c70fafcf}" enabled="1" method="Privileged" siteId="{b1c14d5c-3625-45b3-a430-9552373a0c2f}" contentBits="0" removed="0"/>
</clbl:labelList>
</file>

<file path=docProps/app.xml><?xml version="1.0" encoding="utf-8"?>
<Properties xmlns="http://schemas.openxmlformats.org/officeDocument/2006/extended-properties" xmlns:vt="http://schemas.openxmlformats.org/officeDocument/2006/docPropsVTypes">
  <TotalTime>1084</TotalTime>
  <Words>709</Words>
  <Application>Microsoft Macintosh PowerPoint</Application>
  <PresentationFormat>Custom</PresentationFormat>
  <Paragraphs>125</Paragraphs>
  <Slides>9</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9</vt:i4>
      </vt:variant>
    </vt:vector>
  </HeadingPairs>
  <TitlesOfParts>
    <vt:vector size="24" baseType="lpstr">
      <vt:lpstr>Fira Code Bold</vt:lpstr>
      <vt:lpstr>Arial</vt:lpstr>
      <vt:lpstr>Roboto Mono Bold</vt:lpstr>
      <vt:lpstr>Poppins Semi-Bold</vt:lpstr>
      <vt:lpstr>IBM Plex Mono Medium</vt:lpstr>
      <vt:lpstr>Roboto Mono</vt:lpstr>
      <vt:lpstr>Klein</vt:lpstr>
      <vt:lpstr>Roboto Mono Medium</vt:lpstr>
      <vt:lpstr>Klein Bold</vt:lpstr>
      <vt:lpstr>Fira Code</vt:lpstr>
      <vt:lpstr>Archivo Black</vt:lpstr>
      <vt:lpstr>Roboto</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DeepPace-Sim_v3_Simulation_Architecture.pptx</dc:title>
  <cp:lastModifiedBy>Ruiwen Zhang</cp:lastModifiedBy>
  <cp:revision>3</cp:revision>
  <dcterms:created xsi:type="dcterms:W3CDTF">2006-08-16T00:00:00Z</dcterms:created>
  <dcterms:modified xsi:type="dcterms:W3CDTF">2026-09-11T14:01:01Z</dcterms:modified>
  <dc:identifier>DAHUz3D2sY8</dc:identifier>
</cp:coreProperties>
</file>